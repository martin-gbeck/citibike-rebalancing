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f8f3388d-1ec8-7f18-b091-26e7fbbdb0c2}">
          <p14:sldIdLst>
            <p14:sldId id="256"/>
            <p14:sldId id="257"/>
            <p14:sldId id="258"/>
          </p14:sldIdLst>
        </p14:section>
        <p14:section name="Data and method" id="{97b3ee3f-90f9-e83e-882c-d76c5c16b4cb}">
          <p14:sldIdLst>
            <p14:sldId id="259"/>
            <p14:sldId id="260"/>
          </p14:sldIdLst>
        </p14:section>
        <p14:section name="Analysis" id="{389a1825-a990-2dae-1711-39c6aaa6aa53}">
          <p14:sldIdLst>
            <p14:sldId id="261"/>
            <p14:sldId id="262"/>
          </p14:sldIdLst>
        </p14:section>
        <p14:section name="The rule" id="{c3ca4154-03ff-6d75-1a62-8de974b7f894}">
          <p14:sldIdLst>
            <p14:sldId id="263"/>
            <p14:sldId id="264"/>
            <p14:sldId id="265"/>
          </p14:sldIdLst>
        </p14:section>
        <p14:section name="Results" id="{f62ba4e9-6de2-4e93-3fbe-d73ae611863b}">
          <p14:sldIdLst>
            <p14:sldId id="266"/>
            <p14:sldId id="267"/>
            <p14:sldId id="268"/>
          </p14:sldIdLst>
        </p14:section>
        <p14:section name="Limits and recommendations" id="{75d5ca19-5bd7-16fc-ced2-995bd3770b37}">
          <p14:sldIdLst>
            <p14:sldId id="269"/>
            <p14:sldId id="270"/>
            <p14:sldId id="271"/>
          </p14:sldIdLst>
        </p14:section>
        <p14:section name="Backup for Q&amp;A" id="{b824d284-dad5-7638-c051-656f5dc890fe}">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prevented per bike</c:v>
                </c:pt>
              </c:strCache>
            </c:strRef>
          </c:tx>
          <c:spPr>
            <a:solidFill>
              <a:srgbClr val="3B7DD8"/>
            </a:solidFill>
            <a:effectLst/>
          </c:spPr>
          <c:invertIfNegative val="0"/>
          <c:dLbls>
            <c:numFmt formatCode="0.00" sourceLinked="0"/>
            <c:txPr>
              <a:bodyPr/>
              <a:lstStyle/>
              <a:p>
                <a:pPr>
                  <a:defRPr b="1" i="0" strike="noStrike" sz="1600" u="none">
                    <a:solidFill>
                      <a:srgbClr val="22252A"/>
                    </a:solidFill>
                    <a:latin typeface="+mn-lt"/>
                  </a:defRPr>
                </a:pPr>
              </a:p>
            </c:txPr>
            <c:showLegendKey val="0"/>
            <c:showVal val="1"/>
            <c:showCatName val="0"/>
            <c:showSerName val="0"/>
            <c:showPercent val="0"/>
            <c:showBubbleSize val="0"/>
            <c:showLeaderLines val="0"/>
          </c:dLbls>
          <c:dPt>
            <c:idx val="0"/>
            <c:invertIfNegative val="0"/>
            <c:bubble3D val="0"/>
            <c:spPr>
              <a:solidFill>
                <a:srgbClr val="3B7DD8"/>
              </a:solidFill>
              <a:effectLst/>
            </c:spPr>
          </c:dPt>
          <c:dPt>
            <c:idx val="1"/>
            <c:invertIfNegative val="0"/>
            <c:bubble3D val="0"/>
            <c:spPr>
              <a:solidFill>
                <a:srgbClr val="9A978F"/>
              </a:solidFill>
              <a:effectLst/>
            </c:spPr>
          </c:dPt>
          <c:cat>
            <c:multiLvlStrRef>
              <c:f>Sheet1!$A$2:$A$3</c:f>
              <c:multiLvlStrCache>
                <c:ptCount val="2"/>
                <c:lvl>
                  <c:pt idx="0">
                    <c:v>14:00 visit, 100 stations</c:v>
                  </c:pt>
                  <c:pt idx="1">
                    <c:v>Night budget 3,000 to 4,000</c:v>
                  </c:pt>
                </c:lvl>
              </c:multiLvlStrCache>
            </c:multiLvlStrRef>
          </c:cat>
          <c:val>
            <c:numRef>
              <c:f>Sheet1!$B$2:$B$3</c:f>
              <c:numCache>
                <c:formatCode>General</c:formatCode>
                <c:ptCount val="2"/>
                <c:pt idx="0">
                  <c:v>0.25</c:v>
                </c:pt>
                <c:pt idx="1">
                  <c:v>0.06</c:v>
                </c:pt>
              </c:numCache>
            </c:numRef>
          </c:val>
        </c:ser>
        <c:dLbls>
          <c:numFmt formatCode="0.00" sourceLinked="0"/>
          <c:txPr>
            <a:bodyPr/>
            <a:lstStyle/>
            <a:p>
              <a:pPr>
                <a:defRPr b="1" i="0" strike="noStrike" sz="1600" u="none">
                  <a:solidFill>
                    <a:srgbClr val="2225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2252A"/>
                </a:solidFill>
                <a:latin typeface="+mn-lt"/>
              </a:defRPr>
            </a:pPr>
            <a:endParaRPr lang="en-US"/>
          </a:p>
        </c:txPr>
        <c:crossAx val="2094734552"/>
        <c:crosses val="autoZero"/>
        <c:auto val="1"/>
        <c:lblAlgn val="ctr"/>
        <c:noMultiLvlLbl val="1"/>
      </c:catAx>
      <c:valAx>
        <c:axId val="2094734552"/>
        <c:scaling>
          <c:orientation val="minMax"/>
          <c:max val="0.3"/>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(slides 1 to 3, about 2:30)
Start with the result. Our schedule turns away 62% fewer riders than resetting every station to half full each night, and it moves 57% fewer bikes.
We got there by replaying every Citi Bike trip from October 2024 to September 2026. The next 15 minutes show how.
If you want an opening line: at 8:45 a commuter walks up to an empty station and leaves. We want fewer of those for every bike Citi Bike pays to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maps show the morning and the evening rush. Red stations lose bikes, blue ones gain them.
9,400 trips start in the 08:00 hour alone. In the morning rush 417 stations lose 5 bikes or more and 294 gain 5 or more. Brooklyn loses 1,055 bikes and Manhattan gains 935. In the evening it flips, and Manhattan loses 1,263.
The next rider at a red station finds no bike. At a blue one they find no free dock. Either way the trip is lost.
If asked why the Bronx and Jersey City are grey: their flows are small and even out, so they need little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Citi Bike already works on this. It has trucks and vans, e-bikes towing trailers of bikes, valets at the busiest stations, and Bike Angels, which pays members in points to ride bikes from full stations to empty ones. It tells NYC DOT it moves about 2,500 bikes a day.
It doesn't publish which stations it fills, to what level, or how many riders still find a station empty. So we can't score its plan directly.
Read the question out. We compare against never moving a bike and against a half-full reset, and we check our workload against the moves Citi Bike reports.
If asked whether half full is what Citi Bike does: we don't know, its method isn't public. Half full is a simple rule we use as a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(slides 4 and 5, about 2:30)
The trip data never says how many bikes are in a station. We work it out: start from a level, add the bikes that arrive and take away the ones that leave, every 5 minutes, for 2,470 stations.
That gives us a simulator. A schedule sets every station's level at 04:00, the quietest hour, and then we replay the real riders. If a rider reaches an empty or full station, they are turned away and we count them.
We fixed a few problems in the raw files first. Some months write station 7293.10 as 7293.1. Depots and demo units show up as stations. One file repeats 512 trips. And on 23 February 2026 the system shut for 22 cm of snow. After the fixes, 99.9% of trips start at a public station.
The first year is for exploring and picking settings. The second year we used once, to score.
If asked why a lost rider matters further down the line: if they never ride, the bike they would have dropped off never arrives, so the next station runs short too. A simpler model that skips this makes never rebalancing look far better than it is: 2,173 riders turned away a day instead of 18,189.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a neighbourhood and each column an hour of a workday. Red means losing bikes, blue gaining.
The homes at the top empty between 06:00 and 10:00. The East Village alone loses 726 bikes. The offices at the bottom fill over the same hours, and Midtown and Times Square gain 1,119. In the evening it goes the other way.
Two things matter for the plan. Williamsburg and the West Village lose bikes again after 21:00, from nightlife. And the office districts empty fast between 16:00 and 19:00, so a visit at 14:00 still has time to help.
Hand over with: the pattern is strong, but can you plan it the night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(slides 6 and 7, about 2:30)
A plan made the night before only works if tomorrow looks like the days before it. It does.
On the left each dot is a station: its average morning flow in odd weeks against even weeks. The correlation is 0.998, so stations keep their habits.
One day on its own is noisier. On the right is a single day against the average of the 10 workdays before it: correlation 0.90. The typical station-day is off by 1.6 bikes.
If asked why 10 days: we tried 5, 10 and 20 on the first year. 20 days cut shortages by 1% but moved 10% more bikes.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every station half full and it runs empty or full at some point on 22% of workday station-days. On only 1.3% of them would every starting level have failed. So nearly all of it comes down to the starting level.
Here is one normal Tuesday at three stations.
Broadway and W 25 St is an office station with 109 docks. Starting half full, it is full by 08:45 and turns away the morning arrivals. Our start of 5 bikes holds out almost an hour longer.
E 10 St and Ave A is a home station, the opposite case. Starting half full, it is empty from 09:00 to 16:00. Starting near full keeps bikes there all day.
9 Ave and W 33 St is next to Penn Station. Its swing is 181 bikes and it has 94 docks, so no start works. Those stations come back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(slides 8 to 10, about 2:30)
This is the rule. Each station gets a target band, a range instead of one number. If it is below the band at night, trucks fill it to the bottom of the band. If it is above, they take bikes away down to the top. Inside the band, nobody visits. That is where the half-full reset wastes work: 27% of its moves are at stations already inside their band.
On the right is how we build the band. For each of the last 10 comparable days we take two numbers. The need is how far the station fell below its 04:00 stock. The room is how far it could rise before the docks were full. Start below the need and it runs empty. Start above the room and it runs full. Count the riders lost for every possible start over those 10 days, and the lowest total is between the 10th and 11th smallest of the 20 numbers.
After that we rank every single-bike move in the city by how many shortages it prevents, and do the best ones first, up to a nightly budget.
If asked why a band and not one number: any start inside the band loses the same riders on those 10 days, so moving a bike there buys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decides where the bikes go. How many riders show up still depends on the weather and the season.
We fitted a linear regression of the log of each day's trips on the weather between 07:00 and 21:00 and the calendar, on the first year. On the test year it explains 87% of the day-to-day changes, and half of all days are within 11%.
The effects: 5 degrees warmer adds 21% up to about 22 degrees, and above that the heat costs 6%. Every wet hour costs 6.6%, so five wet hours take about a third off. 5 cm of snow in the last three days costs 20%. Christmas week loses 45%.
We also tried stretching each station's band by tomorrow's forecast. It gave more shortages and more bikes moved. Gammelli and others found the same in 2021. So the forecast tells you how big a crew to send, and history sets the targets.
If asked why log trips: weather changes trips by a percentage, not by a fixed number, so the effects read as percent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picked every setting on the first year and only then ran the test year.
The rule for picking was fewest shortages, without moving more bikes than Citi Bike reported for January to September 2025, which was 2,707 a day. That way we win on the same amount of work, not by moving more.
Say the budget right. 3,000 counts loads plus unloads, so it is about 1,900 bikes moved a night. Above 4,000 it gets worse, because the extra moves chase small savings that are mostly noise in 10 days of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5 (slides 11 to 13, about 2:30)
These are all the schedules replayed on the test year, which we never used to choose anything.
Never moving a bike turns away 18,189 riders a day. The half-full reset moves 5,873 bikes and still turns away 4,732. Moving every station into its band: 2,032 riders for 3,321 bikes. The night budget on its own: 1,945 for 1,877. Our recommendation, the budget plus the 14:00 visit: 1,779 for 2,549. Against half full that is 62% fewer riders turned away with 57% fewer bikes moved.
The pale bar, 869, is the same rule if we knew every day in advance. No forecast gets there, but it shows what is left to win.
The budget also beats banding every station: 87 fewer riders turned away with 1,444 fewer bikes, because it skips the moves that save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when riders are turned away. With half full, 944 are turned away in the 08:00 hour alone, because the start was wrong. With our schedule the worst hour is 17:00, when the offices empty: 196 riders, or 253 without the afternoon visit.
At 14:00 vans go to the 100 stations where a top-up prevents the most shortages. That saves 166 riders a day for 671 extra bikes, 0.25 per bike. Spending the same extra effort at night, by raising the budget from 3,000 to 4,000, saves 0.06 per bike. The afternoon visit is four times as good.
If asked why 14:00 and not noon: we tried 10:00, 12:00 and 14:00 on the first year, and 14:00 had the fewest shortages. It comes right before the evening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realistic? Citi Bike reports its moves to NYC DOT every month. Our schedule moves 2,572 bikes a day against its 2,514, and the two go up and down together across the months, with a correlation of 0.92.
Citi Bike cuts back harder in winter. Shortages fall in winter too, so our budget could shrink in winter as well. It also fits the fleet: we keep 38,069 bikes docked at 04:00, and the fleet is about 39,000.
In the Q&amp;A, be careful: Citi Bike's 2,514 includes valets and Bike Angels, not only trucks. We can say it is the same amount of work, not the same trucks.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6 (slides 14 to 16, about 2:30)
What is left sits in a few places. Seven stations hold a quarter of the shortages that remain, 442 riders a day. On a normal workday each of them swings by more than it has docks. The one at Penn Station, 9 Ave and W 33 St, swings 181 bikes with 94 docks.
These stations are a capacity problem, and moving bikes at 04:00 cannot fix them. They need more docks or a valet. Citi Bike already uses valets at its busiest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ranked by how much each could change the result.
First, a rider who walks away from an empty station leaves no trip. So we undercount demand there, and the real number of riders turned away is higher than ours. Every schedule is replayed on the same trips, though, so the comparison still holds.
Second, the data never shows how many bikes are in a station. We work it out from trips.
Third, Citi Bike doesn't publish its station-by-station moves. We compare with never moving and with half full instead, and check our workload against its monthly reports.
Fourth, we count bikes, not dollars, and we don't plan the van routes. A routing step, like the one O'Mahony and Shmoys built in 2015, would turn the nightly list into routes.
The gap to perfect foresight, 1,779 against 869, comes from day-to-day noise. Better station forecasts would help more than more tuning. Bike Angels could also take over part of the budget without any trucks.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Ranked by how many riders each one saves on the test year.
One, replace the half-full reset with target bands, planned separately for workdays and weekends from each station's last 10 comparable days. This is the biggest gain: 2,700 fewer riders turned away and 2,552 fewer bikes moved.
Two, treat the seven stations as a capacity problem and give them docks or valets.
Three, send vans to the 100 neediest stations at 14:00. It is the best use of extra bikes.
Four, cap the night at 3,000 loads and unloads, about 1,900 bikes, best moves first. This mostly saves cost.
Five, use the weather forecast to decide how many trucks and crews go out. The targets still come from each station's history.
To close: together this turns away 62% fewer riders than half full while moving 57% fewer bikes, about what Citi Bike moves today.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workdays and weekends are planned separately: members make the 08:00 and 17:00 peaks on workdays. Weekends and casual riders follow one smooth curve around midday.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 stations, about a quarter, do 80% of the work. Use this map if someone asks where the trucks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draft used the simple model. If someone saw an earlier version, this is why the headline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plan could get better: the gap between our 1,779 and the 869 with perfect foresight is all forecasting, so better data is where the gain is.
The top three are data Citi Bike already collects and doesn't publish. Riders who were turned away would give true demand at the stations that are often empty, which are the ones whose bands we set too low. Minute-by-minute station status would replace the stock we rebuild from trips. And its own truck moves would let us score its real plan instead of half full.
Events and subway disruptions are public and could go into the model as they are.
If asked about the weather model: it was scored on the weather that actually happened. The night shift would be planned from the forecast, so the real miss would be a bit bigger than 11%. Office attendance, school calendars and costs are further down the list in our data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before the talk. A sharp question will test exactly these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Team Jupyter  |  Citi Bike rebalancing</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6400800" cy="365760"/>
          </a:xfrm>
          <a:prstGeom prst="rect">
            <a:avLst/>
          </a:prstGeom>
          <a:noFill/>
          <a:ln/>
        </p:spPr>
        <p:txBody>
          <a:bodyPr wrap="square" lIns="0" tIns="0" rIns="0" bIns="0" rtlCol="0" anchor="ctr"/>
          <a:lstStyle/>
          <a:p>
            <a:pPr indent="0" marL="0">
              <a:buNone/>
            </a:pPr>
            <a:r>
              <a:rPr lang="en-US" sz="1400" b="1" spc="300" kern="0" dirty="0">
                <a:solidFill>
                  <a:schemeClr val="accent5"/>
                </a:solidFill>
              </a:rPr>
              <a:t>DAO2702X  |  TEAM JUPYTER</a:t>
            </a:r>
            <a:endParaRPr lang="en-US" sz="1400" dirty="0"/>
          </a:p>
        </p:txBody>
      </p:sp>
      <p:sp>
        <p:nvSpPr>
          <p:cNvPr id="3" name="Text 1"/>
          <p:cNvSpPr txBox="1"/>
          <p:nvPr/>
        </p:nvSpPr>
        <p:spPr>
          <a:xfrm>
            <a:off x="548640" y="1600200"/>
            <a:ext cx="6400800" cy="2468880"/>
          </a:xfrm>
          <a:prstGeom prst="rect">
            <a:avLst/>
          </a:prstGeom>
          <a:noFill/>
          <a:ln/>
        </p:spPr>
        <p:txBody>
          <a:bodyPr wrap="square" lIns="0" tIns="0" rIns="0" bIns="0" rtlCol="0" anchor="t"/>
          <a:lstStyle/>
          <a:p>
            <a:pPr indent="0" marL="0">
              <a:buNone/>
            </a:pPr>
            <a:r>
              <a:rPr lang="en-US" sz="4800" b="1" dirty="0">
                <a:solidFill>
                  <a:schemeClr val="bg1"/>
                </a:solidFill>
              </a:rPr>
              <a:t>Where Citi Bike</a:t>
            </a:r>
            <a:endParaRPr lang="en-US" sz="4800" dirty="0"/>
          </a:p>
          <a:p>
            <a:pPr indent="0" marL="0">
              <a:buNone/>
            </a:pPr>
            <a:r>
              <a:rPr lang="en-US" sz="4800" b="1" dirty="0">
                <a:solidFill>
                  <a:schemeClr val="bg1"/>
                </a:solidFill>
              </a:rPr>
              <a:t>should move</a:t>
            </a:r>
            <a:endParaRPr lang="en-US" sz="4800" dirty="0"/>
          </a:p>
          <a:p>
            <a:pPr indent="0" marL="0">
              <a:buNone/>
            </a:pPr>
            <a:r>
              <a:rPr lang="en-US" sz="4800" b="1" dirty="0">
                <a:solidFill>
                  <a:schemeClr val="bg1"/>
                </a:solidFill>
              </a:rPr>
              <a:t>its bikes</a:t>
            </a:r>
            <a:endParaRPr lang="en-US" sz="4800" dirty="0"/>
          </a:p>
        </p:txBody>
      </p:sp>
      <p:sp>
        <p:nvSpPr>
          <p:cNvPr id="4" name="Text 2"/>
          <p:cNvSpPr txBox="1"/>
          <p:nvPr/>
        </p:nvSpPr>
        <p:spPr>
          <a:xfrm>
            <a:off x="548640" y="4434840"/>
            <a:ext cx="5760720" cy="914400"/>
          </a:xfrm>
          <a:prstGeom prst="rect">
            <a:avLst/>
          </a:prstGeom>
          <a:noFill/>
          <a:ln/>
        </p:spPr>
        <p:txBody>
          <a:bodyPr wrap="square" lIns="0" tIns="0" rIns="0" bIns="0" rtlCol="0" anchor="t"/>
          <a:lstStyle/>
          <a:p>
            <a:pPr indent="0" marL="0">
              <a:buNone/>
            </a:pPr>
            <a:r>
              <a:rPr lang="en-US" sz="2000" dirty="0">
                <a:solidFill>
                  <a:srgbClr val="C9D3E3"/>
                </a:solidFill>
              </a:rPr>
              <a:t>Six schedules replayed on a year of real trips</a:t>
            </a:r>
            <a:endParaRPr lang="en-US" sz="2000" dirty="0"/>
          </a:p>
        </p:txBody>
      </p:sp>
      <p:sp>
        <p:nvSpPr>
          <p:cNvPr id="5" name="Shape 3"/>
          <p:cNvSpPr/>
          <p:nvPr/>
        </p:nvSpPr>
        <p:spPr>
          <a:xfrm>
            <a:off x="7589520" y="1463040"/>
            <a:ext cx="4023360" cy="1691640"/>
          </a:xfrm>
          <a:prstGeom prst="roundRect">
            <a:avLst>
              <a:gd name="adj" fmla="val 4324"/>
            </a:avLst>
          </a:prstGeom>
          <a:solidFill>
            <a:srgbClr val="22344F"/>
          </a:solidFill>
          <a:ln/>
        </p:spPr>
      </p:sp>
      <p:sp>
        <p:nvSpPr>
          <p:cNvPr id="6" name="Text 4"/>
          <p:cNvSpPr txBox="1"/>
          <p:nvPr/>
        </p:nvSpPr>
        <p:spPr>
          <a:xfrm>
            <a:off x="7863840" y="1645920"/>
            <a:ext cx="3657600" cy="822960"/>
          </a:xfrm>
          <a:prstGeom prst="rect">
            <a:avLst/>
          </a:prstGeom>
          <a:noFill/>
          <a:ln/>
        </p:spPr>
        <p:txBody>
          <a:bodyPr wrap="square" lIns="0" tIns="0" rIns="0" bIns="0" rtlCol="0" anchor="ctr"/>
          <a:lstStyle/>
          <a:p>
            <a:pPr indent="0" marL="0">
              <a:buNone/>
            </a:pPr>
            <a:r>
              <a:rPr lang="en-US" sz="5400" b="1" dirty="0">
                <a:solidFill>
                  <a:srgbClr val="6FA3EA"/>
                </a:solidFill>
              </a:rPr>
              <a:t>62%</a:t>
            </a:r>
            <a:endParaRPr lang="en-US" sz="5400" dirty="0"/>
          </a:p>
        </p:txBody>
      </p:sp>
      <p:sp>
        <p:nvSpPr>
          <p:cNvPr id="7" name="Text 5"/>
          <p:cNvSpPr txBox="1"/>
          <p:nvPr/>
        </p:nvSpPr>
        <p:spPr>
          <a:xfrm>
            <a:off x="7863840" y="2468880"/>
            <a:ext cx="3657600" cy="548640"/>
          </a:xfrm>
          <a:prstGeom prst="rect">
            <a:avLst/>
          </a:prstGeom>
          <a:noFill/>
          <a:ln/>
        </p:spPr>
        <p:txBody>
          <a:bodyPr wrap="square" lIns="0" tIns="0" rIns="0" bIns="0" rtlCol="0" anchor="ctr"/>
          <a:lstStyle/>
          <a:p>
            <a:pPr indent="0" marL="0">
              <a:buNone/>
            </a:pPr>
            <a:r>
              <a:rPr lang="en-US" sz="1600" dirty="0">
                <a:solidFill>
                  <a:schemeClr val="bg1"/>
                </a:solidFill>
              </a:rPr>
              <a:t>fewer riders turned away</a:t>
            </a:r>
            <a:endParaRPr lang="en-US" sz="1600" dirty="0"/>
          </a:p>
        </p:txBody>
      </p:sp>
      <p:sp>
        <p:nvSpPr>
          <p:cNvPr id="8" name="Shape 6"/>
          <p:cNvSpPr/>
          <p:nvPr/>
        </p:nvSpPr>
        <p:spPr>
          <a:xfrm>
            <a:off x="7589520" y="3429000"/>
            <a:ext cx="4023360" cy="1691640"/>
          </a:xfrm>
          <a:prstGeom prst="roundRect">
            <a:avLst>
              <a:gd name="adj" fmla="val 4324"/>
            </a:avLst>
          </a:prstGeom>
          <a:solidFill>
            <a:srgbClr val="22344F"/>
          </a:solidFill>
          <a:ln/>
        </p:spPr>
      </p:sp>
      <p:sp>
        <p:nvSpPr>
          <p:cNvPr id="9" name="Text 7"/>
          <p:cNvSpPr txBox="1"/>
          <p:nvPr/>
        </p:nvSpPr>
        <p:spPr>
          <a:xfrm>
            <a:off x="7863840" y="3611880"/>
            <a:ext cx="3657600" cy="822960"/>
          </a:xfrm>
          <a:prstGeom prst="rect">
            <a:avLst/>
          </a:prstGeom>
          <a:noFill/>
          <a:ln/>
        </p:spPr>
        <p:txBody>
          <a:bodyPr wrap="square" lIns="0" tIns="0" rIns="0" bIns="0" rtlCol="0" anchor="ctr"/>
          <a:lstStyle/>
          <a:p>
            <a:pPr indent="0" marL="0">
              <a:buNone/>
            </a:pPr>
            <a:r>
              <a:rPr lang="en-US" sz="5400" b="1" dirty="0">
                <a:solidFill>
                  <a:srgbClr val="6FA3EA"/>
                </a:solidFill>
              </a:rPr>
              <a:t>57%</a:t>
            </a:r>
            <a:endParaRPr lang="en-US" sz="5400" dirty="0"/>
          </a:p>
        </p:txBody>
      </p:sp>
      <p:sp>
        <p:nvSpPr>
          <p:cNvPr id="10" name="Text 8"/>
          <p:cNvSpPr txBox="1"/>
          <p:nvPr/>
        </p:nvSpPr>
        <p:spPr>
          <a:xfrm>
            <a:off x="7863840" y="4434840"/>
            <a:ext cx="3657600" cy="548640"/>
          </a:xfrm>
          <a:prstGeom prst="rect">
            <a:avLst/>
          </a:prstGeom>
          <a:noFill/>
          <a:ln/>
        </p:spPr>
        <p:txBody>
          <a:bodyPr wrap="square" lIns="0" tIns="0" rIns="0" bIns="0" rtlCol="0" anchor="ctr"/>
          <a:lstStyle/>
          <a:p>
            <a:pPr indent="0" marL="0">
              <a:buNone/>
            </a:pPr>
            <a:r>
              <a:rPr lang="en-US" sz="1600" dirty="0">
                <a:solidFill>
                  <a:schemeClr val="bg1"/>
                </a:solidFill>
              </a:rPr>
              <a:t>fewer bikes moved</a:t>
            </a:r>
            <a:endParaRPr lang="en-US" sz="1600" dirty="0"/>
          </a:p>
        </p:txBody>
      </p:sp>
      <p:sp>
        <p:nvSpPr>
          <p:cNvPr id="11" name="Text 9"/>
          <p:cNvSpPr txBox="1"/>
          <p:nvPr/>
        </p:nvSpPr>
        <p:spPr>
          <a:xfrm>
            <a:off x="7589520" y="5257800"/>
            <a:ext cx="4023360" cy="457200"/>
          </a:xfrm>
          <a:prstGeom prst="rect">
            <a:avLst/>
          </a:prstGeom>
          <a:noFill/>
          <a:ln/>
        </p:spPr>
        <p:txBody>
          <a:bodyPr wrap="square" lIns="0" tIns="0" rIns="0" bIns="0" rtlCol="0" anchor="ctr"/>
          <a:lstStyle/>
          <a:p>
            <a:pPr indent="0" marL="0">
              <a:buNone/>
            </a:pPr>
            <a:r>
              <a:rPr lang="en-US" sz="1300" dirty="0">
                <a:solidFill>
                  <a:srgbClr val="C9D3E3"/>
                </a:solidFill>
              </a:rPr>
              <a:t>compared with a half-full reset every night</a:t>
            </a:r>
            <a:endParaRPr lang="en-US" sz="1300" dirty="0"/>
          </a:p>
        </p:txBody>
      </p:sp>
      <p:sp>
        <p:nvSpPr>
          <p:cNvPr id="13"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Every workday morning, bikes flow from homes to offices</a:t>
            </a:r>
            <a:endParaRPr lang="en-US" sz="2800" dirty="0"/>
          </a:p>
        </p:txBody>
      </p:sp>
      <p:pic>
        <p:nvPicPr>
          <p:cNvPr id="3" name="rush map" descr="rush map">    </p:cNvPr>
          <p:cNvPicPr>
            <a:picLocks noChangeAspect="1"/>
          </p:cNvPicPr>
          <p:nvPr/>
        </p:nvPicPr>
        <p:blipFill>
          <a:blip r:embed="rId1"/>
          <a:stretch>
            <a:fillRect/>
          </a:stretch>
        </p:blipFill>
        <p:spPr>
          <a:xfrm>
            <a:off x="588667" y="1325880"/>
            <a:ext cx="7143707" cy="4709160"/>
          </a:xfrm>
          <a:prstGeom prst="rect">
            <a:avLst/>
          </a:prstGeom>
        </p:spPr>
      </p:pic>
      <p:sp>
        <p:nvSpPr>
          <p:cNvPr id="4" name="caption"/>
          <p:cNvSpPr txBox="1"/>
          <p:nvPr/>
        </p:nvSpPr>
        <p:spPr>
          <a:xfrm>
            <a:off x="548640" y="6080760"/>
            <a:ext cx="7223760" cy="320040"/>
          </a:xfrm>
          <a:prstGeom prst="rect">
            <a:avLst/>
          </a:prstGeom>
          <a:noFill/>
          <a:ln/>
        </p:spPr>
        <p:txBody>
          <a:bodyPr wrap="square" lIns="0" tIns="0" rIns="0" bIns="0" rtlCol="0" anchor="ctr"/>
          <a:lstStyle/>
          <a:p>
            <a:pPr indent="0" marL="0">
              <a:buNone/>
            </a:pPr>
            <a:r>
              <a:rPr lang="en-US" sz="1100" dirty="0">
                <a:solidFill>
                  <a:schemeClr val="accent6"/>
                </a:solidFill>
              </a:rPr>
              <a:t>Bikes each station gains over a workday rush; red loses, blue gains. Development year.</a:t>
            </a:r>
            <a:endParaRPr lang="en-US" sz="1100" dirty="0"/>
          </a:p>
        </p:txBody>
      </p:sp>
      <p:sp>
        <p:nvSpPr>
          <p:cNvPr id="5" name="stat 9,400"/>
          <p:cNvSpPr txBox="1"/>
          <p:nvPr/>
        </p:nvSpPr>
        <p:spPr>
          <a:xfrm>
            <a:off x="8229600" y="1463040"/>
            <a:ext cx="3383280" cy="609600"/>
          </a:xfrm>
          <a:prstGeom prst="rect">
            <a:avLst/>
          </a:prstGeom>
          <a:noFill/>
          <a:ln/>
        </p:spPr>
        <p:txBody>
          <a:bodyPr wrap="square" lIns="0" tIns="0" rIns="0" bIns="0" rtlCol="0" anchor="b"/>
          <a:lstStyle/>
          <a:p>
            <a:pPr indent="0" marL="0">
              <a:buNone/>
            </a:pPr>
            <a:r>
              <a:rPr lang="en-US" sz="4000" b="1" dirty="0">
                <a:solidFill>
                  <a:schemeClr val="accent1"/>
                </a:solidFill>
              </a:rPr>
              <a:t>9,400</a:t>
            </a:r>
            <a:endParaRPr lang="en-US" sz="4000" dirty="0"/>
          </a:p>
        </p:txBody>
      </p:sp>
      <p:sp>
        <p:nvSpPr>
          <p:cNvPr id="6" name="stat label"/>
          <p:cNvSpPr txBox="1"/>
          <p:nvPr/>
        </p:nvSpPr>
        <p:spPr>
          <a:xfrm>
            <a:off x="8229600" y="2118360"/>
            <a:ext cx="3383280" cy="685800"/>
          </a:xfrm>
          <a:prstGeom prst="rect">
            <a:avLst/>
          </a:prstGeom>
          <a:noFill/>
          <a:ln/>
        </p:spPr>
        <p:txBody>
          <a:bodyPr wrap="square" lIns="0" tIns="0" rIns="0" bIns="0" rtlCol="0" anchor="t"/>
          <a:lstStyle/>
          <a:p>
            <a:pPr indent="0" marL="0">
              <a:buNone/>
            </a:pPr>
            <a:r>
              <a:rPr lang="en-US" sz="1400" dirty="0">
                <a:solidFill>
                  <a:schemeClr val="tx1"/>
                </a:solidFill>
              </a:rPr>
              <a:t>trips start in the 08:00 hour of a workday</a:t>
            </a:r>
            <a:endParaRPr lang="en-US" sz="1400" dirty="0"/>
          </a:p>
        </p:txBody>
      </p:sp>
      <p:sp>
        <p:nvSpPr>
          <p:cNvPr id="7" name="stat 1,055"/>
          <p:cNvSpPr txBox="1"/>
          <p:nvPr/>
        </p:nvSpPr>
        <p:spPr>
          <a:xfrm>
            <a:off x="8229600" y="2880360"/>
            <a:ext cx="3383280" cy="609600"/>
          </a:xfrm>
          <a:prstGeom prst="rect">
            <a:avLst/>
          </a:prstGeom>
          <a:noFill/>
          <a:ln/>
        </p:spPr>
        <p:txBody>
          <a:bodyPr wrap="square" lIns="0" tIns="0" rIns="0" bIns="0" rtlCol="0" anchor="b"/>
          <a:lstStyle/>
          <a:p>
            <a:pPr indent="0" marL="0">
              <a:buNone/>
            </a:pPr>
            <a:r>
              <a:rPr lang="en-US" sz="4000" b="1" dirty="0">
                <a:solidFill>
                  <a:schemeClr val="accent3"/>
                </a:solidFill>
              </a:rPr>
              <a:t>1,055</a:t>
            </a:r>
            <a:endParaRPr lang="en-US" sz="4000" dirty="0"/>
          </a:p>
        </p:txBody>
      </p:sp>
      <p:sp>
        <p:nvSpPr>
          <p:cNvPr id="8" name="stat label"/>
          <p:cNvSpPr txBox="1"/>
          <p:nvPr/>
        </p:nvSpPr>
        <p:spPr>
          <a:xfrm>
            <a:off x="8229600" y="3535680"/>
            <a:ext cx="3383280" cy="685800"/>
          </a:xfrm>
          <a:prstGeom prst="rect">
            <a:avLst/>
          </a:prstGeom>
          <a:noFill/>
          <a:ln/>
        </p:spPr>
        <p:txBody>
          <a:bodyPr wrap="square" lIns="0" tIns="0" rIns="0" bIns="0" rtlCol="0" anchor="t"/>
          <a:lstStyle/>
          <a:p>
            <a:pPr indent="0" marL="0">
              <a:buNone/>
            </a:pPr>
            <a:r>
              <a:rPr lang="en-US" sz="1400" dirty="0">
                <a:solidFill>
                  <a:schemeClr val="tx1"/>
                </a:solidFill>
              </a:rPr>
              <a:t>bikes leave Brooklyn each morning rush, while Manhattan gains 935</a:t>
            </a:r>
            <a:endParaRPr lang="en-US" sz="1400" dirty="0"/>
          </a:p>
        </p:txBody>
      </p:sp>
      <p:sp>
        <p:nvSpPr>
          <p:cNvPr id="9" name="Text 6"/>
          <p:cNvSpPr txBox="1"/>
          <p:nvPr/>
        </p:nvSpPr>
        <p:spPr>
          <a:xfrm>
            <a:off x="8229600" y="4343400"/>
            <a:ext cx="3383280" cy="1188720"/>
          </a:xfrm>
          <a:prstGeom prst="rect">
            <a:avLst/>
          </a:prstGeom>
          <a:noFill/>
          <a:ln/>
        </p:spPr>
        <p:txBody>
          <a:bodyPr wrap="square" lIns="0" tIns="0" rIns="0" bIns="0" rtlCol="0" anchor="t"/>
          <a:lstStyle/>
          <a:p>
            <a:pPr indent="0" marL="0">
              <a:buNone/>
            </a:pPr>
            <a:r>
              <a:rPr lang="en-US" sz="1600" b="1" dirty="0">
                <a:solidFill>
                  <a:schemeClr val="tx1"/>
                </a:solidFill>
              </a:rPr>
              <a:t>So home stations run out of bikes and office stations run out of docks. In the evening it flips.</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Citi Bike moves 2,500 bikes a day, but its plan is not public</a:t>
            </a:r>
            <a:endParaRPr lang="en-US" sz="2800" dirty="0"/>
          </a:p>
        </p:txBody>
      </p:sp>
      <p:sp>
        <p:nvSpPr>
          <p:cNvPr id="3" name="Text 1"/>
          <p:cNvSpPr txBox="1"/>
          <p:nvPr/>
        </p:nvSpPr>
        <p:spPr>
          <a:xfrm>
            <a:off x="548640" y="1371600"/>
            <a:ext cx="5120640" cy="365760"/>
          </a:xfrm>
          <a:prstGeom prst="rect">
            <a:avLst/>
          </a:prstGeom>
          <a:noFill/>
          <a:ln/>
        </p:spPr>
        <p:txBody>
          <a:bodyPr wrap="square" lIns="0" tIns="0" rIns="0" bIns="0" rtlCol="0" anchor="ctr"/>
          <a:lstStyle/>
          <a:p>
            <a:pPr indent="0" marL="0">
              <a:buNone/>
            </a:pPr>
            <a:r>
              <a:rPr lang="en-US" sz="1600" b="1" dirty="0">
                <a:solidFill>
                  <a:schemeClr val="accent6"/>
                </a:solidFill>
              </a:rPr>
              <a:t>How Citi Bike rebalances today</a:t>
            </a:r>
            <a:endParaRPr lang="en-US" sz="1600" dirty="0"/>
          </a:p>
        </p:txBody>
      </p:sp>
      <p:sp>
        <p:nvSpPr>
          <p:cNvPr id="4" name="Shape 2"/>
          <p:cNvSpPr/>
          <p:nvPr/>
        </p:nvSpPr>
        <p:spPr>
          <a:xfrm>
            <a:off x="548640" y="1920240"/>
            <a:ext cx="731520" cy="731520"/>
          </a:xfrm>
          <a:prstGeom prst="ellipse">
            <a:avLst/>
          </a:prstGeom>
          <a:solidFill>
            <a:srgbClr val="E3ECF8"/>
          </a:solidFill>
          <a:ln/>
        </p:spPr>
      </p:sp>
      <p:pic>
        <p:nvPicPr>
          <p:cNvPr id="5" name="Image 0" descr="preencoded.png">    </p:cNvPr>
          <p:cNvPicPr>
            <a:picLocks noChangeAspect="1"/>
          </p:cNvPicPr>
          <p:nvPr/>
        </p:nvPicPr>
        <p:blipFill>
          <a:blip r:embed="rId1"/>
          <a:stretch>
            <a:fillRect/>
          </a:stretch>
        </p:blipFill>
        <p:spPr>
          <a:xfrm>
            <a:off x="731520" y="2103120"/>
            <a:ext cx="365760" cy="365760"/>
          </a:xfrm>
          <a:prstGeom prst="rect">
            <a:avLst/>
          </a:prstGeom>
        </p:spPr>
      </p:pic>
      <p:sp>
        <p:nvSpPr>
          <p:cNvPr id="6" name="Text 3"/>
          <p:cNvSpPr txBox="1"/>
          <p:nvPr/>
        </p:nvSpPr>
        <p:spPr>
          <a:xfrm>
            <a:off x="1508760" y="1901952"/>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Vans and box trucks</a:t>
            </a:r>
            <a:endParaRPr lang="en-US" sz="1700" dirty="0"/>
          </a:p>
        </p:txBody>
      </p:sp>
      <p:sp>
        <p:nvSpPr>
          <p:cNvPr id="7" name="Text 4"/>
          <p:cNvSpPr txBox="1"/>
          <p:nvPr/>
        </p:nvSpPr>
        <p:spPr>
          <a:xfrm>
            <a:off x="1508760" y="2267712"/>
            <a:ext cx="4206240" cy="457200"/>
          </a:xfrm>
          <a:prstGeom prst="rect">
            <a:avLst/>
          </a:prstGeom>
          <a:noFill/>
          <a:ln/>
        </p:spPr>
        <p:txBody>
          <a:bodyPr wrap="square" lIns="0" tIns="0" rIns="0" bIns="0" rtlCol="0" anchor="t"/>
          <a:lstStyle/>
          <a:p>
            <a:pPr indent="0" marL="0">
              <a:buNone/>
            </a:pPr>
            <a:r>
              <a:rPr lang="en-US" sz="1400" dirty="0">
                <a:solidFill>
                  <a:schemeClr val="accent6"/>
                </a:solidFill>
              </a:rPr>
              <a:t>bulk moves over longer distances, around the clock</a:t>
            </a:r>
            <a:endParaRPr lang="en-US" sz="1400" dirty="0"/>
          </a:p>
        </p:txBody>
      </p:sp>
      <p:sp>
        <p:nvSpPr>
          <p:cNvPr id="8" name="Shape 5"/>
          <p:cNvSpPr/>
          <p:nvPr/>
        </p:nvSpPr>
        <p:spPr>
          <a:xfrm>
            <a:off x="548640" y="2999232"/>
            <a:ext cx="731520" cy="731520"/>
          </a:xfrm>
          <a:prstGeom prst="ellipse">
            <a:avLst/>
          </a:prstGeom>
          <a:solidFill>
            <a:srgbClr val="E3ECF8"/>
          </a:solidFill>
          <a:ln/>
        </p:spPr>
      </p:sp>
      <p:pic>
        <p:nvPicPr>
          <p:cNvPr id="9" name="Image 1" descr="preencoded.png">    </p:cNvPr>
          <p:cNvPicPr>
            <a:picLocks noChangeAspect="1"/>
          </p:cNvPicPr>
          <p:nvPr/>
        </p:nvPicPr>
        <p:blipFill>
          <a:blip r:embed="rId2"/>
          <a:stretch>
            <a:fillRect/>
          </a:stretch>
        </p:blipFill>
        <p:spPr>
          <a:xfrm>
            <a:off x="731520" y="3182112"/>
            <a:ext cx="365760" cy="365760"/>
          </a:xfrm>
          <a:prstGeom prst="rect">
            <a:avLst/>
          </a:prstGeom>
        </p:spPr>
      </p:pic>
      <p:sp>
        <p:nvSpPr>
          <p:cNvPr id="10" name="Text 6"/>
          <p:cNvSpPr txBox="1"/>
          <p:nvPr/>
        </p:nvSpPr>
        <p:spPr>
          <a:xfrm>
            <a:off x="1508760" y="2980944"/>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Bike trains</a:t>
            </a:r>
            <a:endParaRPr lang="en-US" sz="1700" dirty="0"/>
          </a:p>
        </p:txBody>
      </p:sp>
      <p:sp>
        <p:nvSpPr>
          <p:cNvPr id="11" name="Text 7"/>
          <p:cNvSpPr txBox="1"/>
          <p:nvPr/>
        </p:nvSpPr>
        <p:spPr>
          <a:xfrm>
            <a:off x="1508760" y="3346704"/>
            <a:ext cx="4206240" cy="457200"/>
          </a:xfrm>
          <a:prstGeom prst="rect">
            <a:avLst/>
          </a:prstGeom>
          <a:noFill/>
          <a:ln/>
        </p:spPr>
        <p:txBody>
          <a:bodyPr wrap="square" lIns="0" tIns="0" rIns="0" bIns="0" rtlCol="0" anchor="t"/>
          <a:lstStyle/>
          <a:p>
            <a:pPr indent="0" marL="0">
              <a:buNone/>
            </a:pPr>
            <a:r>
              <a:rPr lang="en-US" sz="1400" dirty="0">
                <a:solidFill>
                  <a:schemeClr val="accent6"/>
                </a:solidFill>
              </a:rPr>
              <a:t>e-bikes towing 12 to 16 bikes on narrow streets</a:t>
            </a:r>
            <a:endParaRPr lang="en-US" sz="1400" dirty="0"/>
          </a:p>
        </p:txBody>
      </p:sp>
      <p:sp>
        <p:nvSpPr>
          <p:cNvPr id="12" name="Shape 8"/>
          <p:cNvSpPr/>
          <p:nvPr/>
        </p:nvSpPr>
        <p:spPr>
          <a:xfrm>
            <a:off x="548640" y="4078224"/>
            <a:ext cx="731520" cy="731520"/>
          </a:xfrm>
          <a:prstGeom prst="ellipse">
            <a:avLst/>
          </a:prstGeom>
          <a:solidFill>
            <a:srgbClr val="E3ECF8"/>
          </a:solidFill>
          <a:ln/>
        </p:spPr>
      </p:sp>
      <p:pic>
        <p:nvPicPr>
          <p:cNvPr id="13" name="Image 2" descr="preencoded.png">    </p:cNvPr>
          <p:cNvPicPr>
            <a:picLocks noChangeAspect="1"/>
          </p:cNvPicPr>
          <p:nvPr/>
        </p:nvPicPr>
        <p:blipFill>
          <a:blip r:embed="rId3"/>
          <a:stretch>
            <a:fillRect/>
          </a:stretch>
        </p:blipFill>
        <p:spPr>
          <a:xfrm>
            <a:off x="731520" y="4261104"/>
            <a:ext cx="365760" cy="365760"/>
          </a:xfrm>
          <a:prstGeom prst="rect">
            <a:avLst/>
          </a:prstGeom>
        </p:spPr>
      </p:pic>
      <p:sp>
        <p:nvSpPr>
          <p:cNvPr id="14" name="Text 9"/>
          <p:cNvSpPr txBox="1"/>
          <p:nvPr/>
        </p:nvSpPr>
        <p:spPr>
          <a:xfrm>
            <a:off x="1508760" y="4059936"/>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Valets</a:t>
            </a:r>
            <a:endParaRPr lang="en-US" sz="1700" dirty="0"/>
          </a:p>
        </p:txBody>
      </p:sp>
      <p:sp>
        <p:nvSpPr>
          <p:cNvPr id="15" name="Text 10"/>
          <p:cNvSpPr txBox="1"/>
          <p:nvPr/>
        </p:nvSpPr>
        <p:spPr>
          <a:xfrm>
            <a:off x="1508760" y="4425696"/>
            <a:ext cx="4206240" cy="457200"/>
          </a:xfrm>
          <a:prstGeom prst="rect">
            <a:avLst/>
          </a:prstGeom>
          <a:noFill/>
          <a:ln/>
        </p:spPr>
        <p:txBody>
          <a:bodyPr wrap="square" lIns="0" tIns="0" rIns="0" bIns="0" rtlCol="0" anchor="t"/>
          <a:lstStyle/>
          <a:p>
            <a:pPr indent="0" marL="0">
              <a:buNone/>
            </a:pPr>
            <a:r>
              <a:rPr lang="en-US" sz="1400" dirty="0">
                <a:solidFill>
                  <a:schemeClr val="accent6"/>
                </a:solidFill>
              </a:rPr>
              <a:t>staff at the busiest stations take bikes beyond the docks</a:t>
            </a:r>
            <a:endParaRPr lang="en-US" sz="1400" dirty="0"/>
          </a:p>
        </p:txBody>
      </p:sp>
      <p:sp>
        <p:nvSpPr>
          <p:cNvPr id="16" name="Shape 11"/>
          <p:cNvSpPr/>
          <p:nvPr/>
        </p:nvSpPr>
        <p:spPr>
          <a:xfrm>
            <a:off x="548640" y="5157216"/>
            <a:ext cx="731520" cy="731520"/>
          </a:xfrm>
          <a:prstGeom prst="ellipse">
            <a:avLst/>
          </a:prstGeom>
          <a:solidFill>
            <a:srgbClr val="E3ECF8"/>
          </a:solidFill>
          <a:ln/>
        </p:spPr>
      </p:sp>
      <p:pic>
        <p:nvPicPr>
          <p:cNvPr id="17" name="Image 3" descr="preencoded.png">    </p:cNvPr>
          <p:cNvPicPr>
            <a:picLocks noChangeAspect="1"/>
          </p:cNvPicPr>
          <p:nvPr/>
        </p:nvPicPr>
        <p:blipFill>
          <a:blip r:embed="rId4"/>
          <a:stretch>
            <a:fillRect/>
          </a:stretch>
        </p:blipFill>
        <p:spPr>
          <a:xfrm>
            <a:off x="731520" y="5340096"/>
            <a:ext cx="365760" cy="365760"/>
          </a:xfrm>
          <a:prstGeom prst="rect">
            <a:avLst/>
          </a:prstGeom>
        </p:spPr>
      </p:pic>
      <p:sp>
        <p:nvSpPr>
          <p:cNvPr id="18" name="Text 12"/>
          <p:cNvSpPr txBox="1"/>
          <p:nvPr/>
        </p:nvSpPr>
        <p:spPr>
          <a:xfrm>
            <a:off x="1508760" y="5138928"/>
            <a:ext cx="4206240" cy="365760"/>
          </a:xfrm>
          <a:prstGeom prst="rect">
            <a:avLst/>
          </a:prstGeom>
          <a:noFill/>
          <a:ln/>
        </p:spPr>
        <p:txBody>
          <a:bodyPr wrap="square" lIns="0" tIns="0" rIns="0" bIns="0" rtlCol="0" anchor="ctr"/>
          <a:lstStyle/>
          <a:p>
            <a:pPr indent="0" marL="0">
              <a:buNone/>
            </a:pPr>
            <a:r>
              <a:rPr lang="en-US" sz="1700" b="1" dirty="0">
                <a:solidFill>
                  <a:schemeClr val="tx1"/>
                </a:solidFill>
              </a:rPr>
              <a:t>Bike Angels</a:t>
            </a:r>
            <a:endParaRPr lang="en-US" sz="1700" dirty="0"/>
          </a:p>
        </p:txBody>
      </p:sp>
      <p:sp>
        <p:nvSpPr>
          <p:cNvPr id="19" name="Text 13"/>
          <p:cNvSpPr txBox="1"/>
          <p:nvPr/>
        </p:nvSpPr>
        <p:spPr>
          <a:xfrm>
            <a:off x="1508760" y="5504688"/>
            <a:ext cx="4206240" cy="457200"/>
          </a:xfrm>
          <a:prstGeom prst="rect">
            <a:avLst/>
          </a:prstGeom>
          <a:noFill/>
          <a:ln/>
        </p:spPr>
        <p:txBody>
          <a:bodyPr wrap="square" lIns="0" tIns="0" rIns="0" bIns="0" rtlCol="0" anchor="t"/>
          <a:lstStyle/>
          <a:p>
            <a:pPr indent="0" marL="0">
              <a:buNone/>
            </a:pPr>
            <a:r>
              <a:rPr lang="en-US" sz="1400" dirty="0">
                <a:solidFill>
                  <a:schemeClr val="accent6"/>
                </a:solidFill>
              </a:rPr>
              <a:t>members earn points for riding from full to empty stations</a:t>
            </a:r>
            <a:endParaRPr lang="en-US" sz="1400" dirty="0"/>
          </a:p>
        </p:txBody>
      </p:sp>
      <p:sp>
        <p:nvSpPr>
          <p:cNvPr id="20" name="Shape 14"/>
          <p:cNvSpPr/>
          <p:nvPr/>
        </p:nvSpPr>
        <p:spPr>
          <a:xfrm>
            <a:off x="6400800" y="1371600"/>
            <a:ext cx="5239512" cy="3017520"/>
          </a:xfrm>
          <a:prstGeom prst="roundRect">
            <a:avLst>
              <a:gd name="adj" fmla="val 2424"/>
            </a:avLst>
          </a:prstGeom>
          <a:solidFill>
            <a:schemeClr val="tx2"/>
          </a:solidFill>
          <a:ln/>
        </p:spPr>
      </p:sp>
      <p:sp>
        <p:nvSpPr>
          <p:cNvPr id="21" name="Text 15"/>
          <p:cNvSpPr txBox="1"/>
          <p:nvPr/>
        </p:nvSpPr>
        <p:spPr>
          <a:xfrm>
            <a:off x="6720840" y="1600200"/>
            <a:ext cx="4572000" cy="320040"/>
          </a:xfrm>
          <a:prstGeom prst="rect">
            <a:avLst/>
          </a:prstGeom>
          <a:noFill/>
          <a:ln/>
        </p:spPr>
        <p:txBody>
          <a:bodyPr wrap="square" lIns="0" tIns="0" rIns="0" bIns="0" rtlCol="0" anchor="ctr"/>
          <a:lstStyle/>
          <a:p>
            <a:pPr indent="0" marL="0">
              <a:buNone/>
            </a:pPr>
            <a:r>
              <a:rPr lang="en-US" sz="1300" b="1" spc="200" kern="0" dirty="0">
                <a:solidFill>
                  <a:srgbClr val="6FA3EA"/>
                </a:solidFill>
              </a:rPr>
              <a:t>OUR QUESTION</a:t>
            </a:r>
            <a:endParaRPr lang="en-US" sz="1300" dirty="0"/>
          </a:p>
        </p:txBody>
      </p:sp>
      <p:sp>
        <p:nvSpPr>
          <p:cNvPr id="22" name="Text 16"/>
          <p:cNvSpPr txBox="1"/>
          <p:nvPr/>
        </p:nvSpPr>
        <p:spPr>
          <a:xfrm>
            <a:off x="6720840" y="2011680"/>
            <a:ext cx="4572000" cy="2240280"/>
          </a:xfrm>
          <a:prstGeom prst="rect">
            <a:avLst/>
          </a:prstGeom>
          <a:noFill/>
          <a:ln/>
        </p:spPr>
        <p:txBody>
          <a:bodyPr wrap="square" lIns="0" tIns="0" rIns="0" bIns="0" rtlCol="0" anchor="t"/>
          <a:lstStyle/>
          <a:p>
            <a:pPr indent="0" marL="0">
              <a:buNone/>
            </a:pPr>
            <a:r>
              <a:rPr lang="en-US" sz="1800" dirty="0">
                <a:solidFill>
                  <a:schemeClr val="bg1"/>
                </a:solidFill>
              </a:rPr>
              <a:t>Each night, which stations should Citi Bike restock or clear, and by how many bikes, to turn away the fewest riders for each bike it moves?</a:t>
            </a:r>
            <a:endParaRPr lang="en-US" sz="1800" dirty="0"/>
          </a:p>
          <a:p>
            <a:pPr indent="0" marL="0">
              <a:buNone/>
            </a:pPr>
            <a:endParaRPr lang="en-US" sz="1800" dirty="0"/>
          </a:p>
          <a:p>
            <a:pPr indent="0" marL="0">
              <a:buNone/>
            </a:pPr>
            <a:r>
              <a:rPr lang="en-US" sz="1800" dirty="0">
                <a:solidFill>
                  <a:schemeClr val="bg1"/>
                </a:solidFill>
              </a:rPr>
              <a:t>And is a second visit during the day worth it?</a:t>
            </a:r>
            <a:endParaRPr lang="en-US" sz="1800" dirty="0"/>
          </a:p>
        </p:txBody>
      </p:sp>
      <p:sp>
        <p:nvSpPr>
          <p:cNvPr id="23" name="Text 17"/>
          <p:cNvSpPr txBox="1"/>
          <p:nvPr/>
        </p:nvSpPr>
        <p:spPr>
          <a:xfrm>
            <a:off x="6400800" y="4617720"/>
            <a:ext cx="5239512" cy="640080"/>
          </a:xfrm>
          <a:prstGeom prst="rect">
            <a:avLst/>
          </a:prstGeom>
          <a:noFill/>
          <a:ln/>
        </p:spPr>
        <p:txBody>
          <a:bodyPr wrap="square" lIns="0" tIns="0" rIns="0" bIns="0" rtlCol="0" anchor="t"/>
          <a:lstStyle/>
          <a:p>
            <a:pPr indent="0" marL="0">
              <a:buNone/>
            </a:pPr>
            <a:r>
              <a:rPr lang="en-US" sz="1400" dirty="0">
                <a:solidFill>
                  <a:schemeClr val="tx1"/>
                </a:solidFill>
              </a:rPr>
              <a:t>Its monthly reports give bikes moved, but no targets or shortages. We compare with two simple rules instead:</a:t>
            </a:r>
            <a:endParaRPr lang="en-US" sz="1400" dirty="0"/>
          </a:p>
        </p:txBody>
      </p:sp>
      <p:sp>
        <p:nvSpPr>
          <p:cNvPr id="24" name="card"/>
          <p:cNvSpPr/>
          <p:nvPr/>
        </p:nvSpPr>
        <p:spPr>
          <a:xfrm>
            <a:off x="6400800" y="5394960"/>
            <a:ext cx="2103120" cy="777240"/>
          </a:xfrm>
          <a:prstGeom prst="roundRect">
            <a:avLst>
              <a:gd name="adj" fmla="val 9412"/>
            </a:avLst>
          </a:prstGeom>
          <a:solidFill>
            <a:schemeClr val="bg2"/>
          </a:solidFill>
          <a:ln/>
        </p:spPr>
      </p:sp>
      <p:sp>
        <p:nvSpPr>
          <p:cNvPr id="25" name="Text 19"/>
          <p:cNvSpPr txBox="1"/>
          <p:nvPr/>
        </p:nvSpPr>
        <p:spPr>
          <a:xfrm>
            <a:off x="6583680" y="5394960"/>
            <a:ext cx="1737360" cy="777240"/>
          </a:xfrm>
          <a:prstGeom prst="rect">
            <a:avLst/>
          </a:prstGeom>
          <a:noFill/>
          <a:ln/>
        </p:spPr>
        <p:txBody>
          <a:bodyPr wrap="square" lIns="0" tIns="0" rIns="0" bIns="0" rtlCol="0" anchor="ctr"/>
          <a:lstStyle/>
          <a:p>
            <a:pPr indent="0" marL="0">
              <a:buNone/>
            </a:pPr>
            <a:r>
              <a:rPr lang="en-US" sz="1400" b="1" dirty="0">
                <a:solidFill>
                  <a:schemeClr val="tx1"/>
                </a:solidFill>
              </a:rPr>
              <a:t>Never move a bike</a:t>
            </a:r>
            <a:endParaRPr lang="en-US" sz="1400" dirty="0"/>
          </a:p>
        </p:txBody>
      </p:sp>
      <p:sp>
        <p:nvSpPr>
          <p:cNvPr id="26" name="card"/>
          <p:cNvSpPr/>
          <p:nvPr/>
        </p:nvSpPr>
        <p:spPr>
          <a:xfrm>
            <a:off x="8686800" y="5394960"/>
            <a:ext cx="2953512" cy="777240"/>
          </a:xfrm>
          <a:prstGeom prst="roundRect">
            <a:avLst>
              <a:gd name="adj" fmla="val 9412"/>
            </a:avLst>
          </a:prstGeom>
          <a:solidFill>
            <a:schemeClr val="bg2"/>
          </a:solidFill>
          <a:ln/>
        </p:spPr>
      </p:sp>
      <p:sp>
        <p:nvSpPr>
          <p:cNvPr id="27" name="Text 21"/>
          <p:cNvSpPr txBox="1"/>
          <p:nvPr/>
        </p:nvSpPr>
        <p:spPr>
          <a:xfrm>
            <a:off x="8869680" y="5394960"/>
            <a:ext cx="2587752" cy="777240"/>
          </a:xfrm>
          <a:prstGeom prst="rect">
            <a:avLst/>
          </a:prstGeom>
          <a:noFill/>
          <a:ln/>
        </p:spPr>
        <p:txBody>
          <a:bodyPr wrap="square" lIns="0" tIns="0" rIns="0" bIns="0" rtlCol="0" anchor="ctr"/>
          <a:lstStyle/>
          <a:p>
            <a:pPr indent="0" marL="0">
              <a:buNone/>
            </a:pPr>
            <a:r>
              <a:rPr lang="en-US" sz="1400" b="1" dirty="0">
                <a:solidFill>
                  <a:schemeClr val="tx1"/>
                </a:solidFill>
              </a:rPr>
              <a:t>Reset every station to half full each night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We replay 92 million real trips through any schedule</a:t>
            </a:r>
            <a:endParaRPr lang="en-US" sz="2800" dirty="0"/>
          </a:p>
        </p:txBody>
      </p:sp>
      <p:sp>
        <p:nvSpPr>
          <p:cNvPr id="3" name="card"/>
          <p:cNvSpPr/>
          <p:nvPr/>
        </p:nvSpPr>
        <p:spPr>
          <a:xfrm>
            <a:off x="548640" y="1417320"/>
            <a:ext cx="2468880" cy="2011680"/>
          </a:xfrm>
          <a:prstGeom prst="roundRect">
            <a:avLst>
              <a:gd name="adj" fmla="val 3636"/>
            </a:avLst>
          </a:prstGeom>
          <a:solidFill>
            <a:schemeClr val="bg2"/>
          </a:solidFill>
          <a:ln/>
        </p:spPr>
      </p:sp>
      <p:sp>
        <p:nvSpPr>
          <p:cNvPr id="4" name="Text 2"/>
          <p:cNvSpPr txBox="1"/>
          <p:nvPr/>
        </p:nvSpPr>
        <p:spPr>
          <a:xfrm>
            <a:off x="731520" y="1600200"/>
            <a:ext cx="2103120" cy="457200"/>
          </a:xfrm>
          <a:prstGeom prst="rect">
            <a:avLst/>
          </a:prstGeom>
          <a:noFill/>
          <a:ln/>
        </p:spPr>
        <p:txBody>
          <a:bodyPr wrap="square" lIns="0" tIns="0" rIns="0" bIns="0" rtlCol="0" anchor="ctr"/>
          <a:lstStyle/>
          <a:p>
            <a:pPr indent="0" marL="0">
              <a:buNone/>
            </a:pPr>
            <a:r>
              <a:rPr lang="en-US" sz="1900" b="1" dirty="0">
                <a:solidFill>
                  <a:schemeClr val="tx1"/>
                </a:solidFill>
              </a:rPr>
              <a:t>92.1M trips</a:t>
            </a:r>
            <a:endParaRPr lang="en-US" sz="1900" dirty="0"/>
          </a:p>
        </p:txBody>
      </p:sp>
      <p:sp>
        <p:nvSpPr>
          <p:cNvPr id="5" name="Text 3"/>
          <p:cNvSpPr txBox="1"/>
          <p:nvPr/>
        </p:nvSpPr>
        <p:spPr>
          <a:xfrm>
            <a:off x="73152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every Citi Bike trip, Oct 2024 to Sep 2026, with start and end station and time</a:t>
            </a:r>
            <a:endParaRPr lang="en-US" sz="1400" dirty="0"/>
          </a:p>
        </p:txBody>
      </p:sp>
      <p:sp>
        <p:nvSpPr>
          <p:cNvPr id="6" name="Shape 4"/>
          <p:cNvSpPr/>
          <p:nvPr/>
        </p:nvSpPr>
        <p:spPr>
          <a:xfrm>
            <a:off x="3108960" y="2240280"/>
            <a:ext cx="182880" cy="365760"/>
          </a:xfrm>
          <a:prstGeom prst="chevron">
            <a:avLst/>
          </a:prstGeom>
          <a:solidFill>
            <a:schemeClr val="accent5"/>
          </a:solidFill>
          <a:ln/>
        </p:spPr>
      </p:sp>
      <p:sp>
        <p:nvSpPr>
          <p:cNvPr id="7" name="card"/>
          <p:cNvSpPr/>
          <p:nvPr/>
        </p:nvSpPr>
        <p:spPr>
          <a:xfrm>
            <a:off x="3383280" y="1417320"/>
            <a:ext cx="2468880" cy="2011680"/>
          </a:xfrm>
          <a:prstGeom prst="roundRect">
            <a:avLst>
              <a:gd name="adj" fmla="val 3636"/>
            </a:avLst>
          </a:prstGeom>
          <a:solidFill>
            <a:schemeClr val="bg2"/>
          </a:solidFill>
          <a:ln/>
        </p:spPr>
      </p:sp>
      <p:sp>
        <p:nvSpPr>
          <p:cNvPr id="8" name="Text 6"/>
          <p:cNvSpPr txBox="1"/>
          <p:nvPr/>
        </p:nvSpPr>
        <p:spPr>
          <a:xfrm>
            <a:off x="3566160" y="1600200"/>
            <a:ext cx="2103120" cy="457200"/>
          </a:xfrm>
          <a:prstGeom prst="rect">
            <a:avLst/>
          </a:prstGeom>
          <a:noFill/>
          <a:ln/>
        </p:spPr>
        <p:txBody>
          <a:bodyPr wrap="square" lIns="0" tIns="0" rIns="0" bIns="0" rtlCol="0" anchor="ctr"/>
          <a:lstStyle/>
          <a:p>
            <a:pPr indent="0" marL="0">
              <a:buNone/>
            </a:pPr>
            <a:r>
              <a:rPr lang="en-US" sz="1900" b="1" dirty="0">
                <a:solidFill>
                  <a:schemeClr val="tx1"/>
                </a:solidFill>
              </a:rPr>
              <a:t>Stock every 5 min</a:t>
            </a:r>
            <a:endParaRPr lang="en-US" sz="1900" dirty="0"/>
          </a:p>
        </p:txBody>
      </p:sp>
      <p:sp>
        <p:nvSpPr>
          <p:cNvPr id="9" name="Text 7"/>
          <p:cNvSpPr txBox="1"/>
          <p:nvPr/>
        </p:nvSpPr>
        <p:spPr>
          <a:xfrm>
            <a:off x="356616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bikes in each of 2,470 stations rebuilt from trips leaving and arriving</a:t>
            </a:r>
            <a:endParaRPr lang="en-US" sz="1400" dirty="0"/>
          </a:p>
        </p:txBody>
      </p:sp>
      <p:sp>
        <p:nvSpPr>
          <p:cNvPr id="10" name="Shape 8"/>
          <p:cNvSpPr/>
          <p:nvPr/>
        </p:nvSpPr>
        <p:spPr>
          <a:xfrm>
            <a:off x="5943600" y="2240280"/>
            <a:ext cx="182880" cy="365760"/>
          </a:xfrm>
          <a:prstGeom prst="chevron">
            <a:avLst/>
          </a:prstGeom>
          <a:solidFill>
            <a:schemeClr val="accent5"/>
          </a:solidFill>
          <a:ln/>
        </p:spPr>
      </p:sp>
      <p:sp>
        <p:nvSpPr>
          <p:cNvPr id="11" name="card"/>
          <p:cNvSpPr/>
          <p:nvPr/>
        </p:nvSpPr>
        <p:spPr>
          <a:xfrm>
            <a:off x="6217920" y="1417320"/>
            <a:ext cx="2468880" cy="2011680"/>
          </a:xfrm>
          <a:prstGeom prst="roundRect">
            <a:avLst>
              <a:gd name="adj" fmla="val 3636"/>
            </a:avLst>
          </a:prstGeom>
          <a:solidFill>
            <a:schemeClr val="bg2"/>
          </a:solidFill>
          <a:ln/>
        </p:spPr>
      </p:sp>
      <p:sp>
        <p:nvSpPr>
          <p:cNvPr id="12" name="Text 10"/>
          <p:cNvSpPr txBox="1"/>
          <p:nvPr/>
        </p:nvSpPr>
        <p:spPr>
          <a:xfrm>
            <a:off x="6400800" y="1600200"/>
            <a:ext cx="2103120" cy="457200"/>
          </a:xfrm>
          <a:prstGeom prst="rect">
            <a:avLst/>
          </a:prstGeom>
          <a:noFill/>
          <a:ln/>
        </p:spPr>
        <p:txBody>
          <a:bodyPr wrap="square" lIns="0" tIns="0" rIns="0" bIns="0" rtlCol="0" anchor="ctr"/>
          <a:lstStyle/>
          <a:p>
            <a:pPr indent="0" marL="0">
              <a:buNone/>
            </a:pPr>
            <a:r>
              <a:rPr lang="en-US" sz="1900" b="1" dirty="0">
                <a:solidFill>
                  <a:schemeClr val="tx1"/>
                </a:solidFill>
              </a:rPr>
              <a:t>Replay a schedule</a:t>
            </a:r>
            <a:endParaRPr lang="en-US" sz="1900" dirty="0"/>
          </a:p>
        </p:txBody>
      </p:sp>
      <p:sp>
        <p:nvSpPr>
          <p:cNvPr id="13" name="Text 11"/>
          <p:cNvSpPr txBox="1"/>
          <p:nvPr/>
        </p:nvSpPr>
        <p:spPr>
          <a:xfrm>
            <a:off x="640080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set each station's level at 04:00, then replay the real riders</a:t>
            </a:r>
            <a:endParaRPr lang="en-US" sz="1400" dirty="0"/>
          </a:p>
        </p:txBody>
      </p:sp>
      <p:sp>
        <p:nvSpPr>
          <p:cNvPr id="14" name="Shape 12"/>
          <p:cNvSpPr/>
          <p:nvPr/>
        </p:nvSpPr>
        <p:spPr>
          <a:xfrm>
            <a:off x="8778240" y="2240280"/>
            <a:ext cx="182880" cy="365760"/>
          </a:xfrm>
          <a:prstGeom prst="chevron">
            <a:avLst/>
          </a:prstGeom>
          <a:solidFill>
            <a:schemeClr val="accent5"/>
          </a:solidFill>
          <a:ln/>
        </p:spPr>
      </p:sp>
      <p:sp>
        <p:nvSpPr>
          <p:cNvPr id="15" name="card"/>
          <p:cNvSpPr/>
          <p:nvPr/>
        </p:nvSpPr>
        <p:spPr>
          <a:xfrm>
            <a:off x="9052560" y="1417320"/>
            <a:ext cx="2468880" cy="2011680"/>
          </a:xfrm>
          <a:prstGeom prst="roundRect">
            <a:avLst>
              <a:gd name="adj" fmla="val 3636"/>
            </a:avLst>
          </a:prstGeom>
          <a:solidFill>
            <a:srgbClr val="E3ECF8"/>
          </a:solidFill>
          <a:ln/>
        </p:spPr>
      </p:sp>
      <p:sp>
        <p:nvSpPr>
          <p:cNvPr id="16" name="Text 14"/>
          <p:cNvSpPr txBox="1"/>
          <p:nvPr/>
        </p:nvSpPr>
        <p:spPr>
          <a:xfrm>
            <a:off x="9235440" y="1600200"/>
            <a:ext cx="2103120" cy="457200"/>
          </a:xfrm>
          <a:prstGeom prst="rect">
            <a:avLst/>
          </a:prstGeom>
          <a:noFill/>
          <a:ln/>
        </p:spPr>
        <p:txBody>
          <a:bodyPr wrap="square" lIns="0" tIns="0" rIns="0" bIns="0" rtlCol="0" anchor="ctr"/>
          <a:lstStyle/>
          <a:p>
            <a:pPr indent="0" marL="0">
              <a:buNone/>
            </a:pPr>
            <a:r>
              <a:rPr lang="en-US" sz="1900" b="1" dirty="0">
                <a:solidFill>
                  <a:schemeClr val="accent4"/>
                </a:solidFill>
              </a:rPr>
              <a:t>Count the losses</a:t>
            </a:r>
            <a:endParaRPr lang="en-US" sz="1900" dirty="0"/>
          </a:p>
        </p:txBody>
      </p:sp>
      <p:sp>
        <p:nvSpPr>
          <p:cNvPr id="17" name="Text 15"/>
          <p:cNvSpPr txBox="1"/>
          <p:nvPr/>
        </p:nvSpPr>
        <p:spPr>
          <a:xfrm>
            <a:off x="9235440" y="2103120"/>
            <a:ext cx="2103120" cy="1234440"/>
          </a:xfrm>
          <a:prstGeom prst="rect">
            <a:avLst/>
          </a:prstGeom>
          <a:noFill/>
          <a:ln/>
        </p:spPr>
        <p:txBody>
          <a:bodyPr wrap="square" lIns="0" tIns="0" rIns="0" bIns="0" rtlCol="0" anchor="t"/>
          <a:lstStyle/>
          <a:p>
            <a:pPr indent="0" marL="0">
              <a:buNone/>
            </a:pPr>
            <a:r>
              <a:rPr lang="en-US" sz="1400" dirty="0">
                <a:solidFill>
                  <a:schemeClr val="tx1"/>
                </a:solidFill>
              </a:rPr>
              <a:t>riders turned away at an empty or full station, and bikes moved</a:t>
            </a:r>
            <a:endParaRPr lang="en-US" sz="1400" dirty="0"/>
          </a:p>
        </p:txBody>
      </p:sp>
      <p:sp>
        <p:nvSpPr>
          <p:cNvPr id="18" name="Text 16"/>
          <p:cNvSpPr txBox="1"/>
          <p:nvPr/>
        </p:nvSpPr>
        <p:spPr>
          <a:xfrm>
            <a:off x="548640" y="3840480"/>
            <a:ext cx="10972800" cy="365760"/>
          </a:xfrm>
          <a:prstGeom prst="rect">
            <a:avLst/>
          </a:prstGeom>
          <a:noFill/>
          <a:ln/>
        </p:spPr>
        <p:txBody>
          <a:bodyPr wrap="square" lIns="0" tIns="0" rIns="0" bIns="0" rtlCol="0" anchor="ctr"/>
          <a:lstStyle/>
          <a:p>
            <a:pPr indent="0" marL="0">
              <a:buNone/>
            </a:pPr>
            <a:r>
              <a:rPr lang="en-US" sz="1600" b="1" dirty="0">
                <a:solidFill>
                  <a:schemeClr val="accent6"/>
                </a:solidFill>
              </a:rPr>
              <a:t>The first year picks the settings, the second year scores them</a:t>
            </a:r>
            <a:endParaRPr lang="en-US" sz="1600" dirty="0"/>
          </a:p>
        </p:txBody>
      </p:sp>
      <p:sp>
        <p:nvSpPr>
          <p:cNvPr id="19" name="Shape 17"/>
          <p:cNvSpPr/>
          <p:nvPr/>
        </p:nvSpPr>
        <p:spPr>
          <a:xfrm>
            <a:off x="548640" y="4343400"/>
            <a:ext cx="5455768" cy="822960"/>
          </a:xfrm>
          <a:prstGeom prst="rect">
            <a:avLst/>
          </a:prstGeom>
          <a:solidFill>
            <a:schemeClr val="accent5"/>
          </a:solidFill>
          <a:ln/>
        </p:spPr>
      </p:sp>
      <p:sp>
        <p:nvSpPr>
          <p:cNvPr id="20" name="Shape 18"/>
          <p:cNvSpPr/>
          <p:nvPr/>
        </p:nvSpPr>
        <p:spPr>
          <a:xfrm>
            <a:off x="6187288" y="4343400"/>
            <a:ext cx="5455768" cy="822960"/>
          </a:xfrm>
          <a:prstGeom prst="rect">
            <a:avLst/>
          </a:prstGeom>
          <a:solidFill>
            <a:schemeClr val="accent1"/>
          </a:solidFill>
          <a:ln/>
        </p:spPr>
      </p:sp>
      <p:sp>
        <p:nvSpPr>
          <p:cNvPr id="21" name="Text 19"/>
          <p:cNvSpPr txBox="1"/>
          <p:nvPr/>
        </p:nvSpPr>
        <p:spPr>
          <a:xfrm>
            <a:off x="731520" y="4343400"/>
            <a:ext cx="5090008" cy="822960"/>
          </a:xfrm>
          <a:prstGeom prst="rect">
            <a:avLst/>
          </a:prstGeom>
          <a:noFill/>
          <a:ln/>
        </p:spPr>
        <p:txBody>
          <a:bodyPr wrap="square" lIns="0" tIns="0" rIns="0" bIns="0" rtlCol="0" anchor="ctr"/>
          <a:lstStyle/>
          <a:p>
            <a:pPr indent="0" marL="0">
              <a:buNone/>
            </a:pPr>
            <a:r>
              <a:rPr lang="en-US" sz="1500" b="1" dirty="0">
                <a:solidFill>
                  <a:schemeClr val="bg1"/>
                </a:solidFill>
              </a:rPr>
              <a:t>Development year  </a:t>
            </a:r>
            <a:pPr indent="0" marL="0">
              <a:buNone/>
            </a:pPr>
            <a:r>
              <a:rPr lang="en-US" sz="1500" dirty="0">
                <a:solidFill>
                  <a:schemeClr val="bg1"/>
                </a:solidFill>
              </a:rPr>
              <a:t>Oct 2024 to Sep 2025: explore and pick settings</a:t>
            </a:r>
            <a:endParaRPr lang="en-US" sz="1500" dirty="0"/>
          </a:p>
        </p:txBody>
      </p:sp>
      <p:sp>
        <p:nvSpPr>
          <p:cNvPr id="22" name="Text 20"/>
          <p:cNvSpPr txBox="1"/>
          <p:nvPr/>
        </p:nvSpPr>
        <p:spPr>
          <a:xfrm>
            <a:off x="6370168" y="4343400"/>
            <a:ext cx="5090008" cy="822960"/>
          </a:xfrm>
          <a:prstGeom prst="rect">
            <a:avLst/>
          </a:prstGeom>
          <a:noFill/>
          <a:ln/>
        </p:spPr>
        <p:txBody>
          <a:bodyPr wrap="square" lIns="0" tIns="0" rIns="0" bIns="0" rtlCol="0" anchor="ctr"/>
          <a:lstStyle/>
          <a:p>
            <a:pPr indent="0" marL="0">
              <a:buNone/>
            </a:pPr>
            <a:r>
              <a:rPr lang="en-US" sz="1500" b="1" dirty="0">
                <a:solidFill>
                  <a:schemeClr val="bg1"/>
                </a:solidFill>
              </a:rPr>
              <a:t>Test year  </a:t>
            </a:r>
            <a:pPr indent="0" marL="0">
              <a:buNone/>
            </a:pPr>
            <a:r>
              <a:rPr lang="en-US" sz="1500" dirty="0">
                <a:solidFill>
                  <a:schemeClr val="bg1"/>
                </a:solidFill>
              </a:rPr>
              <a:t>Oct 2025 to Sep 2026: used once, to score</a:t>
            </a:r>
            <a:endParaRPr lang="en-US" sz="1500" dirty="0"/>
          </a:p>
        </p:txBody>
      </p:sp>
      <p:sp>
        <p:nvSpPr>
          <p:cNvPr id="23" name="Text 21"/>
          <p:cNvSpPr txBox="1"/>
          <p:nvPr/>
        </p:nvSpPr>
        <p:spPr>
          <a:xfrm>
            <a:off x="548640" y="5394960"/>
            <a:ext cx="11064240" cy="640080"/>
          </a:xfrm>
          <a:prstGeom prst="rect">
            <a:avLst/>
          </a:prstGeom>
          <a:noFill/>
          <a:ln/>
        </p:spPr>
        <p:txBody>
          <a:bodyPr wrap="square" lIns="0" tIns="0" rIns="0" bIns="0" rtlCol="0" anchor="t"/>
          <a:lstStyle/>
          <a:p>
            <a:pPr indent="0" marL="0">
              <a:buNone/>
            </a:pPr>
            <a:r>
              <a:rPr lang="en-US" sz="1500" dirty="0">
                <a:solidFill>
                  <a:schemeClr val="tx1"/>
                </a:solidFill>
              </a:rPr>
              <a:t>A rider turned away at an empty station never rides. The bike they would have brought never arrives, and the station at the other end can run short too.</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Homes empty before 10:00, offices empty after 16:00</a:t>
            </a:r>
            <a:endParaRPr lang="en-US" sz="2800" dirty="0"/>
          </a:p>
        </p:txBody>
      </p:sp>
      <p:pic>
        <p:nvPicPr>
          <p:cNvPr id="3" name="neighbourhood clock" descr="neighbourhood clock">    </p:cNvPr>
          <p:cNvPicPr>
            <a:picLocks noChangeAspect="1"/>
          </p:cNvPicPr>
          <p:nvPr/>
        </p:nvPicPr>
        <p:blipFill>
          <a:blip r:embed="rId1"/>
          <a:stretch>
            <a:fillRect/>
          </a:stretch>
        </p:blipFill>
        <p:spPr>
          <a:xfrm>
            <a:off x="548640" y="1616691"/>
            <a:ext cx="7863840" cy="4127538"/>
          </a:xfrm>
          <a:prstGeom prst="rect">
            <a:avLst/>
          </a:prstGeom>
        </p:spPr>
      </p:pic>
      <p:sp>
        <p:nvSpPr>
          <p:cNvPr id="4" name="caption"/>
          <p:cNvSpPr txBox="1"/>
          <p:nvPr/>
        </p:nvSpPr>
        <p:spPr>
          <a:xfrm>
            <a:off x="548640" y="5789949"/>
            <a:ext cx="7863840" cy="320040"/>
          </a:xfrm>
          <a:prstGeom prst="rect">
            <a:avLst/>
          </a:prstGeom>
          <a:noFill/>
          <a:ln/>
        </p:spPr>
        <p:txBody>
          <a:bodyPr wrap="square" lIns="0" tIns="0" rIns="0" bIns="0" rtlCol="0" anchor="ctr"/>
          <a:lstStyle/>
          <a:p>
            <a:pPr indent="0" marL="0">
              <a:buNone/>
            </a:pPr>
            <a:r>
              <a:rPr lang="en-US" sz="1100" dirty="0">
                <a:solidFill>
                  <a:schemeClr val="accent6"/>
                </a:solidFill>
              </a:rPr>
              <a:t>Bikes gained per workday hour, 24 neighbourhoods with the largest swings. Development year.</a:t>
            </a:r>
            <a:endParaRPr lang="en-US" sz="1100" dirty="0"/>
          </a:p>
        </p:txBody>
      </p:sp>
      <p:sp>
        <p:nvSpPr>
          <p:cNvPr id="5" name="stat 726"/>
          <p:cNvSpPr txBox="1"/>
          <p:nvPr/>
        </p:nvSpPr>
        <p:spPr>
          <a:xfrm>
            <a:off x="8778240" y="1463040"/>
            <a:ext cx="2834640" cy="609600"/>
          </a:xfrm>
          <a:prstGeom prst="rect">
            <a:avLst/>
          </a:prstGeom>
          <a:noFill/>
          <a:ln/>
        </p:spPr>
        <p:txBody>
          <a:bodyPr wrap="square" lIns="0" tIns="0" rIns="0" bIns="0" rtlCol="0" anchor="b"/>
          <a:lstStyle/>
          <a:p>
            <a:pPr indent="0" marL="0">
              <a:buNone/>
            </a:pPr>
            <a:r>
              <a:rPr lang="en-US" sz="4000" b="1" dirty="0">
                <a:solidFill>
                  <a:schemeClr val="accent3"/>
                </a:solidFill>
              </a:rPr>
              <a:t>726</a:t>
            </a:r>
            <a:endParaRPr lang="en-US" sz="4000" dirty="0"/>
          </a:p>
        </p:txBody>
      </p:sp>
      <p:sp>
        <p:nvSpPr>
          <p:cNvPr id="6" name="stat label"/>
          <p:cNvSpPr txBox="1"/>
          <p:nvPr/>
        </p:nvSpPr>
        <p:spPr>
          <a:xfrm>
            <a:off x="8778240" y="2118360"/>
            <a:ext cx="2834640" cy="685800"/>
          </a:xfrm>
          <a:prstGeom prst="rect">
            <a:avLst/>
          </a:prstGeom>
          <a:noFill/>
          <a:ln/>
        </p:spPr>
        <p:txBody>
          <a:bodyPr wrap="square" lIns="0" tIns="0" rIns="0" bIns="0" rtlCol="0" anchor="t"/>
          <a:lstStyle/>
          <a:p>
            <a:pPr indent="0" marL="0">
              <a:buNone/>
            </a:pPr>
            <a:r>
              <a:rPr lang="en-US" sz="1400" dirty="0">
                <a:solidFill>
                  <a:schemeClr val="tx1"/>
                </a:solidFill>
              </a:rPr>
              <a:t>bikes leave the East Village over the morning rush</a:t>
            </a:r>
            <a:endParaRPr lang="en-US" sz="1400" dirty="0"/>
          </a:p>
        </p:txBody>
      </p:sp>
      <p:sp>
        <p:nvSpPr>
          <p:cNvPr id="7" name="stat 1,119"/>
          <p:cNvSpPr txBox="1"/>
          <p:nvPr/>
        </p:nvSpPr>
        <p:spPr>
          <a:xfrm>
            <a:off x="8778240" y="2834640"/>
            <a:ext cx="2834640" cy="609600"/>
          </a:xfrm>
          <a:prstGeom prst="rect">
            <a:avLst/>
          </a:prstGeom>
          <a:noFill/>
          <a:ln/>
        </p:spPr>
        <p:txBody>
          <a:bodyPr wrap="square" lIns="0" tIns="0" rIns="0" bIns="0" rtlCol="0" anchor="b"/>
          <a:lstStyle/>
          <a:p>
            <a:pPr indent="0" marL="0">
              <a:buNone/>
            </a:pPr>
            <a:r>
              <a:rPr lang="en-US" sz="4000" b="1" dirty="0">
                <a:solidFill>
                  <a:schemeClr val="accent1"/>
                </a:solidFill>
              </a:rPr>
              <a:t>1,119</a:t>
            </a:r>
            <a:endParaRPr lang="en-US" sz="4000" dirty="0"/>
          </a:p>
        </p:txBody>
      </p:sp>
      <p:sp>
        <p:nvSpPr>
          <p:cNvPr id="8" name="stat label"/>
          <p:cNvSpPr txBox="1"/>
          <p:nvPr/>
        </p:nvSpPr>
        <p:spPr>
          <a:xfrm>
            <a:off x="8778240" y="3489960"/>
            <a:ext cx="2834640" cy="685800"/>
          </a:xfrm>
          <a:prstGeom prst="rect">
            <a:avLst/>
          </a:prstGeom>
          <a:noFill/>
          <a:ln/>
        </p:spPr>
        <p:txBody>
          <a:bodyPr wrap="square" lIns="0" tIns="0" rIns="0" bIns="0" rtlCol="0" anchor="t"/>
          <a:lstStyle/>
          <a:p>
            <a:pPr indent="0" marL="0">
              <a:buNone/>
            </a:pPr>
            <a:r>
              <a:rPr lang="en-US" sz="1400" dirty="0">
                <a:solidFill>
                  <a:schemeClr val="tx1"/>
                </a:solidFill>
              </a:rPr>
              <a:t>arrive in Midtown and Times Square over the same hours</a:t>
            </a:r>
            <a:endParaRPr lang="en-US" sz="1400" dirty="0"/>
          </a:p>
        </p:txBody>
      </p:sp>
      <p:sp>
        <p:nvSpPr>
          <p:cNvPr id="9" name="Text 6"/>
          <p:cNvSpPr txBox="1"/>
          <p:nvPr/>
        </p:nvSpPr>
        <p:spPr>
          <a:xfrm>
            <a:off x="8778240" y="4251960"/>
            <a:ext cx="2834640" cy="1463040"/>
          </a:xfrm>
          <a:prstGeom prst="rect">
            <a:avLst/>
          </a:prstGeom>
          <a:noFill/>
          <a:ln/>
        </p:spPr>
        <p:txBody>
          <a:bodyPr wrap="square" lIns="0" tIns="0" rIns="0" bIns="0" rtlCol="0" anchor="t"/>
          <a:lstStyle/>
          <a:p>
            <a:pPr indent="0" marL="0">
              <a:buNone/>
            </a:pPr>
            <a:r>
              <a:rPr lang="en-US" sz="1500" b="1" dirty="0">
                <a:solidFill>
                  <a:schemeClr val="tx1"/>
                </a:solidFill>
              </a:rPr>
              <a:t>Offices empty fast between 16:00 and 19:00. A visit at 14:00 still has time to help.</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Tomorrow looks like the last ten days, so plan it the night before</a:t>
            </a:r>
            <a:endParaRPr lang="en-US" sz="2800" dirty="0"/>
          </a:p>
        </p:txBody>
      </p:sp>
      <p:sp>
        <p:nvSpPr>
          <p:cNvPr id="3" name="Text 1"/>
          <p:cNvSpPr txBox="1"/>
          <p:nvPr/>
        </p:nvSpPr>
        <p:spPr>
          <a:xfrm>
            <a:off x="548640" y="1325880"/>
            <a:ext cx="1737360" cy="685800"/>
          </a:xfrm>
          <a:prstGeom prst="rect">
            <a:avLst/>
          </a:prstGeom>
          <a:noFill/>
          <a:ln/>
        </p:spPr>
        <p:txBody>
          <a:bodyPr wrap="square" lIns="0" tIns="0" rIns="0" bIns="0" rtlCol="0" anchor="ctr"/>
          <a:lstStyle/>
          <a:p>
            <a:pPr indent="0" marL="0">
              <a:buNone/>
            </a:pPr>
            <a:r>
              <a:rPr lang="en-US" sz="4000" b="1" dirty="0">
                <a:solidFill>
                  <a:schemeClr val="accent1"/>
                </a:solidFill>
              </a:rPr>
              <a:t>0.998</a:t>
            </a:r>
            <a:endParaRPr lang="en-US" sz="4000" dirty="0"/>
          </a:p>
        </p:txBody>
      </p:sp>
      <p:sp>
        <p:nvSpPr>
          <p:cNvPr id="4" name="Text 2"/>
          <p:cNvSpPr txBox="1"/>
          <p:nvPr/>
        </p:nvSpPr>
        <p:spPr>
          <a:xfrm>
            <a:off x="2377440" y="1325880"/>
            <a:ext cx="3489808" cy="685800"/>
          </a:xfrm>
          <a:prstGeom prst="rect">
            <a:avLst/>
          </a:prstGeom>
          <a:noFill/>
          <a:ln/>
        </p:spPr>
        <p:txBody>
          <a:bodyPr wrap="square" lIns="0" tIns="0" rIns="0" bIns="0" rtlCol="0" anchor="ctr"/>
          <a:lstStyle/>
          <a:p>
            <a:pPr indent="0" marL="0">
              <a:buNone/>
            </a:pPr>
            <a:r>
              <a:rPr lang="en-US" sz="1500" dirty="0">
                <a:solidFill>
                  <a:schemeClr val="tx1"/>
                </a:solidFill>
              </a:rPr>
              <a:t>a station's morning flow, odd weeks against even weeks</a:t>
            </a:r>
            <a:endParaRPr lang="en-US" sz="1500" dirty="0"/>
          </a:p>
        </p:txBody>
      </p:sp>
      <p:pic>
        <p:nvPicPr>
          <p:cNvPr id="5" name="fig4-habit.png" descr="fig4-habit.png">    </p:cNvPr>
          <p:cNvPicPr>
            <a:picLocks noChangeAspect="1"/>
          </p:cNvPicPr>
          <p:nvPr/>
        </p:nvPicPr>
        <p:blipFill>
          <a:blip r:embed="rId1"/>
          <a:stretch>
            <a:fillRect/>
          </a:stretch>
        </p:blipFill>
        <p:spPr>
          <a:xfrm>
            <a:off x="1098802" y="2103120"/>
            <a:ext cx="4218284" cy="3383280"/>
          </a:xfrm>
          <a:prstGeom prst="rect">
            <a:avLst/>
          </a:prstGeom>
        </p:spPr>
      </p:pic>
      <p:sp>
        <p:nvSpPr>
          <p:cNvPr id="6" name="Text 3"/>
          <p:cNvSpPr txBox="1"/>
          <p:nvPr/>
        </p:nvSpPr>
        <p:spPr>
          <a:xfrm>
            <a:off x="6324448" y="1325880"/>
            <a:ext cx="1737360" cy="685800"/>
          </a:xfrm>
          <a:prstGeom prst="rect">
            <a:avLst/>
          </a:prstGeom>
          <a:noFill/>
          <a:ln/>
        </p:spPr>
        <p:txBody>
          <a:bodyPr wrap="square" lIns="0" tIns="0" rIns="0" bIns="0" rtlCol="0" anchor="ctr"/>
          <a:lstStyle/>
          <a:p>
            <a:pPr indent="0" marL="0">
              <a:buNone/>
            </a:pPr>
            <a:r>
              <a:rPr lang="en-US" sz="4000" b="1" dirty="0">
                <a:solidFill>
                  <a:schemeClr val="accent1"/>
                </a:solidFill>
              </a:rPr>
              <a:t>0.90</a:t>
            </a:r>
            <a:endParaRPr lang="en-US" sz="4000" dirty="0"/>
          </a:p>
        </p:txBody>
      </p:sp>
      <p:sp>
        <p:nvSpPr>
          <p:cNvPr id="7" name="Text 4"/>
          <p:cNvSpPr txBox="1"/>
          <p:nvPr/>
        </p:nvSpPr>
        <p:spPr>
          <a:xfrm>
            <a:off x="8153248" y="1325880"/>
            <a:ext cx="3489808" cy="685800"/>
          </a:xfrm>
          <a:prstGeom prst="rect">
            <a:avLst/>
          </a:prstGeom>
          <a:noFill/>
          <a:ln/>
        </p:spPr>
        <p:txBody>
          <a:bodyPr wrap="square" lIns="0" tIns="0" rIns="0" bIns="0" rtlCol="0" anchor="ctr"/>
          <a:lstStyle/>
          <a:p>
            <a:pPr indent="0" marL="0">
              <a:buNone/>
            </a:pPr>
            <a:r>
              <a:rPr lang="en-US" sz="1500" dirty="0">
                <a:solidFill>
                  <a:schemeClr val="tx1"/>
                </a:solidFill>
              </a:rPr>
              <a:t>one day against the average of its last 10 workdays</a:t>
            </a:r>
            <a:endParaRPr lang="en-US" sz="1500" dirty="0"/>
          </a:p>
        </p:txBody>
      </p:sp>
      <p:pic>
        <p:nvPicPr>
          <p:cNvPr id="8" name="fig5-single-day.png" descr="fig5-single-day.png">    </p:cNvPr>
          <p:cNvPicPr>
            <a:picLocks noChangeAspect="1"/>
          </p:cNvPicPr>
          <p:nvPr/>
        </p:nvPicPr>
        <p:blipFill>
          <a:blip r:embed="rId2"/>
          <a:stretch>
            <a:fillRect/>
          </a:stretch>
        </p:blipFill>
        <p:spPr>
          <a:xfrm>
            <a:off x="6874609" y="2103120"/>
            <a:ext cx="4218284" cy="3383280"/>
          </a:xfrm>
          <a:prstGeom prst="rect">
            <a:avLst/>
          </a:prstGeom>
        </p:spPr>
      </p:pic>
      <p:sp>
        <p:nvSpPr>
          <p:cNvPr id="9" name="caption"/>
          <p:cNvSpPr txBox="1"/>
          <p:nvPr/>
        </p:nvSpPr>
        <p:spPr>
          <a:xfrm>
            <a:off x="548640" y="5559552"/>
            <a:ext cx="10972800" cy="320040"/>
          </a:xfrm>
          <a:prstGeom prst="rect">
            <a:avLst/>
          </a:prstGeom>
          <a:noFill/>
          <a:ln/>
        </p:spPr>
        <p:txBody>
          <a:bodyPr wrap="square" lIns="0" tIns="0" rIns="0" bIns="0" rtlCol="0" anchor="ctr"/>
          <a:lstStyle/>
          <a:p>
            <a:pPr indent="0" marL="0">
              <a:buNone/>
            </a:pPr>
            <a:r>
              <a:rPr lang="en-US" sz="1100" dirty="0">
                <a:solidFill>
                  <a:schemeClr val="accent6"/>
                </a:solidFill>
              </a:rPr>
              <a:t>Development year. Left: 2,190 stations. Right: 30,000 random station-days.</a:t>
            </a:r>
            <a:endParaRPr lang="en-US" sz="1100" dirty="0"/>
          </a:p>
        </p:txBody>
      </p:sp>
      <p:sp>
        <p:nvSpPr>
          <p:cNvPr id="10" name="Text 6"/>
          <p:cNvSpPr txBox="1"/>
          <p:nvPr/>
        </p:nvSpPr>
        <p:spPr>
          <a:xfrm>
            <a:off x="548640" y="5852160"/>
            <a:ext cx="11094415" cy="457200"/>
          </a:xfrm>
          <a:prstGeom prst="rect">
            <a:avLst/>
          </a:prstGeom>
          <a:noFill/>
          <a:ln/>
        </p:spPr>
        <p:txBody>
          <a:bodyPr wrap="square" lIns="0" tIns="0" rIns="0" bIns="0" rtlCol="0" anchor="t"/>
          <a:lstStyle/>
          <a:p>
            <a:pPr indent="0" marL="0">
              <a:buNone/>
            </a:pPr>
            <a:r>
              <a:rPr lang="en-US" sz="1500" b="1" dirty="0">
                <a:solidFill>
                  <a:schemeClr val="accent4"/>
                </a:solidFill>
              </a:rPr>
              <a:t>The typical station-day is off by 1.6 bikes. Big stations can be off by much more, and that is what a daytime visit is for.</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Most shortages come from starting the day at the wrong level</a:t>
            </a:r>
            <a:endParaRPr lang="en-US" sz="2800" dirty="0"/>
          </a:p>
        </p:txBody>
      </p:sp>
      <p:sp>
        <p:nvSpPr>
          <p:cNvPr id="3" name="stat 22%"/>
          <p:cNvSpPr txBox="1"/>
          <p:nvPr/>
        </p:nvSpPr>
        <p:spPr>
          <a:xfrm>
            <a:off x="548640" y="1325880"/>
            <a:ext cx="4846320" cy="548640"/>
          </a:xfrm>
          <a:prstGeom prst="rect">
            <a:avLst/>
          </a:prstGeom>
          <a:noFill/>
          <a:ln/>
        </p:spPr>
        <p:txBody>
          <a:bodyPr wrap="square" lIns="0" tIns="0" rIns="0" bIns="0" rtlCol="0" anchor="b"/>
          <a:lstStyle/>
          <a:p>
            <a:pPr indent="0" marL="0">
              <a:buNone/>
            </a:pPr>
            <a:r>
              <a:rPr lang="en-US" sz="3600" b="1" dirty="0">
                <a:solidFill>
                  <a:schemeClr val="accent3"/>
                </a:solidFill>
              </a:rPr>
              <a:t>22%</a:t>
            </a:r>
            <a:endParaRPr lang="en-US" sz="3600" dirty="0"/>
          </a:p>
        </p:txBody>
      </p:sp>
      <p:sp>
        <p:nvSpPr>
          <p:cNvPr id="4" name="stat label"/>
          <p:cNvSpPr txBox="1"/>
          <p:nvPr/>
        </p:nvSpPr>
        <p:spPr>
          <a:xfrm>
            <a:off x="548640" y="1920240"/>
            <a:ext cx="4846320" cy="685800"/>
          </a:xfrm>
          <a:prstGeom prst="rect">
            <a:avLst/>
          </a:prstGeom>
          <a:noFill/>
          <a:ln/>
        </p:spPr>
        <p:txBody>
          <a:bodyPr wrap="square" lIns="0" tIns="0" rIns="0" bIns="0" rtlCol="0" anchor="t"/>
          <a:lstStyle/>
          <a:p>
            <a:pPr indent="0" marL="0">
              <a:buNone/>
            </a:pPr>
            <a:r>
              <a:rPr lang="en-US" sz="1400" dirty="0">
                <a:solidFill>
                  <a:schemeClr val="tx1"/>
                </a:solidFill>
              </a:rPr>
              <a:t>of workday station-days run empty or full at some point from a half-full start</a:t>
            </a:r>
            <a:endParaRPr lang="en-US" sz="1400" dirty="0"/>
          </a:p>
        </p:txBody>
      </p:sp>
      <p:sp>
        <p:nvSpPr>
          <p:cNvPr id="5" name="stat 1.3%"/>
          <p:cNvSpPr txBox="1"/>
          <p:nvPr/>
        </p:nvSpPr>
        <p:spPr>
          <a:xfrm>
            <a:off x="6309360" y="1325880"/>
            <a:ext cx="5303520" cy="548640"/>
          </a:xfrm>
          <a:prstGeom prst="rect">
            <a:avLst/>
          </a:prstGeom>
          <a:noFill/>
          <a:ln/>
        </p:spPr>
        <p:txBody>
          <a:bodyPr wrap="square" lIns="0" tIns="0" rIns="0" bIns="0" rtlCol="0" anchor="b"/>
          <a:lstStyle/>
          <a:p>
            <a:pPr indent="0" marL="0">
              <a:buNone/>
            </a:pPr>
            <a:r>
              <a:rPr lang="en-US" sz="3600" b="1" dirty="0">
                <a:solidFill>
                  <a:schemeClr val="accent5"/>
                </a:solidFill>
              </a:rPr>
              <a:t>1.3%</a:t>
            </a:r>
            <a:endParaRPr lang="en-US" sz="3600" dirty="0"/>
          </a:p>
        </p:txBody>
      </p:sp>
      <p:sp>
        <p:nvSpPr>
          <p:cNvPr id="6" name="stat label"/>
          <p:cNvSpPr txBox="1"/>
          <p:nvPr/>
        </p:nvSpPr>
        <p:spPr>
          <a:xfrm>
            <a:off x="6309360" y="1920240"/>
            <a:ext cx="5303520" cy="685800"/>
          </a:xfrm>
          <a:prstGeom prst="rect">
            <a:avLst/>
          </a:prstGeom>
          <a:noFill/>
          <a:ln/>
        </p:spPr>
        <p:txBody>
          <a:bodyPr wrap="square" lIns="0" tIns="0" rIns="0" bIns="0" rtlCol="0" anchor="t"/>
          <a:lstStyle/>
          <a:p>
            <a:pPr indent="0" marL="0">
              <a:buNone/>
            </a:pPr>
            <a:r>
              <a:rPr lang="en-US" sz="1400" dirty="0">
                <a:solidFill>
                  <a:schemeClr val="tx1"/>
                </a:solidFill>
              </a:rPr>
              <a:t>would fail from any starting level, because the day's swing is larger than the docks</a:t>
            </a:r>
            <a:endParaRPr lang="en-US" sz="1400" dirty="0"/>
          </a:p>
        </p:txBody>
      </p:sp>
      <p:pic>
        <p:nvPicPr>
          <p:cNvPr id="7" name="one day at three stations" descr="one day at three stations">    </p:cNvPr>
          <p:cNvPicPr>
            <a:picLocks noChangeAspect="1"/>
          </p:cNvPicPr>
          <p:nvPr/>
        </p:nvPicPr>
        <p:blipFill>
          <a:blip r:embed="rId1"/>
          <a:stretch>
            <a:fillRect/>
          </a:stretch>
        </p:blipFill>
        <p:spPr>
          <a:xfrm>
            <a:off x="1517589" y="2743200"/>
            <a:ext cx="9126343" cy="3291840"/>
          </a:xfrm>
          <a:prstGeom prst="rect">
            <a:avLst/>
          </a:prstGeom>
        </p:spPr>
      </p:pic>
      <p:sp>
        <p:nvSpPr>
          <p:cNvPr id="8" name="caption"/>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Bikes docked on Tue 12 May 2026. Dashed: the station's docks. Flat at the dashes or at zero = riders turned away.</a:t>
            </a:r>
            <a:endParaRPr lang="en-US" sz="11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Each station gets a target band from its own last ten days</a:t>
            </a:r>
            <a:endParaRPr lang="en-US" sz="2800" dirty="0"/>
          </a:p>
        </p:txBody>
      </p:sp>
      <p:sp>
        <p:nvSpPr>
          <p:cNvPr id="3" name="Text 1"/>
          <p:cNvSpPr txBox="1"/>
          <p:nvPr/>
        </p:nvSpPr>
        <p:spPr>
          <a:xfrm>
            <a:off x="548640" y="1371600"/>
            <a:ext cx="5486400" cy="365760"/>
          </a:xfrm>
          <a:prstGeom prst="rect">
            <a:avLst/>
          </a:prstGeom>
          <a:noFill/>
          <a:ln/>
        </p:spPr>
        <p:txBody>
          <a:bodyPr wrap="square" lIns="0" tIns="0" rIns="0" bIns="0" rtlCol="0" anchor="ctr"/>
          <a:lstStyle/>
          <a:p>
            <a:pPr indent="0" marL="0">
              <a:buNone/>
            </a:pPr>
            <a:r>
              <a:rPr lang="en-US" sz="1600" b="1" dirty="0">
                <a:solidFill>
                  <a:schemeClr val="accent6"/>
                </a:solidFill>
              </a:rPr>
              <a:t>One station at 04:00</a:t>
            </a:r>
            <a:endParaRPr lang="en-US" sz="1600" dirty="0"/>
          </a:p>
        </p:txBody>
      </p:sp>
      <p:sp>
        <p:nvSpPr>
          <p:cNvPr id="4" name="Shape 2"/>
          <p:cNvSpPr/>
          <p:nvPr/>
        </p:nvSpPr>
        <p:spPr>
          <a:xfrm>
            <a:off x="548640" y="2148840"/>
            <a:ext cx="5852160" cy="640080"/>
          </a:xfrm>
          <a:prstGeom prst="rect">
            <a:avLst/>
          </a:prstGeom>
          <a:solidFill>
            <a:schemeClr val="bg2"/>
          </a:solidFill>
          <a:ln w="12700">
            <a:solidFill>
              <a:schemeClr val="accent5"/>
            </a:solidFill>
            <a:prstDash val="solid"/>
          </a:ln>
        </p:spPr>
      </p:sp>
      <p:sp>
        <p:nvSpPr>
          <p:cNvPr id="5" name="Shape 3"/>
          <p:cNvSpPr/>
          <p:nvPr/>
        </p:nvSpPr>
        <p:spPr>
          <a:xfrm>
            <a:off x="2743200" y="2148840"/>
            <a:ext cx="1645920" cy="640080"/>
          </a:xfrm>
          <a:prstGeom prst="rect">
            <a:avLst/>
          </a:prstGeom>
          <a:solidFill>
            <a:schemeClr val="accent1"/>
          </a:solidFill>
          <a:ln/>
        </p:spPr>
      </p:sp>
      <p:sp>
        <p:nvSpPr>
          <p:cNvPr id="6" name="Text 4"/>
          <p:cNvSpPr txBox="1"/>
          <p:nvPr/>
        </p:nvSpPr>
        <p:spPr>
          <a:xfrm>
            <a:off x="2743200" y="2148840"/>
            <a:ext cx="1645920" cy="640080"/>
          </a:xfrm>
          <a:prstGeom prst="rect">
            <a:avLst/>
          </a:prstGeom>
          <a:noFill/>
          <a:ln/>
        </p:spPr>
        <p:txBody>
          <a:bodyPr wrap="square" lIns="0" tIns="0" rIns="0" bIns="0" rtlCol="0" anchor="ctr"/>
          <a:lstStyle/>
          <a:p>
            <a:pPr algn="ctr" indent="0" marL="0">
              <a:buNone/>
            </a:pPr>
            <a:r>
              <a:rPr lang="en-US" sz="1400" b="1" dirty="0">
                <a:solidFill>
                  <a:schemeClr val="bg1"/>
                </a:solidFill>
              </a:rPr>
              <a:t>target band</a:t>
            </a:r>
            <a:endParaRPr lang="en-US" sz="1400" dirty="0"/>
          </a:p>
        </p:txBody>
      </p:sp>
      <p:sp>
        <p:nvSpPr>
          <p:cNvPr id="7" name="Text 5"/>
          <p:cNvSpPr txBox="1"/>
          <p:nvPr/>
        </p:nvSpPr>
        <p:spPr>
          <a:xfrm>
            <a:off x="548640" y="2834640"/>
            <a:ext cx="1371600" cy="274320"/>
          </a:xfrm>
          <a:prstGeom prst="rect">
            <a:avLst/>
          </a:prstGeom>
          <a:noFill/>
          <a:ln/>
        </p:spPr>
        <p:txBody>
          <a:bodyPr wrap="square" lIns="0" tIns="0" rIns="0" bIns="0" rtlCol="0" anchor="ctr"/>
          <a:lstStyle/>
          <a:p>
            <a:pPr indent="0" marL="0">
              <a:buNone/>
            </a:pPr>
            <a:r>
              <a:rPr lang="en-US" sz="1200" dirty="0">
                <a:solidFill>
                  <a:schemeClr val="accent6"/>
                </a:solidFill>
              </a:rPr>
              <a:t>0 bikes</a:t>
            </a:r>
            <a:endParaRPr lang="en-US" sz="1200" dirty="0"/>
          </a:p>
        </p:txBody>
      </p:sp>
      <p:sp>
        <p:nvSpPr>
          <p:cNvPr id="8" name="Text 6"/>
          <p:cNvSpPr txBox="1"/>
          <p:nvPr/>
        </p:nvSpPr>
        <p:spPr>
          <a:xfrm>
            <a:off x="4754880" y="2834640"/>
            <a:ext cx="1645920" cy="274320"/>
          </a:xfrm>
          <a:prstGeom prst="rect">
            <a:avLst/>
          </a:prstGeom>
          <a:noFill/>
          <a:ln/>
        </p:spPr>
        <p:txBody>
          <a:bodyPr wrap="square" lIns="0" tIns="0" rIns="0" bIns="0" rtlCol="0" anchor="ctr"/>
          <a:lstStyle/>
          <a:p>
            <a:pPr algn="r" indent="0" marL="0">
              <a:buNone/>
            </a:pPr>
            <a:r>
              <a:rPr lang="en-US" sz="1200" dirty="0">
                <a:solidFill>
                  <a:schemeClr val="accent6"/>
                </a:solidFill>
              </a:rPr>
              <a:t>all docks full</a:t>
            </a:r>
            <a:endParaRPr lang="en-US" sz="1200" dirty="0"/>
          </a:p>
        </p:txBody>
      </p:sp>
      <p:sp>
        <p:nvSpPr>
          <p:cNvPr id="9" name="Shape 7"/>
          <p:cNvSpPr/>
          <p:nvPr/>
        </p:nvSpPr>
        <p:spPr>
          <a:xfrm>
            <a:off x="548640" y="3502152"/>
            <a:ext cx="256032" cy="256032"/>
          </a:xfrm>
          <a:prstGeom prst="ellipse">
            <a:avLst/>
          </a:prstGeom>
          <a:solidFill>
            <a:schemeClr val="accent3"/>
          </a:solidFill>
          <a:ln/>
        </p:spPr>
      </p:sp>
      <p:sp>
        <p:nvSpPr>
          <p:cNvPr id="10" name="Text 8"/>
          <p:cNvSpPr txBox="1"/>
          <p:nvPr/>
        </p:nvSpPr>
        <p:spPr>
          <a:xfrm>
            <a:off x="960120" y="3429000"/>
            <a:ext cx="5394960" cy="411480"/>
          </a:xfrm>
          <a:prstGeom prst="rect">
            <a:avLst/>
          </a:prstGeom>
          <a:noFill/>
          <a:ln/>
        </p:spPr>
        <p:txBody>
          <a:bodyPr wrap="square" lIns="0" tIns="0" rIns="0" bIns="0" rtlCol="0" anchor="ctr"/>
          <a:lstStyle/>
          <a:p>
            <a:pPr indent="0" marL="0">
              <a:buNone/>
            </a:pPr>
            <a:r>
              <a:rPr lang="en-US" sz="1600" b="1" dirty="0">
                <a:solidFill>
                  <a:schemeClr val="tx1"/>
                </a:solidFill>
              </a:rPr>
              <a:t>Below the band: </a:t>
            </a:r>
            <a:pPr indent="0" marL="0">
              <a:buNone/>
            </a:pPr>
            <a:r>
              <a:rPr lang="en-US" sz="1600" dirty="0">
                <a:solidFill>
                  <a:schemeClr val="tx1"/>
                </a:solidFill>
              </a:rPr>
              <a:t>trucks add bikes up to its lower edge</a:t>
            </a:r>
            <a:endParaRPr lang="en-US" sz="1600" dirty="0"/>
          </a:p>
        </p:txBody>
      </p:sp>
      <p:sp>
        <p:nvSpPr>
          <p:cNvPr id="11" name="Shape 9"/>
          <p:cNvSpPr/>
          <p:nvPr/>
        </p:nvSpPr>
        <p:spPr>
          <a:xfrm>
            <a:off x="548640" y="4279392"/>
            <a:ext cx="256032" cy="256032"/>
          </a:xfrm>
          <a:prstGeom prst="ellipse">
            <a:avLst/>
          </a:prstGeom>
          <a:solidFill>
            <a:schemeClr val="accent1"/>
          </a:solidFill>
          <a:ln/>
        </p:spPr>
      </p:sp>
      <p:sp>
        <p:nvSpPr>
          <p:cNvPr id="12" name="Text 10"/>
          <p:cNvSpPr txBox="1"/>
          <p:nvPr/>
        </p:nvSpPr>
        <p:spPr>
          <a:xfrm>
            <a:off x="960120" y="4206240"/>
            <a:ext cx="5394960" cy="411480"/>
          </a:xfrm>
          <a:prstGeom prst="rect">
            <a:avLst/>
          </a:prstGeom>
          <a:noFill/>
          <a:ln/>
        </p:spPr>
        <p:txBody>
          <a:bodyPr wrap="square" lIns="0" tIns="0" rIns="0" bIns="0" rtlCol="0" anchor="ctr"/>
          <a:lstStyle/>
          <a:p>
            <a:pPr indent="0" marL="0">
              <a:buNone/>
            </a:pPr>
            <a:r>
              <a:rPr lang="en-US" sz="1600" b="1" dirty="0">
                <a:solidFill>
                  <a:schemeClr val="tx1"/>
                </a:solidFill>
              </a:rPr>
              <a:t>Inside the band: </a:t>
            </a:r>
            <a:pPr indent="0" marL="0">
              <a:buNone/>
            </a:pPr>
            <a:r>
              <a:rPr lang="en-US" sz="1600" dirty="0">
                <a:solidFill>
                  <a:schemeClr val="tx1"/>
                </a:solidFill>
              </a:rPr>
              <a:t>no visit</a:t>
            </a:r>
            <a:endParaRPr lang="en-US" sz="1600" dirty="0"/>
          </a:p>
        </p:txBody>
      </p:sp>
      <p:sp>
        <p:nvSpPr>
          <p:cNvPr id="13" name="Shape 11"/>
          <p:cNvSpPr/>
          <p:nvPr/>
        </p:nvSpPr>
        <p:spPr>
          <a:xfrm>
            <a:off x="548640" y="5056632"/>
            <a:ext cx="256032" cy="256032"/>
          </a:xfrm>
          <a:prstGeom prst="ellipse">
            <a:avLst/>
          </a:prstGeom>
          <a:solidFill>
            <a:schemeClr val="accent3"/>
          </a:solidFill>
          <a:ln/>
        </p:spPr>
      </p:sp>
      <p:sp>
        <p:nvSpPr>
          <p:cNvPr id="14" name="Text 12"/>
          <p:cNvSpPr txBox="1"/>
          <p:nvPr/>
        </p:nvSpPr>
        <p:spPr>
          <a:xfrm>
            <a:off x="960120" y="4983480"/>
            <a:ext cx="5394960" cy="411480"/>
          </a:xfrm>
          <a:prstGeom prst="rect">
            <a:avLst/>
          </a:prstGeom>
          <a:noFill/>
          <a:ln/>
        </p:spPr>
        <p:txBody>
          <a:bodyPr wrap="square" lIns="0" tIns="0" rIns="0" bIns="0" rtlCol="0" anchor="ctr"/>
          <a:lstStyle/>
          <a:p>
            <a:pPr indent="0" marL="0">
              <a:buNone/>
            </a:pPr>
            <a:r>
              <a:rPr lang="en-US" sz="1600" b="1" dirty="0">
                <a:solidFill>
                  <a:schemeClr val="tx1"/>
                </a:solidFill>
              </a:rPr>
              <a:t>Above the band: </a:t>
            </a:r>
            <a:pPr indent="0" marL="0">
              <a:buNone/>
            </a:pPr>
            <a:r>
              <a:rPr lang="en-US" sz="1600" dirty="0">
                <a:solidFill>
                  <a:schemeClr val="tx1"/>
                </a:solidFill>
              </a:rPr>
              <a:t>trucks take bikes down to its upper edge</a:t>
            </a:r>
            <a:endParaRPr lang="en-US" sz="1600" dirty="0"/>
          </a:p>
        </p:txBody>
      </p:sp>
      <p:sp>
        <p:nvSpPr>
          <p:cNvPr id="15" name="Text 13"/>
          <p:cNvSpPr txBox="1"/>
          <p:nvPr/>
        </p:nvSpPr>
        <p:spPr>
          <a:xfrm>
            <a:off x="548640" y="5669280"/>
            <a:ext cx="5852160" cy="594360"/>
          </a:xfrm>
          <a:prstGeom prst="rect">
            <a:avLst/>
          </a:prstGeom>
          <a:noFill/>
          <a:ln/>
        </p:spPr>
        <p:txBody>
          <a:bodyPr wrap="square" lIns="0" tIns="0" rIns="0" bIns="0" rtlCol="0" anchor="t"/>
          <a:lstStyle/>
          <a:p>
            <a:pPr indent="0" marL="0">
              <a:buNone/>
            </a:pPr>
            <a:r>
              <a:rPr lang="en-US" sz="1400" b="1" dirty="0">
                <a:solidFill>
                  <a:schemeClr val="accent4"/>
                </a:solidFill>
              </a:rPr>
              <a:t>Then we rank every possible move in the city by the shortages it prevents and do the best ones first.</a:t>
            </a:r>
            <a:endParaRPr lang="en-US" sz="1400" dirty="0"/>
          </a:p>
        </p:txBody>
      </p:sp>
      <p:sp>
        <p:nvSpPr>
          <p:cNvPr id="16" name="card"/>
          <p:cNvSpPr/>
          <p:nvPr/>
        </p:nvSpPr>
        <p:spPr>
          <a:xfrm>
            <a:off x="6858000" y="1371600"/>
            <a:ext cx="4785055" cy="4892040"/>
          </a:xfrm>
          <a:prstGeom prst="roundRect">
            <a:avLst>
              <a:gd name="adj" fmla="val 1529"/>
            </a:avLst>
          </a:prstGeom>
          <a:solidFill>
            <a:schemeClr val="bg2"/>
          </a:solidFill>
          <a:ln/>
        </p:spPr>
      </p:sp>
      <p:sp>
        <p:nvSpPr>
          <p:cNvPr id="17" name="Text 15"/>
          <p:cNvSpPr txBox="1"/>
          <p:nvPr/>
        </p:nvSpPr>
        <p:spPr>
          <a:xfrm>
            <a:off x="7132320" y="1554480"/>
            <a:ext cx="4236415" cy="365760"/>
          </a:xfrm>
          <a:prstGeom prst="rect">
            <a:avLst/>
          </a:prstGeom>
          <a:noFill/>
          <a:ln/>
        </p:spPr>
        <p:txBody>
          <a:bodyPr wrap="square" lIns="0" tIns="0" rIns="0" bIns="0" rtlCol="0" anchor="ctr"/>
          <a:lstStyle/>
          <a:p>
            <a:pPr indent="0" marL="0">
              <a:buNone/>
            </a:pPr>
            <a:r>
              <a:rPr lang="en-US" sz="1700" b="1" dirty="0">
                <a:solidFill>
                  <a:schemeClr val="tx1"/>
                </a:solidFill>
              </a:rPr>
              <a:t>How the band is built</a:t>
            </a:r>
            <a:endParaRPr lang="en-US" sz="1700" dirty="0"/>
          </a:p>
        </p:txBody>
      </p:sp>
      <p:sp>
        <p:nvSpPr>
          <p:cNvPr id="18" name="Shape 16"/>
          <p:cNvSpPr/>
          <p:nvPr/>
        </p:nvSpPr>
        <p:spPr>
          <a:xfrm>
            <a:off x="7132320" y="2103120"/>
            <a:ext cx="411480" cy="411480"/>
          </a:xfrm>
          <a:prstGeom prst="ellipse">
            <a:avLst/>
          </a:prstGeom>
          <a:solidFill>
            <a:schemeClr val="accent1"/>
          </a:solidFill>
          <a:ln/>
        </p:spPr>
      </p:sp>
      <p:sp>
        <p:nvSpPr>
          <p:cNvPr id="19" name="Text 17"/>
          <p:cNvSpPr txBox="1"/>
          <p:nvPr/>
        </p:nvSpPr>
        <p:spPr>
          <a:xfrm>
            <a:off x="7132320" y="21031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0" name="Text 18"/>
          <p:cNvSpPr txBox="1"/>
          <p:nvPr/>
        </p:nvSpPr>
        <p:spPr>
          <a:xfrm>
            <a:off x="7726680" y="2066544"/>
            <a:ext cx="3642055" cy="1188720"/>
          </a:xfrm>
          <a:prstGeom prst="rect">
            <a:avLst/>
          </a:prstGeom>
          <a:noFill/>
          <a:ln/>
        </p:spPr>
        <p:txBody>
          <a:bodyPr wrap="square" lIns="0" tIns="0" rIns="0" bIns="0" rtlCol="0" anchor="t"/>
          <a:lstStyle/>
          <a:p>
            <a:pPr indent="0" marL="0">
              <a:buNone/>
            </a:pPr>
            <a:r>
              <a:rPr lang="en-US" sz="1400" dirty="0">
                <a:solidFill>
                  <a:schemeClr val="tx1"/>
                </a:solidFill>
              </a:rPr>
              <a:t>Take the station's last 10 comparable days: workdays or weekends.</a:t>
            </a:r>
            <a:endParaRPr lang="en-US" sz="1400" dirty="0"/>
          </a:p>
        </p:txBody>
      </p:sp>
      <p:sp>
        <p:nvSpPr>
          <p:cNvPr id="21" name="Shape 19"/>
          <p:cNvSpPr/>
          <p:nvPr/>
        </p:nvSpPr>
        <p:spPr>
          <a:xfrm>
            <a:off x="7132320" y="3246120"/>
            <a:ext cx="411480" cy="411480"/>
          </a:xfrm>
          <a:prstGeom prst="ellipse">
            <a:avLst/>
          </a:prstGeom>
          <a:solidFill>
            <a:schemeClr val="accent1"/>
          </a:solidFill>
          <a:ln/>
        </p:spPr>
      </p:sp>
      <p:sp>
        <p:nvSpPr>
          <p:cNvPr id="22" name="Text 20"/>
          <p:cNvSpPr txBox="1"/>
          <p:nvPr/>
        </p:nvSpPr>
        <p:spPr>
          <a:xfrm>
            <a:off x="7132320" y="32461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3" name="Text 21"/>
          <p:cNvSpPr txBox="1"/>
          <p:nvPr/>
        </p:nvSpPr>
        <p:spPr>
          <a:xfrm>
            <a:off x="7726680" y="3209544"/>
            <a:ext cx="3642055" cy="1188720"/>
          </a:xfrm>
          <a:prstGeom prst="rect">
            <a:avLst/>
          </a:prstGeom>
          <a:noFill/>
          <a:ln/>
        </p:spPr>
        <p:txBody>
          <a:bodyPr wrap="square" lIns="0" tIns="0" rIns="0" bIns="0" rtlCol="0" anchor="t"/>
          <a:lstStyle/>
          <a:p>
            <a:pPr indent="0" marL="0">
              <a:buNone/>
            </a:pPr>
            <a:r>
              <a:rPr lang="en-US" sz="1400" dirty="0">
                <a:solidFill>
                  <a:schemeClr val="tx1"/>
                </a:solidFill>
              </a:rPr>
              <a:t>From each day keep two numbers. Need: the most it fell below its 04:00 stock. Room: its docks minus the most it rose above.</a:t>
            </a:r>
            <a:endParaRPr lang="en-US" sz="1400" dirty="0"/>
          </a:p>
        </p:txBody>
      </p:sp>
      <p:sp>
        <p:nvSpPr>
          <p:cNvPr id="24" name="Shape 22"/>
          <p:cNvSpPr/>
          <p:nvPr/>
        </p:nvSpPr>
        <p:spPr>
          <a:xfrm>
            <a:off x="7132320" y="4389120"/>
            <a:ext cx="411480" cy="411480"/>
          </a:xfrm>
          <a:prstGeom prst="ellipse">
            <a:avLst/>
          </a:prstGeom>
          <a:solidFill>
            <a:schemeClr val="accent1"/>
          </a:solidFill>
          <a:ln/>
        </p:spPr>
      </p:sp>
      <p:sp>
        <p:nvSpPr>
          <p:cNvPr id="25" name="Text 23"/>
          <p:cNvSpPr txBox="1"/>
          <p:nvPr/>
        </p:nvSpPr>
        <p:spPr>
          <a:xfrm>
            <a:off x="7132320" y="438912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6" name="Text 24"/>
          <p:cNvSpPr txBox="1"/>
          <p:nvPr/>
        </p:nvSpPr>
        <p:spPr>
          <a:xfrm>
            <a:off x="7726680" y="4352544"/>
            <a:ext cx="3642055" cy="1188720"/>
          </a:xfrm>
          <a:prstGeom prst="rect">
            <a:avLst/>
          </a:prstGeom>
          <a:noFill/>
          <a:ln/>
        </p:spPr>
        <p:txBody>
          <a:bodyPr wrap="square" lIns="0" tIns="0" rIns="0" bIns="0" rtlCol="0" anchor="t"/>
          <a:lstStyle/>
          <a:p>
            <a:pPr indent="0" marL="0">
              <a:buNone/>
            </a:pPr>
            <a:r>
              <a:rPr lang="en-US" sz="1400" dirty="0">
                <a:solidFill>
                  <a:schemeClr val="tx1"/>
                </a:solidFill>
              </a:rPr>
              <a:t>A start below the need runs empty, one above the room runs full. Count the riders lost for each start over the 10 days. The fewest sit between the 10th and 11th smallest of the 20 numbers.</a:t>
            </a:r>
            <a:endParaRPr lang="en-US" sz="1400" dirty="0"/>
          </a:p>
        </p:txBody>
      </p:sp>
      <p:sp>
        <p:nvSpPr>
          <p:cNvPr id="27" name="Text 25"/>
          <p:cNvSpPr txBox="1"/>
          <p:nvPr/>
        </p:nvSpPr>
        <p:spPr>
          <a:xfrm>
            <a:off x="7132320" y="5577840"/>
            <a:ext cx="4236415" cy="502920"/>
          </a:xfrm>
          <a:prstGeom prst="rect">
            <a:avLst/>
          </a:prstGeom>
          <a:noFill/>
          <a:ln/>
        </p:spPr>
        <p:txBody>
          <a:bodyPr wrap="square" lIns="0" tIns="0" rIns="0" bIns="0" rtlCol="0" anchor="t"/>
          <a:lstStyle/>
          <a:p>
            <a:pPr indent="0" marL="0">
              <a:buNone/>
            </a:pPr>
            <a:r>
              <a:rPr lang="en-US" sz="1100" dirty="0">
                <a:solidFill>
                  <a:schemeClr val="accent6"/>
                </a:solidFill>
              </a:rPr>
              <a:t>The overnight-stock rule of Raviv and Kolka (2013), with the station's own days in place of a demand model.</a:t>
            </a:r>
            <a:endParaRPr lang="en-US" sz="11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Weather predicts how busy tomorrow is, so it sizes the night shift</a:t>
            </a:r>
            <a:endParaRPr lang="en-US" sz="2800" dirty="0"/>
          </a:p>
        </p:txBody>
      </p:sp>
      <p:pic>
        <p:nvPicPr>
          <p:cNvPr id="3" name="predicted vs actual" descr="predicted vs actual">    </p:cNvPr>
          <p:cNvPicPr>
            <a:picLocks noChangeAspect="1"/>
          </p:cNvPicPr>
          <p:nvPr/>
        </p:nvPicPr>
        <p:blipFill>
          <a:blip r:embed="rId1"/>
          <a:stretch>
            <a:fillRect/>
          </a:stretch>
        </p:blipFill>
        <p:spPr>
          <a:xfrm>
            <a:off x="548640" y="1855504"/>
            <a:ext cx="3931920" cy="3055552"/>
          </a:xfrm>
          <a:prstGeom prst="rect">
            <a:avLst/>
          </a:prstGeom>
        </p:spPr>
      </p:pic>
      <p:pic>
        <p:nvPicPr>
          <p:cNvPr id="4" name="weather effects" descr="weather effects">    </p:cNvPr>
          <p:cNvPicPr>
            <a:picLocks noChangeAspect="1"/>
          </p:cNvPicPr>
          <p:nvPr/>
        </p:nvPicPr>
        <p:blipFill>
          <a:blip r:embed="rId2"/>
          <a:stretch>
            <a:fillRect/>
          </a:stretch>
        </p:blipFill>
        <p:spPr>
          <a:xfrm>
            <a:off x="4754880" y="1909822"/>
            <a:ext cx="4480560" cy="2946916"/>
          </a:xfrm>
          <a:prstGeom prst="rect">
            <a:avLst/>
          </a:prstGeom>
        </p:spPr>
      </p:pic>
      <p:sp>
        <p:nvSpPr>
          <p:cNvPr id="5" name="caption"/>
          <p:cNvSpPr txBox="1"/>
          <p:nvPr/>
        </p:nvSpPr>
        <p:spPr>
          <a:xfrm>
            <a:off x="548640" y="5577840"/>
            <a:ext cx="8503920" cy="320040"/>
          </a:xfrm>
          <a:prstGeom prst="rect">
            <a:avLst/>
          </a:prstGeom>
          <a:noFill/>
          <a:ln/>
        </p:spPr>
        <p:txBody>
          <a:bodyPr wrap="square" lIns="0" tIns="0" rIns="0" bIns="0" rtlCol="0" anchor="ctr"/>
          <a:lstStyle/>
          <a:p>
            <a:pPr indent="0" marL="0">
              <a:buNone/>
            </a:pPr>
            <a:r>
              <a:rPr lang="en-US" sz="1100" dirty="0">
                <a:solidFill>
                  <a:schemeClr val="accent6"/>
                </a:solidFill>
              </a:rPr>
              <a:t>Left: trips per day, test year; dashed = perfect forecast. Right: change in a day's trips, 95% intervals.</a:t>
            </a:r>
            <a:endParaRPr lang="en-US" sz="1100" dirty="0"/>
          </a:p>
        </p:txBody>
      </p:sp>
      <p:sp>
        <p:nvSpPr>
          <p:cNvPr id="6" name="stat 0.87"/>
          <p:cNvSpPr txBox="1"/>
          <p:nvPr/>
        </p:nvSpPr>
        <p:spPr>
          <a:xfrm>
            <a:off x="9326880" y="1371600"/>
            <a:ext cx="2286000" cy="609600"/>
          </a:xfrm>
          <a:prstGeom prst="rect">
            <a:avLst/>
          </a:prstGeom>
          <a:noFill/>
          <a:ln/>
        </p:spPr>
        <p:txBody>
          <a:bodyPr wrap="square" lIns="0" tIns="0" rIns="0" bIns="0" rtlCol="0" anchor="b"/>
          <a:lstStyle/>
          <a:p>
            <a:pPr indent="0" marL="0">
              <a:buNone/>
            </a:pPr>
            <a:r>
              <a:rPr lang="en-US" sz="4000" b="1" dirty="0">
                <a:solidFill>
                  <a:schemeClr val="accent1"/>
                </a:solidFill>
              </a:rPr>
              <a:t>0.87</a:t>
            </a:r>
            <a:endParaRPr lang="en-US" sz="4000" dirty="0"/>
          </a:p>
        </p:txBody>
      </p:sp>
      <p:sp>
        <p:nvSpPr>
          <p:cNvPr id="7" name="stat label"/>
          <p:cNvSpPr txBox="1"/>
          <p:nvPr/>
        </p:nvSpPr>
        <p:spPr>
          <a:xfrm>
            <a:off x="9326880" y="2026920"/>
            <a:ext cx="2286000" cy="685800"/>
          </a:xfrm>
          <a:prstGeom prst="rect">
            <a:avLst/>
          </a:prstGeom>
          <a:noFill/>
          <a:ln/>
        </p:spPr>
        <p:txBody>
          <a:bodyPr wrap="square" lIns="0" tIns="0" rIns="0" bIns="0" rtlCol="0" anchor="t"/>
          <a:lstStyle/>
          <a:p>
            <a:pPr indent="0" marL="0">
              <a:buNone/>
            </a:pPr>
            <a:r>
              <a:rPr lang="en-US" sz="1400" dirty="0">
                <a:solidFill>
                  <a:schemeClr val="tx1"/>
                </a:solidFill>
              </a:rPr>
              <a:t>R² on the test year; half of all days within 11%</a:t>
            </a:r>
            <a:endParaRPr lang="en-US" sz="1400" dirty="0"/>
          </a:p>
        </p:txBody>
      </p:sp>
      <p:sp>
        <p:nvSpPr>
          <p:cNvPr id="8" name="stat -6.6%"/>
          <p:cNvSpPr txBox="1"/>
          <p:nvPr/>
        </p:nvSpPr>
        <p:spPr>
          <a:xfrm>
            <a:off x="9326880" y="2834640"/>
            <a:ext cx="2286000" cy="609600"/>
          </a:xfrm>
          <a:prstGeom prst="rect">
            <a:avLst/>
          </a:prstGeom>
          <a:noFill/>
          <a:ln/>
        </p:spPr>
        <p:txBody>
          <a:bodyPr wrap="square" lIns="0" tIns="0" rIns="0" bIns="0" rtlCol="0" anchor="b"/>
          <a:lstStyle/>
          <a:p>
            <a:pPr indent="0" marL="0">
              <a:buNone/>
            </a:pPr>
            <a:r>
              <a:rPr lang="en-US" sz="4000" b="1" dirty="0">
                <a:solidFill>
                  <a:schemeClr val="accent3"/>
                </a:solidFill>
              </a:rPr>
              <a:t>-6.6%</a:t>
            </a:r>
            <a:endParaRPr lang="en-US" sz="4000" dirty="0"/>
          </a:p>
        </p:txBody>
      </p:sp>
      <p:sp>
        <p:nvSpPr>
          <p:cNvPr id="9" name="stat label"/>
          <p:cNvSpPr txBox="1"/>
          <p:nvPr/>
        </p:nvSpPr>
        <p:spPr>
          <a:xfrm>
            <a:off x="9326880" y="3489960"/>
            <a:ext cx="2286000" cy="685800"/>
          </a:xfrm>
          <a:prstGeom prst="rect">
            <a:avLst/>
          </a:prstGeom>
          <a:noFill/>
          <a:ln/>
        </p:spPr>
        <p:txBody>
          <a:bodyPr wrap="square" lIns="0" tIns="0" rIns="0" bIns="0" rtlCol="0" anchor="t"/>
          <a:lstStyle/>
          <a:p>
            <a:pPr indent="0" marL="0">
              <a:buNone/>
            </a:pPr>
            <a:r>
              <a:rPr lang="en-US" sz="1400" dirty="0">
                <a:solidFill>
                  <a:schemeClr val="tx1"/>
                </a:solidFill>
              </a:rPr>
              <a:t>trips for each wet hour; Christmas week -45%</a:t>
            </a:r>
            <a:endParaRPr lang="en-US" sz="1400" dirty="0"/>
          </a:p>
        </p:txBody>
      </p:sp>
      <p:sp>
        <p:nvSpPr>
          <p:cNvPr id="10" name="Text 6"/>
          <p:cNvSpPr txBox="1"/>
          <p:nvPr/>
        </p:nvSpPr>
        <p:spPr>
          <a:xfrm>
            <a:off x="9326880" y="4297680"/>
            <a:ext cx="2286000" cy="1737360"/>
          </a:xfrm>
          <a:prstGeom prst="rect">
            <a:avLst/>
          </a:prstGeom>
          <a:noFill/>
          <a:ln/>
        </p:spPr>
        <p:txBody>
          <a:bodyPr wrap="square" lIns="0" tIns="0" rIns="0" bIns="0" rtlCol="0" anchor="t"/>
          <a:lstStyle/>
          <a:p>
            <a:pPr indent="0" marL="0">
              <a:buNone/>
            </a:pPr>
            <a:r>
              <a:rPr lang="en-US" sz="1400" b="1" dirty="0">
                <a:solidFill>
                  <a:schemeClr val="tx1"/>
                </a:solidFill>
              </a:rPr>
              <a:t>Stretching station targets by the forecast made results worse, so targets stay on history.</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Ten days of history, 3,000 a night, 100 stations at 14:00</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51760"/>
                <a:gridCol w="2651760"/>
                <a:gridCol w="1463040"/>
                <a:gridCol w="4325112"/>
              </a:tblGrid>
              <a:tr h="640080">
                <a:tc>
                  <a:txBody>
                    <a:bodyPr/>
                    <a:lstStyle/>
                    <a:p>
                      <a:pPr indent="0" marL="0">
                        <a:buNone/>
                      </a:pPr>
                      <a:r>
                        <a:rPr lang="en-US" sz="1500" b="1" dirty="0">
                          <a:solidFill>
                            <a:srgbClr val="FFFFFF"/>
                          </a:solidFill>
                        </a:rPr>
                        <a:t>Setting</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500" b="1" dirty="0">
                          <a:solidFill>
                            <a:srgbClr val="FFFFFF"/>
                          </a:solidFill>
                        </a:rPr>
                        <a:t>Tried</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500" b="1" dirty="0">
                          <a:solidFill>
                            <a:srgbClr val="FFFFFF"/>
                          </a:solidFill>
                        </a:rPr>
                        <a:t>Chosen</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500" b="1" dirty="0">
                          <a:solidFill>
                            <a:srgbClr val="FFFFFF"/>
                          </a:solidFill>
                        </a:rPr>
                        <a:t>Why</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r>
              <a:tr h="640080">
                <a:tc>
                  <a:txBody>
                    <a:bodyPr/>
                    <a:lstStyle/>
                    <a:p>
                      <a:pPr indent="0" marL="0">
                        <a:buNone/>
                      </a:pPr>
                      <a:r>
                        <a:rPr lang="en-US" sz="1500" dirty="0">
                          <a:solidFill>
                            <a:schemeClr val="tx1"/>
                          </a:solidFill>
                        </a:rPr>
                        <a:t>Days of history</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5, 10, 20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10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20 days cut shortages 1% for 10% more bikes moved</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40080">
                <a:tc>
                  <a:txBody>
                    <a:bodyPr/>
                    <a:lstStyle/>
                    <a:p>
                      <a:pPr indent="0" marL="0">
                        <a:buNone/>
                      </a:pPr>
                      <a:r>
                        <a:rPr lang="en-US" sz="1500" dirty="0">
                          <a:solidFill>
                            <a:schemeClr val="tx1"/>
                          </a:solidFill>
                        </a:rPr>
                        <a:t>Stretch band by forecast</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yes, no</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no</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more shortages and more bikes moved</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40080">
                <a:tc>
                  <a:txBody>
                    <a:bodyPr/>
                    <a:lstStyle/>
                    <a:p>
                      <a:pPr indent="0" marL="0">
                        <a:buNone/>
                      </a:pPr>
                      <a:r>
                        <a:rPr lang="en-US" sz="1500" dirty="0">
                          <a:solidFill>
                            <a:schemeClr val="tx1"/>
                          </a:solidFill>
                        </a:rPr>
                        <a:t>Daytime visit</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10:00, 12:00, 14:00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14:00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fewest shortages, right before offices empty</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40080">
                <a:tc>
                  <a:txBody>
                    <a:bodyPr/>
                    <a:lstStyle/>
                    <a:p>
                      <a:pPr indent="0" marL="0">
                        <a:buNone/>
                      </a:pPr>
                      <a:r>
                        <a:rPr lang="en-US" sz="1500" dirty="0">
                          <a:solidFill>
                            <a:schemeClr val="tx1"/>
                          </a:solidFill>
                        </a:rPr>
                        <a:t>Night budget, day stations</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250 to 9,000 bikes; 25 to 400 stations</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3,000 and 100</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500" dirty="0">
                          <a:solidFill>
                            <a:schemeClr val="tx1"/>
                          </a:solidFill>
                        </a:rPr>
                        <a:t>fewest shortages without moving more than Citi Bike's 2,707 a day (Jan to Sep 2025)</a:t>
                      </a:r>
                      <a:endParaRPr lang="en-US" sz="15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bl>
          </a:graphicData>
        </a:graphic>
      </p:graphicFrame>
      <p:sp>
        <p:nvSpPr>
          <p:cNvPr id="4" name="card"/>
          <p:cNvSpPr/>
          <p:nvPr/>
        </p:nvSpPr>
        <p:spPr>
          <a:xfrm>
            <a:off x="548640" y="4892040"/>
            <a:ext cx="11094415" cy="1188720"/>
          </a:xfrm>
          <a:prstGeom prst="roundRect">
            <a:avLst>
              <a:gd name="adj" fmla="val 6154"/>
            </a:avLst>
          </a:prstGeom>
          <a:solidFill>
            <a:srgbClr val="E3ECF8"/>
          </a:solidFill>
          <a:ln/>
        </p:spPr>
      </p:sp>
      <p:sp>
        <p:nvSpPr>
          <p:cNvPr id="5" name="Text 2"/>
          <p:cNvSpPr txBox="1"/>
          <p:nvPr/>
        </p:nvSpPr>
        <p:spPr>
          <a:xfrm>
            <a:off x="822960" y="4892040"/>
            <a:ext cx="10545775" cy="1188720"/>
          </a:xfrm>
          <a:prstGeom prst="rect">
            <a:avLst/>
          </a:prstGeom>
          <a:noFill/>
          <a:ln/>
        </p:spPr>
        <p:txBody>
          <a:bodyPr wrap="square" lIns="0" tIns="0" rIns="0" bIns="0" rtlCol="0" anchor="ctr"/>
          <a:lstStyle/>
          <a:p>
            <a:pPr indent="0" marL="0">
              <a:buNone/>
            </a:pPr>
            <a:r>
              <a:rPr lang="en-US" sz="1600" b="1" dirty="0">
                <a:solidFill>
                  <a:schemeClr val="accent4"/>
                </a:solidFill>
              </a:rPr>
              <a:t>The 3,000 counts every bike loaded or unloaded. </a:t>
            </a:r>
            <a:pPr indent="0" marL="0">
              <a:buNone/>
            </a:pPr>
            <a:r>
              <a:rPr lang="en-US" sz="1600" dirty="0">
                <a:solidFill>
                  <a:schemeClr val="accent4"/>
                </a:solidFill>
              </a:rPr>
              <a:t>A bike moved is picked up once and dropped once, so the night moves about 1,900 bikes.</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62% fewer riders turned away, with 57% fewer bikes moved</a:t>
            </a:r>
            <a:endParaRPr lang="en-US" sz="2800" dirty="0"/>
          </a:p>
        </p:txBody>
      </p:sp>
      <p:pic>
        <p:nvPicPr>
          <p:cNvPr id="3" name="schedules compared" descr="schedules compared">    </p:cNvPr>
          <p:cNvPicPr>
            <a:picLocks noChangeAspect="1"/>
          </p:cNvPicPr>
          <p:nvPr/>
        </p:nvPicPr>
        <p:blipFill>
          <a:blip r:embed="rId1"/>
          <a:stretch>
            <a:fillRect/>
          </a:stretch>
        </p:blipFill>
        <p:spPr>
          <a:xfrm>
            <a:off x="548640" y="1841310"/>
            <a:ext cx="11064240" cy="3495419"/>
          </a:xfrm>
          <a:prstGeom prst="rect">
            <a:avLst/>
          </a:prstGeom>
        </p:spPr>
      </p:pic>
      <p:sp>
        <p:nvSpPr>
          <p:cNvPr id="4" name="caption"/>
          <p:cNvSpPr txBox="1"/>
          <p:nvPr/>
        </p:nvSpPr>
        <p:spPr>
          <a:xfrm>
            <a:off x="548640" y="542817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Test-year averages, 2,470 stations. Band known in advance = perfect foresight, a ceiling no real forecast reaches.</a:t>
            </a:r>
            <a:endParaRPr lang="en-US" sz="1100" dirty="0"/>
          </a:p>
        </p:txBody>
      </p:sp>
      <p:sp>
        <p:nvSpPr>
          <p:cNvPr id="5" name="Text 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600" b="1" dirty="0">
                <a:solidFill>
                  <a:schemeClr val="accent4"/>
                </a:solidFill>
              </a:rPr>
              <a:t>That is 1.5 riders turned away per 100 trips, with about as many bikes moved as Citi Bike moves today.</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A 14:00 visit is the best use of extra bikes</a:t>
            </a:r>
            <a:endParaRPr lang="en-US" sz="2800" dirty="0"/>
          </a:p>
        </p:txBody>
      </p:sp>
      <p:pic>
        <p:nvPicPr>
          <p:cNvPr id="3" name="shortages by hour" descr="shortages by hour">    </p:cNvPr>
          <p:cNvPicPr>
            <a:picLocks noChangeAspect="1"/>
          </p:cNvPicPr>
          <p:nvPr/>
        </p:nvPicPr>
        <p:blipFill>
          <a:blip r:embed="rId1"/>
          <a:stretch>
            <a:fillRect/>
          </a:stretch>
        </p:blipFill>
        <p:spPr>
          <a:xfrm>
            <a:off x="548640" y="1356997"/>
            <a:ext cx="6035040" cy="4509766"/>
          </a:xfrm>
          <a:prstGeom prst="rect">
            <a:avLst/>
          </a:prstGeom>
        </p:spPr>
      </p:pic>
      <p:sp>
        <p:nvSpPr>
          <p:cNvPr id="4" name="caption"/>
          <p:cNvSpPr txBox="1"/>
          <p:nvPr/>
        </p:nvSpPr>
        <p:spPr>
          <a:xfrm>
            <a:off x="548640" y="5912483"/>
            <a:ext cx="6035040" cy="320040"/>
          </a:xfrm>
          <a:prstGeom prst="rect">
            <a:avLst/>
          </a:prstGeom>
          <a:noFill/>
          <a:ln/>
        </p:spPr>
        <p:txBody>
          <a:bodyPr wrap="square" lIns="0" tIns="0" rIns="0" bIns="0" rtlCol="0" anchor="ctr"/>
          <a:lstStyle/>
          <a:p>
            <a:pPr indent="0" marL="0">
              <a:buNone/>
            </a:pPr>
            <a:r>
              <a:rPr lang="en-US" sz="1100" dirty="0">
                <a:solidFill>
                  <a:schemeClr val="accent6"/>
                </a:solidFill>
              </a:rPr>
              <a:t>Riders turned away per hour, test-year average.</a:t>
            </a:r>
            <a:endParaRPr lang="en-US" sz="1100" dirty="0"/>
          </a:p>
        </p:txBody>
      </p:sp>
      <p:sp>
        <p:nvSpPr>
          <p:cNvPr id="5" name="Text 2"/>
          <p:cNvSpPr txBox="1"/>
          <p:nvPr/>
        </p:nvSpPr>
        <p:spPr>
          <a:xfrm>
            <a:off x="7040880" y="1371600"/>
            <a:ext cx="4602175" cy="365760"/>
          </a:xfrm>
          <a:prstGeom prst="rect">
            <a:avLst/>
          </a:prstGeom>
          <a:noFill/>
          <a:ln/>
        </p:spPr>
        <p:txBody>
          <a:bodyPr wrap="square" lIns="0" tIns="0" rIns="0" bIns="0" rtlCol="0" anchor="ctr"/>
          <a:lstStyle/>
          <a:p>
            <a:pPr indent="0" marL="0">
              <a:buNone/>
            </a:pPr>
            <a:r>
              <a:rPr lang="en-US" sz="1600" b="1" dirty="0">
                <a:solidFill>
                  <a:schemeClr val="accent6"/>
                </a:solidFill>
              </a:rPr>
              <a:t>Shortages prevented per extra bike moved</a:t>
            </a:r>
            <a:endParaRPr lang="en-US" sz="1600" dirty="0"/>
          </a:p>
        </p:txBody>
      </p:sp>
      <p:graphicFrame>
        <p:nvGraphicFramePr>
          <p:cNvPr id="6" name="Chart 0" descr=""/>
          <p:cNvGraphicFramePr/>
          <p:nvPr/>
        </p:nvGraphicFramePr>
        <p:xfrm>
          <a:off x="7040880" y="1783080"/>
          <a:ext cx="4602175" cy="2194560"/>
        </p:xfrm>
        <a:graphic xmlns:a="http://schemas.openxmlformats.org/drawingml/2006/main">
          <a:graphicData uri="http://schemas.openxmlformats.org/drawingml/2006/chart">
            <c:chart xmlns:c="http://schemas.openxmlformats.org/drawingml/2006/chart" r:id="rId2"/>
          </a:graphicData>
        </a:graphic>
      </p:graphicFrame>
      <p:sp>
        <p:nvSpPr>
          <p:cNvPr id="7" name="stat 166"/>
          <p:cNvSpPr txBox="1"/>
          <p:nvPr/>
        </p:nvSpPr>
        <p:spPr>
          <a:xfrm>
            <a:off x="7040880" y="4206240"/>
            <a:ext cx="2194560" cy="548640"/>
          </a:xfrm>
          <a:prstGeom prst="rect">
            <a:avLst/>
          </a:prstGeom>
          <a:noFill/>
          <a:ln/>
        </p:spPr>
        <p:txBody>
          <a:bodyPr wrap="square" lIns="0" tIns="0" rIns="0" bIns="0" rtlCol="0" anchor="b"/>
          <a:lstStyle/>
          <a:p>
            <a:pPr indent="0" marL="0">
              <a:buNone/>
            </a:pPr>
            <a:r>
              <a:rPr lang="en-US" sz="3600" b="1" dirty="0">
                <a:solidFill>
                  <a:schemeClr val="accent1"/>
                </a:solidFill>
              </a:rPr>
              <a:t>166</a:t>
            </a:r>
            <a:endParaRPr lang="en-US" sz="3600" dirty="0"/>
          </a:p>
        </p:txBody>
      </p:sp>
      <p:sp>
        <p:nvSpPr>
          <p:cNvPr id="8" name="stat label"/>
          <p:cNvSpPr txBox="1"/>
          <p:nvPr/>
        </p:nvSpPr>
        <p:spPr>
          <a:xfrm>
            <a:off x="7040880" y="4800600"/>
            <a:ext cx="2194560" cy="685800"/>
          </a:xfrm>
          <a:prstGeom prst="rect">
            <a:avLst/>
          </a:prstGeom>
          <a:noFill/>
          <a:ln/>
        </p:spPr>
        <p:txBody>
          <a:bodyPr wrap="square" lIns="0" tIns="0" rIns="0" bIns="0" rtlCol="0" anchor="t"/>
          <a:lstStyle/>
          <a:p>
            <a:pPr indent="0" marL="0">
              <a:buNone/>
            </a:pPr>
            <a:r>
              <a:rPr lang="en-US" sz="1400" dirty="0">
                <a:solidFill>
                  <a:schemeClr val="tx1"/>
                </a:solidFill>
              </a:rPr>
              <a:t>fewer riders turned away a day, for 671 more bikes moved</a:t>
            </a:r>
            <a:endParaRPr lang="en-US" sz="1400" dirty="0"/>
          </a:p>
        </p:txBody>
      </p:sp>
      <p:sp>
        <p:nvSpPr>
          <p:cNvPr id="9" name="stat 196"/>
          <p:cNvSpPr txBox="1"/>
          <p:nvPr/>
        </p:nvSpPr>
        <p:spPr>
          <a:xfrm>
            <a:off x="9418320" y="4206240"/>
            <a:ext cx="2224735" cy="548640"/>
          </a:xfrm>
          <a:prstGeom prst="rect">
            <a:avLst/>
          </a:prstGeom>
          <a:noFill/>
          <a:ln/>
        </p:spPr>
        <p:txBody>
          <a:bodyPr wrap="square" lIns="0" tIns="0" rIns="0" bIns="0" rtlCol="0" anchor="b"/>
          <a:lstStyle/>
          <a:p>
            <a:pPr indent="0" marL="0">
              <a:buNone/>
            </a:pPr>
            <a:r>
              <a:rPr lang="en-US" sz="3600" b="1" dirty="0">
                <a:solidFill>
                  <a:schemeClr val="accent1"/>
                </a:solidFill>
              </a:rPr>
              <a:t>196</a:t>
            </a:r>
            <a:endParaRPr lang="en-US" sz="3600" dirty="0"/>
          </a:p>
        </p:txBody>
      </p:sp>
      <p:sp>
        <p:nvSpPr>
          <p:cNvPr id="10" name="stat label"/>
          <p:cNvSpPr txBox="1"/>
          <p:nvPr/>
        </p:nvSpPr>
        <p:spPr>
          <a:xfrm>
            <a:off x="9418320" y="4800600"/>
            <a:ext cx="2224735" cy="685800"/>
          </a:xfrm>
          <a:prstGeom prst="rect">
            <a:avLst/>
          </a:prstGeom>
          <a:noFill/>
          <a:ln/>
        </p:spPr>
        <p:txBody>
          <a:bodyPr wrap="square" lIns="0" tIns="0" rIns="0" bIns="0" rtlCol="0" anchor="t"/>
          <a:lstStyle/>
          <a:p>
            <a:pPr indent="0" marL="0">
              <a:buNone/>
            </a:pPr>
            <a:r>
              <a:rPr lang="en-US" sz="1400" dirty="0">
                <a:solidFill>
                  <a:schemeClr val="tx1"/>
                </a:solidFill>
              </a:rPr>
              <a:t>at 17:00, the worst hour; 253 without the visit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Our plan moves about as many bikes as Citi Bike does today</a:t>
            </a:r>
            <a:endParaRPr lang="en-US" sz="2800" dirty="0"/>
          </a:p>
        </p:txBody>
      </p:sp>
      <p:pic>
        <p:nvPicPr>
          <p:cNvPr id="3" name="moves vs reported" descr="moves vs reported">    </p:cNvPr>
          <p:cNvPicPr>
            <a:picLocks noChangeAspect="1"/>
          </p:cNvPicPr>
          <p:nvPr/>
        </p:nvPicPr>
        <p:blipFill>
          <a:blip r:embed="rId1"/>
          <a:stretch>
            <a:fillRect/>
          </a:stretch>
        </p:blipFill>
        <p:spPr>
          <a:xfrm>
            <a:off x="548640" y="1356997"/>
            <a:ext cx="6035040" cy="4509766"/>
          </a:xfrm>
          <a:prstGeom prst="rect">
            <a:avLst/>
          </a:prstGeom>
        </p:spPr>
      </p:pic>
      <p:sp>
        <p:nvSpPr>
          <p:cNvPr id="4" name="caption"/>
          <p:cNvSpPr txBox="1"/>
          <p:nvPr/>
        </p:nvSpPr>
        <p:spPr>
          <a:xfrm>
            <a:off x="548640" y="5912483"/>
            <a:ext cx="6035040" cy="320040"/>
          </a:xfrm>
          <a:prstGeom prst="rect">
            <a:avLst/>
          </a:prstGeom>
          <a:noFill/>
          <a:ln/>
        </p:spPr>
        <p:txBody>
          <a:bodyPr wrap="square" lIns="0" tIns="0" rIns="0" bIns="0" rtlCol="0" anchor="ctr"/>
          <a:lstStyle/>
          <a:p>
            <a:pPr indent="0" marL="0">
              <a:buNone/>
            </a:pPr>
            <a:r>
              <a:rPr lang="en-US" sz="1100" dirty="0">
                <a:solidFill>
                  <a:schemeClr val="accent6"/>
                </a:solidFill>
              </a:rPr>
              <a:t>Bikes moved per day by month. May 2026 report not posted.</a:t>
            </a:r>
            <a:endParaRPr lang="en-US" sz="1100" dirty="0"/>
          </a:p>
        </p:txBody>
      </p:sp>
      <p:sp>
        <p:nvSpPr>
          <p:cNvPr id="5" name="stat 2,572"/>
          <p:cNvSpPr txBox="1"/>
          <p:nvPr/>
        </p:nvSpPr>
        <p:spPr>
          <a:xfrm>
            <a:off x="7040880" y="1371600"/>
            <a:ext cx="4602175" cy="609600"/>
          </a:xfrm>
          <a:prstGeom prst="rect">
            <a:avLst/>
          </a:prstGeom>
          <a:noFill/>
          <a:ln/>
        </p:spPr>
        <p:txBody>
          <a:bodyPr wrap="square" lIns="0" tIns="0" rIns="0" bIns="0" rtlCol="0" anchor="b"/>
          <a:lstStyle/>
          <a:p>
            <a:pPr indent="0" marL="0">
              <a:buNone/>
            </a:pPr>
            <a:r>
              <a:rPr lang="en-US" sz="4000" b="1" dirty="0">
                <a:solidFill>
                  <a:schemeClr val="accent1"/>
                </a:solidFill>
              </a:rPr>
              <a:t>2,572</a:t>
            </a:r>
            <a:endParaRPr lang="en-US" sz="4000" dirty="0"/>
          </a:p>
        </p:txBody>
      </p:sp>
      <p:sp>
        <p:nvSpPr>
          <p:cNvPr id="6" name="stat label"/>
          <p:cNvSpPr txBox="1"/>
          <p:nvPr/>
        </p:nvSpPr>
        <p:spPr>
          <a:xfrm>
            <a:off x="7040880" y="2026920"/>
            <a:ext cx="4602175" cy="685800"/>
          </a:xfrm>
          <a:prstGeom prst="rect">
            <a:avLst/>
          </a:prstGeom>
          <a:noFill/>
          <a:ln/>
        </p:spPr>
        <p:txBody>
          <a:bodyPr wrap="square" lIns="0" tIns="0" rIns="0" bIns="0" rtlCol="0" anchor="t"/>
          <a:lstStyle/>
          <a:p>
            <a:pPr indent="0" marL="0">
              <a:buNone/>
            </a:pPr>
            <a:r>
              <a:rPr lang="en-US" sz="1400" dirty="0">
                <a:solidFill>
                  <a:schemeClr val="tx1"/>
                </a:solidFill>
              </a:rPr>
              <a:t>bikes a day simulated, against 2,514 Citi Bike reports for the same eleven months</a:t>
            </a:r>
            <a:endParaRPr lang="en-US" sz="1400" dirty="0"/>
          </a:p>
        </p:txBody>
      </p:sp>
      <p:sp>
        <p:nvSpPr>
          <p:cNvPr id="7" name="stat 0.92"/>
          <p:cNvSpPr txBox="1"/>
          <p:nvPr/>
        </p:nvSpPr>
        <p:spPr>
          <a:xfrm>
            <a:off x="7040880" y="2926080"/>
            <a:ext cx="4602175" cy="609600"/>
          </a:xfrm>
          <a:prstGeom prst="rect">
            <a:avLst/>
          </a:prstGeom>
          <a:noFill/>
          <a:ln/>
        </p:spPr>
        <p:txBody>
          <a:bodyPr wrap="square" lIns="0" tIns="0" rIns="0" bIns="0" rtlCol="0" anchor="b"/>
          <a:lstStyle/>
          <a:p>
            <a:pPr indent="0" marL="0">
              <a:buNone/>
            </a:pPr>
            <a:r>
              <a:rPr lang="en-US" sz="4000" b="1" dirty="0">
                <a:solidFill>
                  <a:schemeClr val="accent1"/>
                </a:solidFill>
              </a:rPr>
              <a:t>0.92</a:t>
            </a:r>
            <a:endParaRPr lang="en-US" sz="4000" dirty="0"/>
          </a:p>
        </p:txBody>
      </p:sp>
      <p:sp>
        <p:nvSpPr>
          <p:cNvPr id="8" name="stat label"/>
          <p:cNvSpPr txBox="1"/>
          <p:nvPr/>
        </p:nvSpPr>
        <p:spPr>
          <a:xfrm>
            <a:off x="7040880" y="3581400"/>
            <a:ext cx="4602175" cy="685800"/>
          </a:xfrm>
          <a:prstGeom prst="rect">
            <a:avLst/>
          </a:prstGeom>
          <a:noFill/>
          <a:ln/>
        </p:spPr>
        <p:txBody>
          <a:bodyPr wrap="square" lIns="0" tIns="0" rIns="0" bIns="0" rtlCol="0" anchor="t"/>
          <a:lstStyle/>
          <a:p>
            <a:pPr indent="0" marL="0">
              <a:buNone/>
            </a:pPr>
            <a:r>
              <a:rPr lang="en-US" sz="1400" dirty="0">
                <a:solidFill>
                  <a:schemeClr val="tx1"/>
                </a:solidFill>
              </a:rPr>
              <a:t>correlation across months: our moves rise and fall with Citi Bike's</a:t>
            </a:r>
            <a:endParaRPr lang="en-US" sz="1400" dirty="0"/>
          </a:p>
        </p:txBody>
      </p:sp>
      <p:sp>
        <p:nvSpPr>
          <p:cNvPr id="9" name="Text 6"/>
          <p:cNvSpPr txBox="1"/>
          <p:nvPr/>
        </p:nvSpPr>
        <p:spPr>
          <a:xfrm>
            <a:off x="7040880" y="4480560"/>
            <a:ext cx="4602175" cy="1554480"/>
          </a:xfrm>
          <a:prstGeom prst="rect">
            <a:avLst/>
          </a:prstGeom>
          <a:noFill/>
          <a:ln/>
        </p:spPr>
        <p:txBody>
          <a:bodyPr wrap="square" lIns="0" tIns="0" rIns="0" bIns="0" rtlCol="0" anchor="t"/>
          <a:lstStyle/>
          <a:p>
            <a:pPr indent="0" marL="0">
              <a:buNone/>
            </a:pPr>
            <a:r>
              <a:rPr lang="en-US" sz="1400" dirty="0">
                <a:solidFill>
                  <a:schemeClr val="tx1"/>
                </a:solidFill>
              </a:rPr>
              <a:t>Citi Bike cuts harder in winter (974 a day in February against our 1,790). Shortages drop too, from 2,730 a day in June to 250 in February, so the night budget can shrink in winter.</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Seven stations are too small for their traffic</a:t>
            </a:r>
            <a:endParaRPr lang="en-US" sz="2800" dirty="0"/>
          </a:p>
        </p:txBody>
      </p:sp>
      <p:pic>
        <p:nvPicPr>
          <p:cNvPr id="3" name="shortages left" descr="shortages left">    </p:cNvPr>
          <p:cNvPicPr>
            <a:picLocks noChangeAspect="1"/>
          </p:cNvPicPr>
          <p:nvPr/>
        </p:nvPicPr>
        <p:blipFill>
          <a:blip r:embed="rId1"/>
          <a:stretch>
            <a:fillRect/>
          </a:stretch>
        </p:blipFill>
        <p:spPr>
          <a:xfrm>
            <a:off x="813843" y="1325880"/>
            <a:ext cx="4041593" cy="4709160"/>
          </a:xfrm>
          <a:prstGeom prst="rect">
            <a:avLst/>
          </a:prstGeom>
        </p:spPr>
      </p:pic>
      <p:sp>
        <p:nvSpPr>
          <p:cNvPr id="4" name="caption"/>
          <p:cNvSpPr txBox="1"/>
          <p:nvPr/>
        </p:nvSpPr>
        <p:spPr>
          <a:xfrm>
            <a:off x="548640" y="6080760"/>
            <a:ext cx="4572000" cy="320040"/>
          </a:xfrm>
          <a:prstGeom prst="rect">
            <a:avLst/>
          </a:prstGeom>
          <a:noFill/>
          <a:ln/>
        </p:spPr>
        <p:txBody>
          <a:bodyPr wrap="square" lIns="0" tIns="0" rIns="0" bIns="0" rtlCol="0" anchor="ctr"/>
          <a:lstStyle/>
          <a:p>
            <a:pPr indent="0" marL="0">
              <a:buNone/>
            </a:pPr>
            <a:r>
              <a:rPr lang="en-US" sz="1100" dirty="0">
                <a:solidFill>
                  <a:schemeClr val="accent6"/>
                </a:solidFill>
              </a:rPr>
              <a:t>Riders turned away per day, recommended schedule.</a:t>
            </a:r>
            <a:endParaRPr lang="en-US" sz="1100" dirty="0"/>
          </a:p>
        </p:txBody>
      </p:sp>
      <p:sp>
        <p:nvSpPr>
          <p:cNvPr id="5" name="stat 442"/>
          <p:cNvSpPr txBox="1"/>
          <p:nvPr/>
        </p:nvSpPr>
        <p:spPr>
          <a:xfrm>
            <a:off x="5760720" y="1371600"/>
            <a:ext cx="5882335" cy="609600"/>
          </a:xfrm>
          <a:prstGeom prst="rect">
            <a:avLst/>
          </a:prstGeom>
          <a:noFill/>
          <a:ln/>
        </p:spPr>
        <p:txBody>
          <a:bodyPr wrap="square" lIns="0" tIns="0" rIns="0" bIns="0" rtlCol="0" anchor="b"/>
          <a:lstStyle/>
          <a:p>
            <a:pPr indent="0" marL="0">
              <a:buNone/>
            </a:pPr>
            <a:r>
              <a:rPr lang="en-US" sz="4000" b="1" dirty="0">
                <a:solidFill>
                  <a:schemeClr val="accent3"/>
                </a:solidFill>
              </a:rPr>
              <a:t>442</a:t>
            </a:r>
            <a:endParaRPr lang="en-US" sz="4000" dirty="0"/>
          </a:p>
        </p:txBody>
      </p:sp>
      <p:sp>
        <p:nvSpPr>
          <p:cNvPr id="6" name="stat label"/>
          <p:cNvSpPr txBox="1"/>
          <p:nvPr/>
        </p:nvSpPr>
        <p:spPr>
          <a:xfrm>
            <a:off x="5760720" y="2026920"/>
            <a:ext cx="5882335" cy="685800"/>
          </a:xfrm>
          <a:prstGeom prst="rect">
            <a:avLst/>
          </a:prstGeom>
          <a:noFill/>
          <a:ln/>
        </p:spPr>
        <p:txBody>
          <a:bodyPr wrap="square" lIns="0" tIns="0" rIns="0" bIns="0" rtlCol="0" anchor="t"/>
          <a:lstStyle/>
          <a:p>
            <a:pPr indent="0" marL="0">
              <a:buNone/>
            </a:pPr>
            <a:r>
              <a:rPr lang="en-US" sz="1400" dirty="0">
                <a:solidFill>
                  <a:schemeClr val="tx1"/>
                </a:solidFill>
              </a:rPr>
              <a:t>riders a day still turned away at seven stations: a quarter of what is left</a:t>
            </a:r>
            <a:endParaRPr lang="en-US" sz="1400" dirty="0"/>
          </a:p>
        </p:txBody>
      </p:sp>
      <p:sp>
        <p:nvSpPr>
          <p:cNvPr id="7" name="Text 4"/>
          <p:cNvSpPr txBox="1"/>
          <p:nvPr/>
        </p:nvSpPr>
        <p:spPr>
          <a:xfrm>
            <a:off x="5760720" y="2880360"/>
            <a:ext cx="5882335" cy="2377440"/>
          </a:xfrm>
          <a:prstGeom prst="rect">
            <a:avLst/>
          </a:prstGeom>
          <a:noFill/>
          <a:ln/>
        </p:spPr>
        <p:txBody>
          <a:bodyPr wrap="square" lIns="0" tIns="0" rIns="0" bIns="0" rtlCol="0" anchor="t"/>
          <a:lstStyle/>
          <a:p>
            <a:pPr indent="0" marL="0">
              <a:spcAft>
                <a:spcPts val="300"/>
              </a:spcAft>
              <a:buNone/>
            </a:pPr>
            <a:r>
              <a:rPr lang="en-US" sz="1400" dirty="0">
                <a:solidFill>
                  <a:schemeClr val="tx1"/>
                </a:solidFill>
              </a:rPr>
              <a:t>1.  North Moore St &amp; Greenwich St (Tribeca)</a:t>
            </a:r>
            <a:endParaRPr lang="en-US" sz="1400" dirty="0"/>
          </a:p>
          <a:p>
            <a:pPr indent="0" marL="0">
              <a:spcAft>
                <a:spcPts val="300"/>
              </a:spcAft>
              <a:buNone/>
            </a:pPr>
            <a:r>
              <a:rPr lang="en-US" sz="1400" dirty="0">
                <a:solidFill>
                  <a:schemeClr val="tx1"/>
                </a:solidFill>
              </a:rPr>
              <a:t>2.  Greenwich St &amp; Hubert St (Tribeca)</a:t>
            </a:r>
            <a:endParaRPr lang="en-US" sz="1400" dirty="0"/>
          </a:p>
          <a:p>
            <a:pPr indent="0" marL="0">
              <a:spcAft>
                <a:spcPts val="300"/>
              </a:spcAft>
              <a:buNone/>
            </a:pPr>
            <a:r>
              <a:rPr lang="en-US" sz="1400" dirty="0">
                <a:solidFill>
                  <a:schemeClr val="tx1"/>
                </a:solidFill>
              </a:rPr>
              <a:t>3.  Dock 72 Way &amp; Market St (Navy Yard)</a:t>
            </a:r>
            <a:endParaRPr lang="en-US" sz="1400" dirty="0"/>
          </a:p>
          <a:p>
            <a:pPr indent="0" marL="0">
              <a:spcAft>
                <a:spcPts val="300"/>
              </a:spcAft>
              <a:buNone/>
            </a:pPr>
            <a:r>
              <a:rPr lang="en-US" sz="1400" dirty="0">
                <a:solidFill>
                  <a:schemeClr val="tx1"/>
                </a:solidFill>
              </a:rPr>
              <a:t>4.  9 Ave &amp; W 33 St (Penn Station)</a:t>
            </a:r>
            <a:endParaRPr lang="en-US" sz="1400" dirty="0"/>
          </a:p>
          <a:p>
            <a:pPr indent="0" marL="0">
              <a:spcAft>
                <a:spcPts val="300"/>
              </a:spcAft>
              <a:buNone/>
            </a:pPr>
            <a:r>
              <a:rPr lang="en-US" sz="1400" dirty="0">
                <a:solidFill>
                  <a:schemeClr val="tx1"/>
                </a:solidFill>
              </a:rPr>
              <a:t>5.  1 Ave &amp; E 68 St</a:t>
            </a:r>
            <a:endParaRPr lang="en-US" sz="1400" dirty="0"/>
          </a:p>
          <a:p>
            <a:pPr indent="0" marL="0">
              <a:spcAft>
                <a:spcPts val="300"/>
              </a:spcAft>
              <a:buNone/>
            </a:pPr>
            <a:r>
              <a:rPr lang="en-US" sz="1400" dirty="0">
                <a:solidFill>
                  <a:schemeClr val="tx1"/>
                </a:solidFill>
              </a:rPr>
              <a:t>6.  E 47 St &amp; Park Ave</a:t>
            </a:r>
            <a:endParaRPr lang="en-US" sz="1400" dirty="0"/>
          </a:p>
          <a:p>
            <a:pPr indent="0" marL="0">
              <a:spcAft>
                <a:spcPts val="300"/>
              </a:spcAft>
              <a:buNone/>
            </a:pPr>
            <a:r>
              <a:rPr lang="en-US" sz="1400" dirty="0">
                <a:solidFill>
                  <a:schemeClr val="tx1"/>
                </a:solidFill>
              </a:rPr>
              <a:t>7.  E 50 St &amp; Park Ave</a:t>
            </a:r>
            <a:endParaRPr lang="en-US" sz="1400" dirty="0"/>
          </a:p>
        </p:txBody>
      </p:sp>
      <p:sp>
        <p:nvSpPr>
          <p:cNvPr id="8" name="Text 5"/>
          <p:cNvSpPr txBox="1"/>
          <p:nvPr/>
        </p:nvSpPr>
        <p:spPr>
          <a:xfrm>
            <a:off x="5760720" y="5394960"/>
            <a:ext cx="5882335" cy="731520"/>
          </a:xfrm>
          <a:prstGeom prst="rect">
            <a:avLst/>
          </a:prstGeom>
          <a:noFill/>
          <a:ln/>
        </p:spPr>
        <p:txBody>
          <a:bodyPr wrap="square" lIns="0" tIns="0" rIns="0" bIns="0" rtlCol="0" anchor="t"/>
          <a:lstStyle/>
          <a:p>
            <a:pPr indent="0" marL="0">
              <a:buNone/>
            </a:pPr>
            <a:r>
              <a:rPr lang="en-US" sz="1500" b="1" dirty="0">
                <a:solidFill>
                  <a:schemeClr val="tx1"/>
                </a:solidFill>
              </a:rPr>
              <a:t>On a normal workday each swings by more than it has docks. They need more docks or a valet.</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What the public data cannot see</a:t>
            </a:r>
            <a:endParaRPr lang="en-US" sz="2800" dirty="0"/>
          </a:p>
        </p:txBody>
      </p:sp>
      <p:sp>
        <p:nvSpPr>
          <p:cNvPr id="3" name="card"/>
          <p:cNvSpPr/>
          <p:nvPr/>
        </p:nvSpPr>
        <p:spPr>
          <a:xfrm>
            <a:off x="548640" y="1371600"/>
            <a:ext cx="5364328" cy="1783080"/>
          </a:xfrm>
          <a:prstGeom prst="roundRect">
            <a:avLst>
              <a:gd name="adj" fmla="val 4103"/>
            </a:avLst>
          </a:prstGeom>
          <a:solidFill>
            <a:schemeClr val="bg2"/>
          </a:solidFill>
          <a:ln/>
        </p:spPr>
      </p:sp>
      <p:sp>
        <p:nvSpPr>
          <p:cNvPr id="4" name="Text 2"/>
          <p:cNvSpPr txBox="1"/>
          <p:nvPr/>
        </p:nvSpPr>
        <p:spPr>
          <a:xfrm>
            <a:off x="777240" y="15544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1</a:t>
            </a:r>
            <a:endParaRPr lang="en-US" sz="2600" dirty="0"/>
          </a:p>
        </p:txBody>
      </p:sp>
      <p:sp>
        <p:nvSpPr>
          <p:cNvPr id="5" name="Text 3"/>
          <p:cNvSpPr txBox="1"/>
          <p:nvPr/>
        </p:nvSpPr>
        <p:spPr>
          <a:xfrm>
            <a:off x="1325880" y="15727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Riders who give up leave no record</a:t>
            </a:r>
            <a:endParaRPr lang="en-US" sz="1700" dirty="0"/>
          </a:p>
        </p:txBody>
      </p:sp>
      <p:sp>
        <p:nvSpPr>
          <p:cNvPr id="6" name="Text 4"/>
          <p:cNvSpPr txBox="1"/>
          <p:nvPr/>
        </p:nvSpPr>
        <p:spPr>
          <a:xfrm>
            <a:off x="1325880" y="2029968"/>
            <a:ext cx="4358488" cy="1005840"/>
          </a:xfrm>
          <a:prstGeom prst="rect">
            <a:avLst/>
          </a:prstGeom>
          <a:noFill/>
          <a:ln/>
        </p:spPr>
        <p:txBody>
          <a:bodyPr wrap="square" lIns="0" tIns="0" rIns="0" bIns="0" rtlCol="0" anchor="t"/>
          <a:lstStyle/>
          <a:p>
            <a:pPr indent="0" marL="0">
              <a:buNone/>
            </a:pPr>
            <a:r>
              <a:rPr lang="en-US" sz="1400" dirty="0">
                <a:solidFill>
                  <a:schemeClr val="tx1"/>
                </a:solidFill>
              </a:rPr>
              <a:t>We undercount demand at stations that are often empty, so the real shortages are higher than ours. Every schedule sees the same trips, and the ranking still holds.</a:t>
            </a:r>
            <a:endParaRPr lang="en-US" sz="1400" dirty="0"/>
          </a:p>
        </p:txBody>
      </p:sp>
      <p:sp>
        <p:nvSpPr>
          <p:cNvPr id="7" name="card"/>
          <p:cNvSpPr/>
          <p:nvPr/>
        </p:nvSpPr>
        <p:spPr>
          <a:xfrm>
            <a:off x="6278728" y="1371600"/>
            <a:ext cx="5364328" cy="1783080"/>
          </a:xfrm>
          <a:prstGeom prst="roundRect">
            <a:avLst>
              <a:gd name="adj" fmla="val 4103"/>
            </a:avLst>
          </a:prstGeom>
          <a:solidFill>
            <a:schemeClr val="bg2"/>
          </a:solidFill>
          <a:ln/>
        </p:spPr>
      </p:sp>
      <p:sp>
        <p:nvSpPr>
          <p:cNvPr id="8" name="Text 6"/>
          <p:cNvSpPr txBox="1"/>
          <p:nvPr/>
        </p:nvSpPr>
        <p:spPr>
          <a:xfrm>
            <a:off x="6507328" y="15544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2</a:t>
            </a:r>
            <a:endParaRPr lang="en-US" sz="2600" dirty="0"/>
          </a:p>
        </p:txBody>
      </p:sp>
      <p:sp>
        <p:nvSpPr>
          <p:cNvPr id="9" name="Text 7"/>
          <p:cNvSpPr txBox="1"/>
          <p:nvPr/>
        </p:nvSpPr>
        <p:spPr>
          <a:xfrm>
            <a:off x="7055968" y="15727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Stock is never measured</a:t>
            </a:r>
            <a:endParaRPr lang="en-US" sz="1700" dirty="0"/>
          </a:p>
        </p:txBody>
      </p:sp>
      <p:sp>
        <p:nvSpPr>
          <p:cNvPr id="10" name="Text 8"/>
          <p:cNvSpPr txBox="1"/>
          <p:nvPr/>
        </p:nvSpPr>
        <p:spPr>
          <a:xfrm>
            <a:off x="7055968" y="2029968"/>
            <a:ext cx="4358488" cy="1005840"/>
          </a:xfrm>
          <a:prstGeom prst="rect">
            <a:avLst/>
          </a:prstGeom>
          <a:noFill/>
          <a:ln/>
        </p:spPr>
        <p:txBody>
          <a:bodyPr wrap="square" lIns="0" tIns="0" rIns="0" bIns="0" rtlCol="0" anchor="t"/>
          <a:lstStyle/>
          <a:p>
            <a:pPr indent="0" marL="0">
              <a:buNone/>
            </a:pPr>
            <a:r>
              <a:rPr lang="en-US" sz="1400" dirty="0">
                <a:solidFill>
                  <a:schemeClr val="tx1"/>
                </a:solidFill>
              </a:rPr>
              <a:t>We work it out from trips in 5-minute steps. Departures count before arrivals in each step, which adds a few shortages at the busiest stations.</a:t>
            </a:r>
            <a:endParaRPr lang="en-US" sz="1400" dirty="0"/>
          </a:p>
        </p:txBody>
      </p:sp>
      <p:sp>
        <p:nvSpPr>
          <p:cNvPr id="11" name="card"/>
          <p:cNvSpPr/>
          <p:nvPr/>
        </p:nvSpPr>
        <p:spPr>
          <a:xfrm>
            <a:off x="548640" y="3429000"/>
            <a:ext cx="5364328" cy="1783080"/>
          </a:xfrm>
          <a:prstGeom prst="roundRect">
            <a:avLst>
              <a:gd name="adj" fmla="val 4103"/>
            </a:avLst>
          </a:prstGeom>
          <a:solidFill>
            <a:schemeClr val="bg2"/>
          </a:solidFill>
          <a:ln/>
        </p:spPr>
      </p:sp>
      <p:sp>
        <p:nvSpPr>
          <p:cNvPr id="12" name="Text 10"/>
          <p:cNvSpPr txBox="1"/>
          <p:nvPr/>
        </p:nvSpPr>
        <p:spPr>
          <a:xfrm>
            <a:off x="777240" y="36118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3</a:t>
            </a:r>
            <a:endParaRPr lang="en-US" sz="2600" dirty="0"/>
          </a:p>
        </p:txBody>
      </p:sp>
      <p:sp>
        <p:nvSpPr>
          <p:cNvPr id="13" name="Text 11"/>
          <p:cNvSpPr txBox="1"/>
          <p:nvPr/>
        </p:nvSpPr>
        <p:spPr>
          <a:xfrm>
            <a:off x="1325880" y="36301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Citi Bike's own plan is not public</a:t>
            </a:r>
            <a:endParaRPr lang="en-US" sz="1700" dirty="0"/>
          </a:p>
        </p:txBody>
      </p:sp>
      <p:sp>
        <p:nvSpPr>
          <p:cNvPr id="14" name="Text 12"/>
          <p:cNvSpPr txBox="1"/>
          <p:nvPr/>
        </p:nvSpPr>
        <p:spPr>
          <a:xfrm>
            <a:off x="1325880" y="4087368"/>
            <a:ext cx="4358488" cy="1005840"/>
          </a:xfrm>
          <a:prstGeom prst="rect">
            <a:avLst/>
          </a:prstGeom>
          <a:noFill/>
          <a:ln/>
        </p:spPr>
        <p:txBody>
          <a:bodyPr wrap="square" lIns="0" tIns="0" rIns="0" bIns="0" rtlCol="0" anchor="t"/>
          <a:lstStyle/>
          <a:p>
            <a:pPr indent="0" marL="0">
              <a:buNone/>
            </a:pPr>
            <a:r>
              <a:rPr lang="en-US" sz="1400" dirty="0">
                <a:solidFill>
                  <a:schemeClr val="tx1"/>
                </a:solidFill>
              </a:rPr>
              <a:t>We compare with two simple rules and check our workload against its monthly reports.</a:t>
            </a:r>
            <a:endParaRPr lang="en-US" sz="1400" dirty="0"/>
          </a:p>
        </p:txBody>
      </p:sp>
      <p:sp>
        <p:nvSpPr>
          <p:cNvPr id="15" name="card"/>
          <p:cNvSpPr/>
          <p:nvPr/>
        </p:nvSpPr>
        <p:spPr>
          <a:xfrm>
            <a:off x="6278728" y="3429000"/>
            <a:ext cx="5364328" cy="1783080"/>
          </a:xfrm>
          <a:prstGeom prst="roundRect">
            <a:avLst>
              <a:gd name="adj" fmla="val 4103"/>
            </a:avLst>
          </a:prstGeom>
          <a:solidFill>
            <a:schemeClr val="bg2"/>
          </a:solidFill>
          <a:ln/>
        </p:spPr>
      </p:sp>
      <p:sp>
        <p:nvSpPr>
          <p:cNvPr id="16" name="Text 14"/>
          <p:cNvSpPr txBox="1"/>
          <p:nvPr/>
        </p:nvSpPr>
        <p:spPr>
          <a:xfrm>
            <a:off x="6507328" y="3611880"/>
            <a:ext cx="457200" cy="457200"/>
          </a:xfrm>
          <a:prstGeom prst="rect">
            <a:avLst/>
          </a:prstGeom>
          <a:noFill/>
          <a:ln/>
        </p:spPr>
        <p:txBody>
          <a:bodyPr wrap="square" lIns="0" tIns="0" rIns="0" bIns="0" rtlCol="0" anchor="ctr"/>
          <a:lstStyle/>
          <a:p>
            <a:pPr indent="0" marL="0">
              <a:buNone/>
            </a:pPr>
            <a:r>
              <a:rPr lang="en-US" sz="2600" b="1" dirty="0">
                <a:solidFill>
                  <a:schemeClr val="accent1"/>
                </a:solidFill>
              </a:rPr>
              <a:t>4</a:t>
            </a:r>
            <a:endParaRPr lang="en-US" sz="2600" dirty="0"/>
          </a:p>
        </p:txBody>
      </p:sp>
      <p:sp>
        <p:nvSpPr>
          <p:cNvPr id="17" name="Text 15"/>
          <p:cNvSpPr txBox="1"/>
          <p:nvPr/>
        </p:nvSpPr>
        <p:spPr>
          <a:xfrm>
            <a:off x="7055968" y="3630168"/>
            <a:ext cx="4358488" cy="411480"/>
          </a:xfrm>
          <a:prstGeom prst="rect">
            <a:avLst/>
          </a:prstGeom>
          <a:noFill/>
          <a:ln/>
        </p:spPr>
        <p:txBody>
          <a:bodyPr wrap="square" lIns="0" tIns="0" rIns="0" bIns="0" rtlCol="0" anchor="ctr"/>
          <a:lstStyle/>
          <a:p>
            <a:pPr indent="0" marL="0">
              <a:buNone/>
            </a:pPr>
            <a:r>
              <a:rPr lang="en-US" sz="1700" b="1" dirty="0">
                <a:solidFill>
                  <a:schemeClr val="tx1"/>
                </a:solidFill>
              </a:rPr>
              <a:t>No costs or routes</a:t>
            </a:r>
            <a:endParaRPr lang="en-US" sz="1700" dirty="0"/>
          </a:p>
        </p:txBody>
      </p:sp>
      <p:sp>
        <p:nvSpPr>
          <p:cNvPr id="18" name="Text 16"/>
          <p:cNvSpPr txBox="1"/>
          <p:nvPr/>
        </p:nvSpPr>
        <p:spPr>
          <a:xfrm>
            <a:off x="7055968" y="4087368"/>
            <a:ext cx="4358488" cy="1005840"/>
          </a:xfrm>
          <a:prstGeom prst="rect">
            <a:avLst/>
          </a:prstGeom>
          <a:noFill/>
          <a:ln/>
        </p:spPr>
        <p:txBody>
          <a:bodyPr wrap="square" lIns="0" tIns="0" rIns="0" bIns="0" rtlCol="0" anchor="t"/>
          <a:lstStyle/>
          <a:p>
            <a:pPr indent="0" marL="0">
              <a:buNone/>
            </a:pPr>
            <a:r>
              <a:rPr lang="en-US" sz="1400" dirty="0">
                <a:solidFill>
                  <a:schemeClr val="tx1"/>
                </a:solidFill>
              </a:rPr>
              <a:t>There is no public cost per bike, and we don't plan van routes. Dock counts come from one day in Oct 2026, and the 81 stations without them are left out.</a:t>
            </a:r>
            <a:endParaRPr lang="en-US" sz="1400" dirty="0"/>
          </a:p>
        </p:txBody>
      </p:sp>
      <p:sp>
        <p:nvSpPr>
          <p:cNvPr id="19" name="Text 17"/>
          <p:cNvSpPr txBox="1"/>
          <p:nvPr/>
        </p:nvSpPr>
        <p:spPr>
          <a:xfrm>
            <a:off x="548640" y="5440680"/>
            <a:ext cx="11094415" cy="777240"/>
          </a:xfrm>
          <a:prstGeom prst="rect">
            <a:avLst/>
          </a:prstGeom>
          <a:noFill/>
          <a:ln/>
        </p:spPr>
        <p:txBody>
          <a:bodyPr wrap="square" lIns="0" tIns="0" rIns="0" bIns="0" rtlCol="0" anchor="t"/>
          <a:lstStyle/>
          <a:p>
            <a:pPr indent="0" marL="0">
              <a:buNone/>
            </a:pPr>
            <a:r>
              <a:rPr lang="en-US" sz="1500" b="1" dirty="0">
                <a:solidFill>
                  <a:schemeClr val="accent4"/>
                </a:solidFill>
              </a:rPr>
              <a:t>Where the next gain is: </a:t>
            </a:r>
            <a:pPr indent="0" marL="0">
              <a:buNone/>
            </a:pPr>
            <a:r>
              <a:rPr lang="en-US" sz="1500" dirty="0">
                <a:solidFill>
                  <a:schemeClr val="accent4"/>
                </a:solidFill>
              </a:rPr>
              <a:t>with perfect foresight the same rule turns away 869 riders a day, against our 1,779. Better station forecasts, from events, school calendars or subway disruptions, could close part of that gap.</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bg1"/>
                </a:solidFill>
              </a:rPr>
              <a:t>Five changes, biggest effect first</a:t>
            </a:r>
            <a:endParaRPr lang="en-US" sz="2800" dirty="0"/>
          </a:p>
        </p:txBody>
      </p:sp>
      <p:sp>
        <p:nvSpPr>
          <p:cNvPr id="3" name="Shape 1"/>
          <p:cNvSpPr/>
          <p:nvPr/>
        </p:nvSpPr>
        <p:spPr>
          <a:xfrm>
            <a:off x="548640" y="1371600"/>
            <a:ext cx="11094415" cy="731520"/>
          </a:xfrm>
          <a:prstGeom prst="roundRect">
            <a:avLst>
              <a:gd name="adj" fmla="val 7500"/>
            </a:avLst>
          </a:prstGeom>
          <a:solidFill>
            <a:srgbClr val="22344F"/>
          </a:solidFill>
          <a:ln/>
        </p:spPr>
      </p:sp>
      <p:sp>
        <p:nvSpPr>
          <p:cNvPr id="4" name="Text 2"/>
          <p:cNvSpPr txBox="1"/>
          <p:nvPr/>
        </p:nvSpPr>
        <p:spPr>
          <a:xfrm>
            <a:off x="731520" y="137160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1</a:t>
            </a:r>
            <a:endParaRPr lang="en-US" sz="2400" dirty="0"/>
          </a:p>
        </p:txBody>
      </p:sp>
      <p:sp>
        <p:nvSpPr>
          <p:cNvPr id="5" name="Text 3"/>
          <p:cNvSpPr txBox="1"/>
          <p:nvPr/>
        </p:nvSpPr>
        <p:spPr>
          <a:xfrm>
            <a:off x="1280160" y="137160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Replace the half-full reset with a target band per station</a:t>
            </a:r>
            <a:endParaRPr lang="en-US" sz="1700" dirty="0"/>
          </a:p>
        </p:txBody>
      </p:sp>
      <p:sp>
        <p:nvSpPr>
          <p:cNvPr id="6" name="Text 4"/>
          <p:cNvSpPr txBox="1"/>
          <p:nvPr/>
        </p:nvSpPr>
        <p:spPr>
          <a:xfrm>
            <a:off x="7406640" y="1371600"/>
            <a:ext cx="4023360" cy="731520"/>
          </a:xfrm>
          <a:prstGeom prst="rect">
            <a:avLst/>
          </a:prstGeom>
          <a:noFill/>
          <a:ln/>
        </p:spPr>
        <p:txBody>
          <a:bodyPr wrap="square" lIns="0" tIns="0" rIns="0" bIns="0" rtlCol="0" anchor="ctr"/>
          <a:lstStyle/>
          <a:p>
            <a:pPr indent="0" marL="0">
              <a:buNone/>
            </a:pPr>
            <a:r>
              <a:rPr lang="en-US" sz="1400" dirty="0">
                <a:solidFill>
                  <a:srgbClr val="C9D3E3"/>
                </a:solidFill>
              </a:rPr>
              <a:t>2,700 fewer riders turned away, 2,552 fewer bikes moved</a:t>
            </a:r>
            <a:endParaRPr lang="en-US" sz="1400" dirty="0"/>
          </a:p>
        </p:txBody>
      </p:sp>
      <p:sp>
        <p:nvSpPr>
          <p:cNvPr id="7" name="Shape 5"/>
          <p:cNvSpPr/>
          <p:nvPr/>
        </p:nvSpPr>
        <p:spPr>
          <a:xfrm>
            <a:off x="548640" y="2240280"/>
            <a:ext cx="11094415" cy="731520"/>
          </a:xfrm>
          <a:prstGeom prst="roundRect">
            <a:avLst>
              <a:gd name="adj" fmla="val 7500"/>
            </a:avLst>
          </a:prstGeom>
          <a:solidFill>
            <a:srgbClr val="22344F"/>
          </a:solidFill>
          <a:ln/>
        </p:spPr>
      </p:sp>
      <p:sp>
        <p:nvSpPr>
          <p:cNvPr id="8" name="Text 6"/>
          <p:cNvSpPr txBox="1"/>
          <p:nvPr/>
        </p:nvSpPr>
        <p:spPr>
          <a:xfrm>
            <a:off x="731520" y="224028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2</a:t>
            </a:r>
            <a:endParaRPr lang="en-US" sz="2400" dirty="0"/>
          </a:p>
        </p:txBody>
      </p:sp>
      <p:sp>
        <p:nvSpPr>
          <p:cNvPr id="9" name="Text 7"/>
          <p:cNvSpPr txBox="1"/>
          <p:nvPr/>
        </p:nvSpPr>
        <p:spPr>
          <a:xfrm>
            <a:off x="1280160" y="224028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Treat the seven high-swing stations as a capacity problem</a:t>
            </a:r>
            <a:endParaRPr lang="en-US" sz="1700" dirty="0"/>
          </a:p>
        </p:txBody>
      </p:sp>
      <p:sp>
        <p:nvSpPr>
          <p:cNvPr id="10" name="Text 8"/>
          <p:cNvSpPr txBox="1"/>
          <p:nvPr/>
        </p:nvSpPr>
        <p:spPr>
          <a:xfrm>
            <a:off x="7406640" y="2240280"/>
            <a:ext cx="4023360" cy="731520"/>
          </a:xfrm>
          <a:prstGeom prst="rect">
            <a:avLst/>
          </a:prstGeom>
          <a:noFill/>
          <a:ln/>
        </p:spPr>
        <p:txBody>
          <a:bodyPr wrap="square" lIns="0" tIns="0" rIns="0" bIns="0" rtlCol="0" anchor="ctr"/>
          <a:lstStyle/>
          <a:p>
            <a:pPr indent="0" marL="0">
              <a:buNone/>
            </a:pPr>
            <a:r>
              <a:rPr lang="en-US" sz="1400" dirty="0">
                <a:solidFill>
                  <a:srgbClr val="C9D3E3"/>
                </a:solidFill>
              </a:rPr>
              <a:t>442 riders a day: add docks or valets</a:t>
            </a:r>
            <a:endParaRPr lang="en-US" sz="1400" dirty="0"/>
          </a:p>
        </p:txBody>
      </p:sp>
      <p:sp>
        <p:nvSpPr>
          <p:cNvPr id="11" name="Shape 9"/>
          <p:cNvSpPr/>
          <p:nvPr/>
        </p:nvSpPr>
        <p:spPr>
          <a:xfrm>
            <a:off x="548640" y="3108960"/>
            <a:ext cx="11094415" cy="731520"/>
          </a:xfrm>
          <a:prstGeom prst="roundRect">
            <a:avLst>
              <a:gd name="adj" fmla="val 7500"/>
            </a:avLst>
          </a:prstGeom>
          <a:solidFill>
            <a:srgbClr val="22344F"/>
          </a:solidFill>
          <a:ln/>
        </p:spPr>
      </p:sp>
      <p:sp>
        <p:nvSpPr>
          <p:cNvPr id="12" name="Text 10"/>
          <p:cNvSpPr txBox="1"/>
          <p:nvPr/>
        </p:nvSpPr>
        <p:spPr>
          <a:xfrm>
            <a:off x="731520" y="310896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3</a:t>
            </a:r>
            <a:endParaRPr lang="en-US" sz="2400" dirty="0"/>
          </a:p>
        </p:txBody>
      </p:sp>
      <p:sp>
        <p:nvSpPr>
          <p:cNvPr id="13" name="Text 11"/>
          <p:cNvSpPr txBox="1"/>
          <p:nvPr/>
        </p:nvSpPr>
        <p:spPr>
          <a:xfrm>
            <a:off x="1280160" y="310896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Send vans to the 100 neediest stations at 14:00</a:t>
            </a:r>
            <a:endParaRPr lang="en-US" sz="1700" dirty="0"/>
          </a:p>
        </p:txBody>
      </p:sp>
      <p:sp>
        <p:nvSpPr>
          <p:cNvPr id="14" name="Text 12"/>
          <p:cNvSpPr txBox="1"/>
          <p:nvPr/>
        </p:nvSpPr>
        <p:spPr>
          <a:xfrm>
            <a:off x="7406640" y="3108960"/>
            <a:ext cx="4023360" cy="731520"/>
          </a:xfrm>
          <a:prstGeom prst="rect">
            <a:avLst/>
          </a:prstGeom>
          <a:noFill/>
          <a:ln/>
        </p:spPr>
        <p:txBody>
          <a:bodyPr wrap="square" lIns="0" tIns="0" rIns="0" bIns="0" rtlCol="0" anchor="ctr"/>
          <a:lstStyle/>
          <a:p>
            <a:pPr indent="0" marL="0">
              <a:buNone/>
            </a:pPr>
            <a:r>
              <a:rPr lang="en-US" sz="1400" dirty="0">
                <a:solidFill>
                  <a:srgbClr val="C9D3E3"/>
                </a:solidFill>
              </a:rPr>
              <a:t>166 fewer shortages for 671 bikes, 0.25 per bike</a:t>
            </a:r>
            <a:endParaRPr lang="en-US" sz="1400" dirty="0"/>
          </a:p>
        </p:txBody>
      </p:sp>
      <p:sp>
        <p:nvSpPr>
          <p:cNvPr id="15" name="Shape 13"/>
          <p:cNvSpPr/>
          <p:nvPr/>
        </p:nvSpPr>
        <p:spPr>
          <a:xfrm>
            <a:off x="548640" y="3977640"/>
            <a:ext cx="11094415" cy="731520"/>
          </a:xfrm>
          <a:prstGeom prst="roundRect">
            <a:avLst>
              <a:gd name="adj" fmla="val 7500"/>
            </a:avLst>
          </a:prstGeom>
          <a:solidFill>
            <a:srgbClr val="22344F"/>
          </a:solidFill>
          <a:ln/>
        </p:spPr>
      </p:sp>
      <p:sp>
        <p:nvSpPr>
          <p:cNvPr id="16" name="Text 14"/>
          <p:cNvSpPr txBox="1"/>
          <p:nvPr/>
        </p:nvSpPr>
        <p:spPr>
          <a:xfrm>
            <a:off x="731520" y="397764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4</a:t>
            </a:r>
            <a:endParaRPr lang="en-US" sz="2400" dirty="0"/>
          </a:p>
        </p:txBody>
      </p:sp>
      <p:sp>
        <p:nvSpPr>
          <p:cNvPr id="17" name="Text 15"/>
          <p:cNvSpPr txBox="1"/>
          <p:nvPr/>
        </p:nvSpPr>
        <p:spPr>
          <a:xfrm>
            <a:off x="1280160" y="397764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Cap the night at 3,000 loads and unloads, best moves first</a:t>
            </a:r>
            <a:endParaRPr lang="en-US" sz="1700" dirty="0"/>
          </a:p>
        </p:txBody>
      </p:sp>
      <p:sp>
        <p:nvSpPr>
          <p:cNvPr id="18" name="Text 16"/>
          <p:cNvSpPr txBox="1"/>
          <p:nvPr/>
        </p:nvSpPr>
        <p:spPr>
          <a:xfrm>
            <a:off x="7406640" y="3977640"/>
            <a:ext cx="4023360" cy="731520"/>
          </a:xfrm>
          <a:prstGeom prst="rect">
            <a:avLst/>
          </a:prstGeom>
          <a:noFill/>
          <a:ln/>
        </p:spPr>
        <p:txBody>
          <a:bodyPr wrap="square" lIns="0" tIns="0" rIns="0" bIns="0" rtlCol="0" anchor="ctr"/>
          <a:lstStyle/>
          <a:p>
            <a:pPr indent="0" marL="0">
              <a:buNone/>
            </a:pPr>
            <a:r>
              <a:rPr lang="en-US" sz="1400" dirty="0">
                <a:solidFill>
                  <a:srgbClr val="C9D3E3"/>
                </a:solidFill>
              </a:rPr>
              <a:t>1,444 fewer bikes than banding every station, 87 fewer shortages</a:t>
            </a:r>
            <a:endParaRPr lang="en-US" sz="1400" dirty="0"/>
          </a:p>
        </p:txBody>
      </p:sp>
      <p:sp>
        <p:nvSpPr>
          <p:cNvPr id="19" name="Shape 17"/>
          <p:cNvSpPr/>
          <p:nvPr/>
        </p:nvSpPr>
        <p:spPr>
          <a:xfrm>
            <a:off x="548640" y="4846320"/>
            <a:ext cx="11094415" cy="731520"/>
          </a:xfrm>
          <a:prstGeom prst="roundRect">
            <a:avLst>
              <a:gd name="adj" fmla="val 7500"/>
            </a:avLst>
          </a:prstGeom>
          <a:solidFill>
            <a:srgbClr val="22344F"/>
          </a:solidFill>
          <a:ln/>
        </p:spPr>
      </p:sp>
      <p:sp>
        <p:nvSpPr>
          <p:cNvPr id="20" name="Text 18"/>
          <p:cNvSpPr txBox="1"/>
          <p:nvPr/>
        </p:nvSpPr>
        <p:spPr>
          <a:xfrm>
            <a:off x="731520" y="4846320"/>
            <a:ext cx="457200" cy="731520"/>
          </a:xfrm>
          <a:prstGeom prst="rect">
            <a:avLst/>
          </a:prstGeom>
          <a:noFill/>
          <a:ln/>
        </p:spPr>
        <p:txBody>
          <a:bodyPr wrap="square" lIns="0" tIns="0" rIns="0" bIns="0" rtlCol="0" anchor="ctr"/>
          <a:lstStyle/>
          <a:p>
            <a:pPr indent="0" marL="0">
              <a:buNone/>
            </a:pPr>
            <a:r>
              <a:rPr lang="en-US" sz="2400" b="1" dirty="0">
                <a:solidFill>
                  <a:srgbClr val="6FA3EA"/>
                </a:solidFill>
              </a:rPr>
              <a:t>5</a:t>
            </a:r>
            <a:endParaRPr lang="en-US" sz="2400" dirty="0"/>
          </a:p>
        </p:txBody>
      </p:sp>
      <p:sp>
        <p:nvSpPr>
          <p:cNvPr id="21" name="Text 19"/>
          <p:cNvSpPr txBox="1"/>
          <p:nvPr/>
        </p:nvSpPr>
        <p:spPr>
          <a:xfrm>
            <a:off x="1280160" y="4846320"/>
            <a:ext cx="6035040" cy="731520"/>
          </a:xfrm>
          <a:prstGeom prst="rect">
            <a:avLst/>
          </a:prstGeom>
          <a:noFill/>
          <a:ln/>
        </p:spPr>
        <p:txBody>
          <a:bodyPr wrap="square" lIns="0" tIns="0" rIns="0" bIns="0" rtlCol="0" anchor="ctr"/>
          <a:lstStyle/>
          <a:p>
            <a:pPr indent="0" marL="0">
              <a:buNone/>
            </a:pPr>
            <a:r>
              <a:rPr lang="en-US" sz="1700" b="1" dirty="0">
                <a:solidFill>
                  <a:schemeClr val="bg1"/>
                </a:solidFill>
              </a:rPr>
              <a:t>Size the night shift from the weather forecast</a:t>
            </a:r>
            <a:endParaRPr lang="en-US" sz="1700" dirty="0"/>
          </a:p>
        </p:txBody>
      </p:sp>
      <p:sp>
        <p:nvSpPr>
          <p:cNvPr id="22" name="Text 20"/>
          <p:cNvSpPr txBox="1"/>
          <p:nvPr/>
        </p:nvSpPr>
        <p:spPr>
          <a:xfrm>
            <a:off x="7406640" y="4846320"/>
            <a:ext cx="4023360" cy="731520"/>
          </a:xfrm>
          <a:prstGeom prst="rect">
            <a:avLst/>
          </a:prstGeom>
          <a:noFill/>
          <a:ln/>
        </p:spPr>
        <p:txBody>
          <a:bodyPr wrap="square" lIns="0" tIns="0" rIns="0" bIns="0" rtlCol="0" anchor="ctr"/>
          <a:lstStyle/>
          <a:p>
            <a:pPr indent="0" marL="0">
              <a:buNone/>
            </a:pPr>
            <a:r>
              <a:rPr lang="en-US" sz="1400" dirty="0">
                <a:solidFill>
                  <a:srgbClr val="C9D3E3"/>
                </a:solidFill>
              </a:rPr>
              <a:t>volume within 11%; targets stay on history</a:t>
            </a:r>
            <a:endParaRPr lang="en-US" sz="1400" dirty="0"/>
          </a:p>
        </p:txBody>
      </p:sp>
      <p:sp>
        <p:nvSpPr>
          <p:cNvPr id="23" name="Text 21"/>
          <p:cNvSpPr txBox="1"/>
          <p:nvPr/>
        </p:nvSpPr>
        <p:spPr>
          <a:xfrm>
            <a:off x="548640" y="5760720"/>
            <a:ext cx="11094415" cy="548640"/>
          </a:xfrm>
          <a:prstGeom prst="rect">
            <a:avLst/>
          </a:prstGeom>
          <a:noFill/>
          <a:ln/>
        </p:spPr>
        <p:txBody>
          <a:bodyPr wrap="square" lIns="0" tIns="0" rIns="0" bIns="0" rtlCol="0" anchor="ctr"/>
          <a:lstStyle/>
          <a:p>
            <a:pPr indent="0" marL="0">
              <a:buNone/>
            </a:pPr>
            <a:r>
              <a:rPr lang="en-US" sz="1800" b="1" dirty="0">
                <a:solidFill>
                  <a:srgbClr val="6FA3EA"/>
                </a:solidFill>
              </a:rPr>
              <a:t>Together: 1,779 riders turned away a day instead of 4,732, with 2,549 bikes moved instead of 5,873.</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members ride the rush hours; weekends ride midday</a:t>
            </a:r>
            <a:endParaRPr lang="en-US" sz="2800" dirty="0"/>
          </a:p>
        </p:txBody>
      </p:sp>
      <p:pic>
        <p:nvPicPr>
          <p:cNvPr id="3" name="daily rhythm" descr="daily rhythm">    </p:cNvPr>
          <p:cNvPicPr>
            <a:picLocks noChangeAspect="1"/>
          </p:cNvPicPr>
          <p:nvPr/>
        </p:nvPicPr>
        <p:blipFill>
          <a:blip r:embed="rId1"/>
          <a:stretch>
            <a:fillRect/>
          </a:stretch>
        </p:blipFill>
        <p:spPr>
          <a:xfrm>
            <a:off x="548640" y="1836193"/>
            <a:ext cx="11064240" cy="3825695"/>
          </a:xfrm>
          <a:prstGeom prst="rect">
            <a:avLst/>
          </a:prstGeom>
        </p:spPr>
      </p:pic>
      <p:sp>
        <p:nvSpPr>
          <p:cNvPr id="4" name="caption"/>
          <p:cNvSpPr txBox="1"/>
          <p:nvPr/>
        </p:nvSpPr>
        <p:spPr>
          <a:xfrm>
            <a:off x="548640" y="5707607"/>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Average trips started per hour, development year.</a:t>
            </a:r>
            <a:endParaRPr lang="en-US" sz="11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a quarter of the stations take 80% of the moves</a:t>
            </a:r>
            <a:endParaRPr lang="en-US" sz="2800" dirty="0"/>
          </a:p>
        </p:txBody>
      </p:sp>
      <p:pic>
        <p:nvPicPr>
          <p:cNvPr id="3" name="where vans go" descr="where vans go">    </p:cNvPr>
          <p:cNvPicPr>
            <a:picLocks noChangeAspect="1"/>
          </p:cNvPicPr>
          <p:nvPr/>
        </p:nvPicPr>
        <p:blipFill>
          <a:blip r:embed="rId1"/>
          <a:stretch>
            <a:fillRect/>
          </a:stretch>
        </p:blipFill>
        <p:spPr>
          <a:xfrm>
            <a:off x="925978" y="1325880"/>
            <a:ext cx="4365965" cy="4709160"/>
          </a:xfrm>
          <a:prstGeom prst="rect">
            <a:avLst/>
          </a:prstGeom>
        </p:spPr>
      </p:pic>
      <p:sp>
        <p:nvSpPr>
          <p:cNvPr id="4" name="caption"/>
          <p:cNvSpPr txBox="1"/>
          <p:nvPr/>
        </p:nvSpPr>
        <p:spPr>
          <a:xfrm>
            <a:off x="548640" y="6080760"/>
            <a:ext cx="10972800" cy="320040"/>
          </a:xfrm>
          <a:prstGeom prst="rect">
            <a:avLst/>
          </a:prstGeom>
          <a:noFill/>
          <a:ln/>
        </p:spPr>
        <p:txBody>
          <a:bodyPr wrap="square" lIns="0" tIns="0" rIns="0" bIns="0" rtlCol="0" anchor="ctr"/>
          <a:lstStyle/>
          <a:p>
            <a:pPr indent="0" marL="0">
              <a:buNone/>
            </a:pPr>
            <a:r>
              <a:rPr lang="en-US" sz="1100" dirty="0">
                <a:solidFill>
                  <a:schemeClr val="accent6"/>
                </a:solidFill>
              </a:rPr>
              <a:t>Bikes handled per day, recommended schedule; blue mostly receive, red mostly give, grey left alone.</a:t>
            </a:r>
            <a:endParaRPr lang="en-US" sz="1100" dirty="0"/>
          </a:p>
        </p:txBody>
      </p:sp>
      <p:sp>
        <p:nvSpPr>
          <p:cNvPr id="5" name="stat 49%"/>
          <p:cNvSpPr txBox="1"/>
          <p:nvPr/>
        </p:nvSpPr>
        <p:spPr>
          <a:xfrm>
            <a:off x="6309360" y="1371600"/>
            <a:ext cx="5333695" cy="609600"/>
          </a:xfrm>
          <a:prstGeom prst="rect">
            <a:avLst/>
          </a:prstGeom>
          <a:noFill/>
          <a:ln/>
        </p:spPr>
        <p:txBody>
          <a:bodyPr wrap="square" lIns="0" tIns="0" rIns="0" bIns="0" rtlCol="0" anchor="b"/>
          <a:lstStyle/>
          <a:p>
            <a:pPr indent="0" marL="0">
              <a:buNone/>
            </a:pPr>
            <a:r>
              <a:rPr lang="en-US" sz="4000" b="1" dirty="0">
                <a:solidFill>
                  <a:schemeClr val="accent1"/>
                </a:solidFill>
              </a:rPr>
              <a:t>49%</a:t>
            </a:r>
            <a:endParaRPr lang="en-US" sz="4000" dirty="0"/>
          </a:p>
        </p:txBody>
      </p:sp>
      <p:sp>
        <p:nvSpPr>
          <p:cNvPr id="6" name="stat label"/>
          <p:cNvSpPr txBox="1"/>
          <p:nvPr/>
        </p:nvSpPr>
        <p:spPr>
          <a:xfrm>
            <a:off x="6309360" y="2026920"/>
            <a:ext cx="5333695" cy="685800"/>
          </a:xfrm>
          <a:prstGeom prst="rect">
            <a:avLst/>
          </a:prstGeom>
          <a:noFill/>
          <a:ln/>
        </p:spPr>
        <p:txBody>
          <a:bodyPr wrap="square" lIns="0" tIns="0" rIns="0" bIns="0" rtlCol="0" anchor="t"/>
          <a:lstStyle/>
          <a:p>
            <a:pPr indent="0" marL="0">
              <a:buNone/>
            </a:pPr>
            <a:r>
              <a:rPr lang="en-US" sz="1400" dirty="0">
                <a:solidFill>
                  <a:schemeClr val="tx1"/>
                </a:solidFill>
              </a:rPr>
              <a:t>of all bikes handled are at the busiest 10% of stations</a:t>
            </a:r>
            <a:endParaRPr lang="en-US" sz="1400" dirty="0"/>
          </a:p>
        </p:txBody>
      </p:sp>
      <p:sp>
        <p:nvSpPr>
          <p:cNvPr id="7" name="stat 67%"/>
          <p:cNvSpPr txBox="1"/>
          <p:nvPr/>
        </p:nvSpPr>
        <p:spPr>
          <a:xfrm>
            <a:off x="6309360" y="2926080"/>
            <a:ext cx="5333695" cy="609600"/>
          </a:xfrm>
          <a:prstGeom prst="rect">
            <a:avLst/>
          </a:prstGeom>
          <a:noFill/>
          <a:ln/>
        </p:spPr>
        <p:txBody>
          <a:bodyPr wrap="square" lIns="0" tIns="0" rIns="0" bIns="0" rtlCol="0" anchor="b"/>
          <a:lstStyle/>
          <a:p>
            <a:pPr indent="0" marL="0">
              <a:buNone/>
            </a:pPr>
            <a:r>
              <a:rPr lang="en-US" sz="4000" b="1" dirty="0">
                <a:solidFill>
                  <a:schemeClr val="accent1"/>
                </a:solidFill>
              </a:rPr>
              <a:t>67%</a:t>
            </a:r>
            <a:endParaRPr lang="en-US" sz="4000" dirty="0"/>
          </a:p>
        </p:txBody>
      </p:sp>
      <p:sp>
        <p:nvSpPr>
          <p:cNvPr id="8" name="stat label"/>
          <p:cNvSpPr txBox="1"/>
          <p:nvPr/>
        </p:nvSpPr>
        <p:spPr>
          <a:xfrm>
            <a:off x="6309360" y="3581400"/>
            <a:ext cx="5333695" cy="685800"/>
          </a:xfrm>
          <a:prstGeom prst="rect">
            <a:avLst/>
          </a:prstGeom>
          <a:noFill/>
          <a:ln/>
        </p:spPr>
        <p:txBody>
          <a:bodyPr wrap="square" lIns="0" tIns="0" rIns="0" bIns="0" rtlCol="0" anchor="t"/>
          <a:lstStyle/>
          <a:p>
            <a:pPr indent="0" marL="0">
              <a:buNone/>
            </a:pPr>
            <a:r>
              <a:rPr lang="en-US" sz="1400" dirty="0">
                <a:solidFill>
                  <a:schemeClr val="tx1"/>
                </a:solidFill>
              </a:rPr>
              <a:t>of drop-offs are in Manhattan, 25% in Brooklyn; the Bronx and Jersey City need almost nothing</a:t>
            </a:r>
            <a:endParaRPr lang="en-US" sz="1400" dirty="0"/>
          </a:p>
        </p:txBody>
      </p:sp>
      <p:sp>
        <p:nvSpPr>
          <p:cNvPr id="9" name="Text 6"/>
          <p:cNvSpPr txBox="1"/>
          <p:nvPr/>
        </p:nvSpPr>
        <p:spPr>
          <a:xfrm>
            <a:off x="6309360" y="4526280"/>
            <a:ext cx="5333695" cy="1371600"/>
          </a:xfrm>
          <a:prstGeom prst="rect">
            <a:avLst/>
          </a:prstGeom>
          <a:noFill/>
          <a:ln/>
        </p:spPr>
        <p:txBody>
          <a:bodyPr wrap="square" lIns="0" tIns="0" rIns="0" bIns="0" rtlCol="0" anchor="t"/>
          <a:lstStyle/>
          <a:p>
            <a:pPr indent="0" marL="0">
              <a:buNone/>
            </a:pPr>
            <a:r>
              <a:rPr lang="en-US" sz="1400" dirty="0">
                <a:solidFill>
                  <a:schemeClr val="tx1"/>
                </a:solidFill>
              </a:rPr>
              <a:t>Drop-offs: Upper West Side and central Brooklyn, ready for the morning. Pick-ups: Chelsea, the Financial District and Brooklyn Heights.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why a lost rider must also fail to arrive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383280"/>
                <a:gridCol w="3840480"/>
                <a:gridCol w="3840480"/>
              </a:tblGrid>
              <a:tr h="685800">
                <a:tc>
                  <a:txBody>
                    <a:bodyPr/>
                    <a:lstStyle/>
                    <a:p>
                      <a:pPr indent="0" marL="0">
                        <a:buNone/>
                      </a:pPr>
                      <a:r>
                        <a:rPr lang="en-US" sz="1600" b="1" dirty="0">
                          <a:solidFill>
                            <a:srgbClr val="FFFFFF"/>
                          </a:solidFill>
                        </a:rPr>
                        <a:t>Riders turned away a day</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600" b="1" dirty="0">
                          <a:solidFill>
                            <a:srgbClr val="FFFFFF"/>
                          </a:solidFill>
                        </a:rPr>
                        <a:t>Simple model: every rider still arrives</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c>
                  <a:txBody>
                    <a:bodyPr/>
                    <a:lstStyle/>
                    <a:p>
                      <a:pPr indent="0" marL="0">
                        <a:buNone/>
                      </a:pPr>
                      <a:r>
                        <a:rPr lang="en-US" sz="1600" b="1" dirty="0">
                          <a:solidFill>
                            <a:srgbClr val="FFFFFF"/>
                          </a:solidFill>
                        </a:rPr>
                        <a:t>Our model: a lost rider never arrives</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solidFill>
                      <a:srgbClr val="15233B"/>
                    </a:solidFill>
                  </a:tcPr>
                </a:tc>
              </a:tr>
              <a:tr h="685800">
                <a:tc>
                  <a:txBody>
                    <a:bodyPr/>
                    <a:lstStyle/>
                    <a:p>
                      <a:pPr indent="0" marL="0">
                        <a:buNone/>
                      </a:pPr>
                      <a:r>
                        <a:rPr lang="en-US" sz="1600" dirty="0">
                          <a:solidFill>
                            <a:schemeClr val="tx1"/>
                          </a:solidFill>
                        </a:rPr>
                        <a:t>Never move a bike</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2,173</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18,189</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85800">
                <a:tc>
                  <a:txBody>
                    <a:bodyPr/>
                    <a:lstStyle/>
                    <a:p>
                      <a:pPr indent="0" marL="0">
                        <a:buNone/>
                      </a:pPr>
                      <a:r>
                        <a:rPr lang="en-US" sz="1600" dirty="0">
                          <a:solidFill>
                            <a:schemeClr val="tx1"/>
                          </a:solidFill>
                        </a:rPr>
                        <a:t>Reset to half full</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4,230</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4,732</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r h="685800">
                <a:tc>
                  <a:txBody>
                    <a:bodyPr/>
                    <a:lstStyle/>
                    <a:p>
                      <a:pPr indent="0" marL="0">
                        <a:buNone/>
                      </a:pPr>
                      <a:r>
                        <a:rPr lang="en-US" sz="1600" dirty="0">
                          <a:solidFill>
                            <a:schemeClr val="tx1"/>
                          </a:solidFill>
                        </a:rPr>
                        <a:t>Recommended</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1,530</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c>
                  <a:txBody>
                    <a:bodyPr/>
                    <a:lstStyle/>
                    <a:p>
                      <a:pPr indent="0" marL="0">
                        <a:buNone/>
                      </a:pPr>
                      <a:r>
                        <a:rPr lang="en-US" sz="1600" dirty="0">
                          <a:solidFill>
                            <a:schemeClr val="tx1"/>
                          </a:solidFill>
                        </a:rPr>
                        <a:t>1,779</a:t>
                      </a:r>
                      <a:endParaRPr lang="en-US" sz="1600" dirty="0"/>
                    </a:p>
                  </a:txBody>
                  <a:tcPr marL="109728" marR="109728" marT="54864" marB="54864" anchor="ctr">
                    <a:lnL w="9525" cap="flat" cmpd="sng" algn="ctr">
                      <a:solidFill>
                        <a:srgbClr val="D6D3CC"/>
                      </a:solidFill>
                      <a:prstDash val="solid"/>
                      <a:round/>
                      <a:headEnd type="none" w="med" len="med"/>
                      <a:tailEnd type="none" w="med" len="med"/>
                    </a:lnL>
                    <a:lnR w="9525" cap="flat" cmpd="sng" algn="ctr">
                      <a:solidFill>
                        <a:srgbClr val="D6D3CC"/>
                      </a:solidFill>
                      <a:prstDash val="solid"/>
                      <a:round/>
                      <a:headEnd type="none" w="med" len="med"/>
                      <a:tailEnd type="none" w="med" len="med"/>
                    </a:lnR>
                    <a:lnT w="9525" cap="flat" cmpd="sng" algn="ctr">
                      <a:solidFill>
                        <a:srgbClr val="D6D3CC"/>
                      </a:solidFill>
                      <a:prstDash val="solid"/>
                      <a:round/>
                      <a:headEnd type="none" w="med" len="med"/>
                      <a:tailEnd type="none" w="med" len="med"/>
                    </a:lnT>
                    <a:lnB w="9525" cap="flat" cmpd="sng" algn="ctr">
                      <a:solidFill>
                        <a:srgbClr val="D6D3CC"/>
                      </a:solidFill>
                      <a:prstDash val="solid"/>
                      <a:round/>
                      <a:headEnd type="none" w="med" len="med"/>
                      <a:tailEnd type="none" w="med" len="med"/>
                    </a:lnB>
                  </a:tcPr>
                </a:tc>
              </a:tr>
            </a:tbl>
          </a:graphicData>
        </a:graphic>
      </p:graphicFrame>
      <p:sp>
        <p:nvSpPr>
          <p:cNvPr id="4" name="Text 1"/>
          <p:cNvSpPr txBox="1"/>
          <p:nvPr/>
        </p:nvSpPr>
        <p:spPr>
          <a:xfrm>
            <a:off x="548640" y="4389120"/>
            <a:ext cx="11094415" cy="1188720"/>
          </a:xfrm>
          <a:prstGeom prst="rect">
            <a:avLst/>
          </a:prstGeom>
          <a:noFill/>
          <a:ln/>
        </p:spPr>
        <p:txBody>
          <a:bodyPr wrap="square" lIns="0" tIns="0" rIns="0" bIns="0" rtlCol="0" anchor="t"/>
          <a:lstStyle/>
          <a:p>
            <a:pPr indent="0" marL="0">
              <a:buNone/>
            </a:pPr>
            <a:r>
              <a:rPr lang="en-US" sz="1600" dirty="0">
                <a:solidFill>
                  <a:schemeClr val="tx1"/>
                </a:solidFill>
              </a:rPr>
              <a:t>In the simple model never moving a bike looks better than half full. It is not: once lost riders stop refilling the stations downstream, it reaches 18,189. The order of the schedules that move bikes is the same in both.</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the data that would close the gap to 869</a:t>
            </a:r>
            <a:endParaRPr lang="en-US" sz="2800" dirty="0"/>
          </a:p>
        </p:txBody>
      </p:sp>
      <p:sp>
        <p:nvSpPr>
          <p:cNvPr id="3" name="card"/>
          <p:cNvSpPr/>
          <p:nvPr/>
        </p:nvSpPr>
        <p:spPr>
          <a:xfrm>
            <a:off x="548640" y="1371600"/>
            <a:ext cx="11094415" cy="731520"/>
          </a:xfrm>
          <a:prstGeom prst="roundRect">
            <a:avLst>
              <a:gd name="adj" fmla="val 10000"/>
            </a:avLst>
          </a:prstGeom>
          <a:solidFill>
            <a:schemeClr val="bg2"/>
          </a:solidFill>
          <a:ln/>
        </p:spPr>
      </p:sp>
      <p:sp>
        <p:nvSpPr>
          <p:cNvPr id="4" name="Text 2"/>
          <p:cNvSpPr txBox="1"/>
          <p:nvPr/>
        </p:nvSpPr>
        <p:spPr>
          <a:xfrm>
            <a:off x="731520" y="1371600"/>
            <a:ext cx="457200" cy="731520"/>
          </a:xfrm>
          <a:prstGeom prst="rect">
            <a:avLst/>
          </a:prstGeom>
          <a:noFill/>
          <a:ln/>
        </p:spPr>
        <p:txBody>
          <a:bodyPr wrap="square" lIns="0" tIns="0" rIns="0" bIns="0" rtlCol="0" anchor="ctr"/>
          <a:lstStyle/>
          <a:p>
            <a:pPr indent="0" marL="0">
              <a:buNone/>
            </a:pPr>
            <a:r>
              <a:rPr lang="en-US" sz="2400" b="1" dirty="0">
                <a:solidFill>
                  <a:schemeClr val="accent1"/>
                </a:solidFill>
              </a:rPr>
              <a:t>1</a:t>
            </a:r>
            <a:endParaRPr lang="en-US" sz="2400" dirty="0"/>
          </a:p>
        </p:txBody>
      </p:sp>
      <p:sp>
        <p:nvSpPr>
          <p:cNvPr id="5" name="Text 3"/>
          <p:cNvSpPr txBox="1"/>
          <p:nvPr/>
        </p:nvSpPr>
        <p:spPr>
          <a:xfrm>
            <a:off x="1280160" y="1371600"/>
            <a:ext cx="3566160" cy="731520"/>
          </a:xfrm>
          <a:prstGeom prst="rect">
            <a:avLst/>
          </a:prstGeom>
          <a:noFill/>
          <a:ln/>
        </p:spPr>
        <p:txBody>
          <a:bodyPr wrap="square" lIns="0" tIns="0" rIns="0" bIns="0" rtlCol="0" anchor="ctr"/>
          <a:lstStyle/>
          <a:p>
            <a:pPr indent="0" marL="0">
              <a:buNone/>
            </a:pPr>
            <a:r>
              <a:rPr lang="en-US" sz="1600" b="1" dirty="0">
                <a:solidFill>
                  <a:schemeClr val="tx1"/>
                </a:solidFill>
              </a:rPr>
              <a:t>Riders who were turned away</a:t>
            </a:r>
            <a:endParaRPr lang="en-US" sz="1600" dirty="0"/>
          </a:p>
        </p:txBody>
      </p:sp>
      <p:sp>
        <p:nvSpPr>
          <p:cNvPr id="6" name="Text 4"/>
          <p:cNvSpPr txBox="1"/>
          <p:nvPr/>
        </p:nvSpPr>
        <p:spPr>
          <a:xfrm>
            <a:off x="5029200" y="1371600"/>
            <a:ext cx="4480560" cy="731520"/>
          </a:xfrm>
          <a:prstGeom prst="rect">
            <a:avLst/>
          </a:prstGeom>
          <a:noFill/>
          <a:ln/>
        </p:spPr>
        <p:txBody>
          <a:bodyPr wrap="square" lIns="0" tIns="0" rIns="0" bIns="0" rtlCol="0" anchor="ctr"/>
          <a:lstStyle/>
          <a:p>
            <a:pPr indent="0" marL="0">
              <a:buNone/>
            </a:pPr>
            <a:r>
              <a:rPr lang="en-US" sz="1400" dirty="0">
                <a:solidFill>
                  <a:schemeClr val="tx1"/>
                </a:solidFill>
              </a:rPr>
              <a:t>app searches and failed unlocks give true demand at stations that are often empty</a:t>
            </a:r>
            <a:endParaRPr lang="en-US" sz="1400" dirty="0"/>
          </a:p>
        </p:txBody>
      </p:sp>
      <p:sp>
        <p:nvSpPr>
          <p:cNvPr id="7" name="Text 5"/>
          <p:cNvSpPr txBox="1"/>
          <p:nvPr/>
        </p:nvSpPr>
        <p:spPr>
          <a:xfrm>
            <a:off x="9646920" y="1371600"/>
            <a:ext cx="1828800" cy="731520"/>
          </a:xfrm>
          <a:prstGeom prst="rect">
            <a:avLst/>
          </a:prstGeom>
          <a:noFill/>
          <a:ln/>
        </p:spPr>
        <p:txBody>
          <a:bodyPr wrap="square" lIns="0" tIns="0" rIns="0" bIns="0" rtlCol="0" anchor="ctr"/>
          <a:lstStyle/>
          <a:p>
            <a:pPr indent="0" marL="0">
              <a:buNone/>
            </a:pPr>
            <a:r>
              <a:rPr lang="en-US" sz="1300" dirty="0">
                <a:solidFill>
                  <a:schemeClr val="accent6"/>
                </a:solidFill>
              </a:rPr>
              <a:t>Citi Bike has it</a:t>
            </a:r>
            <a:endParaRPr lang="en-US" sz="1300" dirty="0"/>
          </a:p>
        </p:txBody>
      </p:sp>
      <p:sp>
        <p:nvSpPr>
          <p:cNvPr id="8" name="card"/>
          <p:cNvSpPr/>
          <p:nvPr/>
        </p:nvSpPr>
        <p:spPr>
          <a:xfrm>
            <a:off x="548640" y="2240280"/>
            <a:ext cx="11094415" cy="731520"/>
          </a:xfrm>
          <a:prstGeom prst="roundRect">
            <a:avLst>
              <a:gd name="adj" fmla="val 10000"/>
            </a:avLst>
          </a:prstGeom>
          <a:solidFill>
            <a:schemeClr val="bg2"/>
          </a:solidFill>
          <a:ln/>
        </p:spPr>
      </p:sp>
      <p:sp>
        <p:nvSpPr>
          <p:cNvPr id="9" name="Text 7"/>
          <p:cNvSpPr txBox="1"/>
          <p:nvPr/>
        </p:nvSpPr>
        <p:spPr>
          <a:xfrm>
            <a:off x="731520" y="2240280"/>
            <a:ext cx="457200" cy="731520"/>
          </a:xfrm>
          <a:prstGeom prst="rect">
            <a:avLst/>
          </a:prstGeom>
          <a:noFill/>
          <a:ln/>
        </p:spPr>
        <p:txBody>
          <a:bodyPr wrap="square" lIns="0" tIns="0" rIns="0" bIns="0" rtlCol="0" anchor="ctr"/>
          <a:lstStyle/>
          <a:p>
            <a:pPr indent="0" marL="0">
              <a:buNone/>
            </a:pPr>
            <a:r>
              <a:rPr lang="en-US" sz="2400" b="1" dirty="0">
                <a:solidFill>
                  <a:schemeClr val="accent1"/>
                </a:solidFill>
              </a:rPr>
              <a:t>2</a:t>
            </a:r>
            <a:endParaRPr lang="en-US" sz="2400" dirty="0"/>
          </a:p>
        </p:txBody>
      </p:sp>
      <p:sp>
        <p:nvSpPr>
          <p:cNvPr id="10" name="Text 8"/>
          <p:cNvSpPr txBox="1"/>
          <p:nvPr/>
        </p:nvSpPr>
        <p:spPr>
          <a:xfrm>
            <a:off x="1280160" y="2240280"/>
            <a:ext cx="3566160" cy="731520"/>
          </a:xfrm>
          <a:prstGeom prst="rect">
            <a:avLst/>
          </a:prstGeom>
          <a:noFill/>
          <a:ln/>
        </p:spPr>
        <p:txBody>
          <a:bodyPr wrap="square" lIns="0" tIns="0" rIns="0" bIns="0" rtlCol="0" anchor="ctr"/>
          <a:lstStyle/>
          <a:p>
            <a:pPr indent="0" marL="0">
              <a:buNone/>
            </a:pPr>
            <a:r>
              <a:rPr lang="en-US" sz="1600" b="1" dirty="0">
                <a:solidFill>
                  <a:schemeClr val="tx1"/>
                </a:solidFill>
              </a:rPr>
              <a:t>Bikes and free docks every minute</a:t>
            </a:r>
            <a:endParaRPr lang="en-US" sz="1600" dirty="0"/>
          </a:p>
        </p:txBody>
      </p:sp>
      <p:sp>
        <p:nvSpPr>
          <p:cNvPr id="11" name="Text 9"/>
          <p:cNvSpPr txBox="1"/>
          <p:nvPr/>
        </p:nvSpPr>
        <p:spPr>
          <a:xfrm>
            <a:off x="5029200" y="2240280"/>
            <a:ext cx="4480560" cy="731520"/>
          </a:xfrm>
          <a:prstGeom prst="rect">
            <a:avLst/>
          </a:prstGeom>
          <a:noFill/>
          <a:ln/>
        </p:spPr>
        <p:txBody>
          <a:bodyPr wrap="square" lIns="0" tIns="0" rIns="0" bIns="0" rtlCol="0" anchor="ctr"/>
          <a:lstStyle/>
          <a:p>
            <a:pPr indent="0" marL="0">
              <a:buNone/>
            </a:pPr>
            <a:r>
              <a:rPr lang="en-US" sz="1400" dirty="0">
                <a:solidFill>
                  <a:schemeClr val="tx1"/>
                </a:solidFill>
              </a:rPr>
              <a:t>real stock and working docks, instead of stock rebuilt from trips</a:t>
            </a:r>
            <a:endParaRPr lang="en-US" sz="1400" dirty="0"/>
          </a:p>
        </p:txBody>
      </p:sp>
      <p:sp>
        <p:nvSpPr>
          <p:cNvPr id="12" name="Text 10"/>
          <p:cNvSpPr txBox="1"/>
          <p:nvPr/>
        </p:nvSpPr>
        <p:spPr>
          <a:xfrm>
            <a:off x="9646920" y="2240280"/>
            <a:ext cx="1828800" cy="731520"/>
          </a:xfrm>
          <a:prstGeom prst="rect">
            <a:avLst/>
          </a:prstGeom>
          <a:noFill/>
          <a:ln/>
        </p:spPr>
        <p:txBody>
          <a:bodyPr wrap="square" lIns="0" tIns="0" rIns="0" bIns="0" rtlCol="0" anchor="ctr"/>
          <a:lstStyle/>
          <a:p>
            <a:pPr indent="0" marL="0">
              <a:buNone/>
            </a:pPr>
            <a:r>
              <a:rPr lang="en-US" sz="1300" dirty="0">
                <a:solidFill>
                  <a:schemeClr val="accent6"/>
                </a:solidFill>
              </a:rPr>
              <a:t>live feed public, history not</a:t>
            </a:r>
            <a:endParaRPr lang="en-US" sz="1300" dirty="0"/>
          </a:p>
        </p:txBody>
      </p:sp>
      <p:sp>
        <p:nvSpPr>
          <p:cNvPr id="13" name="card"/>
          <p:cNvSpPr/>
          <p:nvPr/>
        </p:nvSpPr>
        <p:spPr>
          <a:xfrm>
            <a:off x="548640" y="3108960"/>
            <a:ext cx="11094415" cy="731520"/>
          </a:xfrm>
          <a:prstGeom prst="roundRect">
            <a:avLst>
              <a:gd name="adj" fmla="val 10000"/>
            </a:avLst>
          </a:prstGeom>
          <a:solidFill>
            <a:schemeClr val="bg2"/>
          </a:solidFill>
          <a:ln/>
        </p:spPr>
      </p:sp>
      <p:sp>
        <p:nvSpPr>
          <p:cNvPr id="14" name="Text 12"/>
          <p:cNvSpPr txBox="1"/>
          <p:nvPr/>
        </p:nvSpPr>
        <p:spPr>
          <a:xfrm>
            <a:off x="731520" y="3108960"/>
            <a:ext cx="457200" cy="731520"/>
          </a:xfrm>
          <a:prstGeom prst="rect">
            <a:avLst/>
          </a:prstGeom>
          <a:noFill/>
          <a:ln/>
        </p:spPr>
        <p:txBody>
          <a:bodyPr wrap="square" lIns="0" tIns="0" rIns="0" bIns="0" rtlCol="0" anchor="ctr"/>
          <a:lstStyle/>
          <a:p>
            <a:pPr indent="0" marL="0">
              <a:buNone/>
            </a:pPr>
            <a:r>
              <a:rPr lang="en-US" sz="2400" b="1" dirty="0">
                <a:solidFill>
                  <a:schemeClr val="accent1"/>
                </a:solidFill>
              </a:rPr>
              <a:t>3</a:t>
            </a:r>
            <a:endParaRPr lang="en-US" sz="2400" dirty="0"/>
          </a:p>
        </p:txBody>
      </p:sp>
      <p:sp>
        <p:nvSpPr>
          <p:cNvPr id="15" name="Text 13"/>
          <p:cNvSpPr txBox="1"/>
          <p:nvPr/>
        </p:nvSpPr>
        <p:spPr>
          <a:xfrm>
            <a:off x="1280160" y="3108960"/>
            <a:ext cx="3566160" cy="731520"/>
          </a:xfrm>
          <a:prstGeom prst="rect">
            <a:avLst/>
          </a:prstGeom>
          <a:noFill/>
          <a:ln/>
        </p:spPr>
        <p:txBody>
          <a:bodyPr wrap="square" lIns="0" tIns="0" rIns="0" bIns="0" rtlCol="0" anchor="ctr"/>
          <a:lstStyle/>
          <a:p>
            <a:pPr indent="0" marL="0">
              <a:buNone/>
            </a:pPr>
            <a:r>
              <a:rPr lang="en-US" sz="1600" b="1" dirty="0">
                <a:solidFill>
                  <a:schemeClr val="tx1"/>
                </a:solidFill>
              </a:rPr>
              <a:t>Citi Bike's own moves</a:t>
            </a:r>
            <a:endParaRPr lang="en-US" sz="1600" dirty="0"/>
          </a:p>
        </p:txBody>
      </p:sp>
      <p:sp>
        <p:nvSpPr>
          <p:cNvPr id="16" name="Text 14"/>
          <p:cNvSpPr txBox="1"/>
          <p:nvPr/>
        </p:nvSpPr>
        <p:spPr>
          <a:xfrm>
            <a:off x="5029200" y="3108960"/>
            <a:ext cx="4480560" cy="731520"/>
          </a:xfrm>
          <a:prstGeom prst="rect">
            <a:avLst/>
          </a:prstGeom>
          <a:noFill/>
          <a:ln/>
        </p:spPr>
        <p:txBody>
          <a:bodyPr wrap="square" lIns="0" tIns="0" rIns="0" bIns="0" rtlCol="0" anchor="ctr"/>
          <a:lstStyle/>
          <a:p>
            <a:pPr indent="0" marL="0">
              <a:buNone/>
            </a:pPr>
            <a:r>
              <a:rPr lang="en-US" sz="1400" dirty="0">
                <a:solidFill>
                  <a:schemeClr val="tx1"/>
                </a:solidFill>
              </a:rPr>
              <a:t>separates riders' flow from Citi Bike's old plan, and scores that plan</a:t>
            </a:r>
            <a:endParaRPr lang="en-US" sz="1400" dirty="0"/>
          </a:p>
        </p:txBody>
      </p:sp>
      <p:sp>
        <p:nvSpPr>
          <p:cNvPr id="17" name="Text 15"/>
          <p:cNvSpPr txBox="1"/>
          <p:nvPr/>
        </p:nvSpPr>
        <p:spPr>
          <a:xfrm>
            <a:off x="9646920" y="3108960"/>
            <a:ext cx="1828800" cy="731520"/>
          </a:xfrm>
          <a:prstGeom prst="rect">
            <a:avLst/>
          </a:prstGeom>
          <a:noFill/>
          <a:ln/>
        </p:spPr>
        <p:txBody>
          <a:bodyPr wrap="square" lIns="0" tIns="0" rIns="0" bIns="0" rtlCol="0" anchor="ctr"/>
          <a:lstStyle/>
          <a:p>
            <a:pPr indent="0" marL="0">
              <a:buNone/>
            </a:pPr>
            <a:r>
              <a:rPr lang="en-US" sz="1300" dirty="0">
                <a:solidFill>
                  <a:schemeClr val="accent6"/>
                </a:solidFill>
              </a:rPr>
              <a:t>Citi Bike has it</a:t>
            </a:r>
            <a:endParaRPr lang="en-US" sz="1300" dirty="0"/>
          </a:p>
        </p:txBody>
      </p:sp>
      <p:sp>
        <p:nvSpPr>
          <p:cNvPr id="18" name="card"/>
          <p:cNvSpPr/>
          <p:nvPr/>
        </p:nvSpPr>
        <p:spPr>
          <a:xfrm>
            <a:off x="548640" y="3977640"/>
            <a:ext cx="11094415" cy="731520"/>
          </a:xfrm>
          <a:prstGeom prst="roundRect">
            <a:avLst>
              <a:gd name="adj" fmla="val 10000"/>
            </a:avLst>
          </a:prstGeom>
          <a:solidFill>
            <a:schemeClr val="bg2"/>
          </a:solidFill>
          <a:ln/>
        </p:spPr>
      </p:sp>
      <p:sp>
        <p:nvSpPr>
          <p:cNvPr id="19" name="Text 17"/>
          <p:cNvSpPr txBox="1"/>
          <p:nvPr/>
        </p:nvSpPr>
        <p:spPr>
          <a:xfrm>
            <a:off x="731520" y="3977640"/>
            <a:ext cx="457200" cy="731520"/>
          </a:xfrm>
          <a:prstGeom prst="rect">
            <a:avLst/>
          </a:prstGeom>
          <a:noFill/>
          <a:ln/>
        </p:spPr>
        <p:txBody>
          <a:bodyPr wrap="square" lIns="0" tIns="0" rIns="0" bIns="0" rtlCol="0" anchor="ctr"/>
          <a:lstStyle/>
          <a:p>
            <a:pPr indent="0" marL="0">
              <a:buNone/>
            </a:pPr>
            <a:r>
              <a:rPr lang="en-US" sz="2400" b="1" dirty="0">
                <a:solidFill>
                  <a:schemeClr val="accent1"/>
                </a:solidFill>
              </a:rPr>
              <a:t>4</a:t>
            </a:r>
            <a:endParaRPr lang="en-US" sz="2400" dirty="0"/>
          </a:p>
        </p:txBody>
      </p:sp>
      <p:sp>
        <p:nvSpPr>
          <p:cNvPr id="20" name="Text 18"/>
          <p:cNvSpPr txBox="1"/>
          <p:nvPr/>
        </p:nvSpPr>
        <p:spPr>
          <a:xfrm>
            <a:off x="1280160" y="3977640"/>
            <a:ext cx="3566160" cy="731520"/>
          </a:xfrm>
          <a:prstGeom prst="rect">
            <a:avLst/>
          </a:prstGeom>
          <a:noFill/>
          <a:ln/>
        </p:spPr>
        <p:txBody>
          <a:bodyPr wrap="square" lIns="0" tIns="0" rIns="0" bIns="0" rtlCol="0" anchor="ctr"/>
          <a:lstStyle/>
          <a:p>
            <a:pPr indent="0" marL="0">
              <a:buNone/>
            </a:pPr>
            <a:r>
              <a:rPr lang="en-US" sz="1600" b="1" dirty="0">
                <a:solidFill>
                  <a:schemeClr val="tx1"/>
                </a:solidFill>
              </a:rPr>
              <a:t>Events</a:t>
            </a:r>
            <a:endParaRPr lang="en-US" sz="1600" dirty="0"/>
          </a:p>
        </p:txBody>
      </p:sp>
      <p:sp>
        <p:nvSpPr>
          <p:cNvPr id="21" name="Text 19"/>
          <p:cNvSpPr txBox="1"/>
          <p:nvPr/>
        </p:nvSpPr>
        <p:spPr>
          <a:xfrm>
            <a:off x="5029200" y="3977640"/>
            <a:ext cx="4480560" cy="731520"/>
          </a:xfrm>
          <a:prstGeom prst="rect">
            <a:avLst/>
          </a:prstGeom>
          <a:noFill/>
          <a:ln/>
        </p:spPr>
        <p:txBody>
          <a:bodyPr wrap="square" lIns="0" tIns="0" rIns="0" bIns="0" rtlCol="0" anchor="ctr"/>
          <a:lstStyle/>
          <a:p>
            <a:pPr indent="0" marL="0">
              <a:buNone/>
            </a:pPr>
            <a:r>
              <a:rPr lang="en-US" sz="1400" dirty="0">
                <a:solidFill>
                  <a:schemeClr val="tx1"/>
                </a:solidFill>
              </a:rPr>
              <a:t>one-off spikes a 10-day average can't see, like Madison Square Garden</a:t>
            </a:r>
            <a:endParaRPr lang="en-US" sz="1400" dirty="0"/>
          </a:p>
        </p:txBody>
      </p:sp>
      <p:sp>
        <p:nvSpPr>
          <p:cNvPr id="22" name="Text 20"/>
          <p:cNvSpPr txBox="1"/>
          <p:nvPr/>
        </p:nvSpPr>
        <p:spPr>
          <a:xfrm>
            <a:off x="9646920" y="3977640"/>
            <a:ext cx="1828800" cy="731520"/>
          </a:xfrm>
          <a:prstGeom prst="rect">
            <a:avLst/>
          </a:prstGeom>
          <a:noFill/>
          <a:ln/>
        </p:spPr>
        <p:txBody>
          <a:bodyPr wrap="square" lIns="0" tIns="0" rIns="0" bIns="0" rtlCol="0" anchor="ctr"/>
          <a:lstStyle/>
          <a:p>
            <a:pPr indent="0" marL="0">
              <a:buNone/>
            </a:pPr>
            <a:r>
              <a:rPr lang="en-US" sz="1300" dirty="0">
                <a:solidFill>
                  <a:schemeClr val="accent6"/>
                </a:solidFill>
              </a:rPr>
              <a:t>partly public</a:t>
            </a:r>
            <a:endParaRPr lang="en-US" sz="1300" dirty="0"/>
          </a:p>
        </p:txBody>
      </p:sp>
      <p:sp>
        <p:nvSpPr>
          <p:cNvPr id="23" name="card"/>
          <p:cNvSpPr/>
          <p:nvPr/>
        </p:nvSpPr>
        <p:spPr>
          <a:xfrm>
            <a:off x="548640" y="4846320"/>
            <a:ext cx="11094415" cy="731520"/>
          </a:xfrm>
          <a:prstGeom prst="roundRect">
            <a:avLst>
              <a:gd name="adj" fmla="val 10000"/>
            </a:avLst>
          </a:prstGeom>
          <a:solidFill>
            <a:schemeClr val="bg2"/>
          </a:solidFill>
          <a:ln/>
        </p:spPr>
      </p:sp>
      <p:sp>
        <p:nvSpPr>
          <p:cNvPr id="24" name="Text 22"/>
          <p:cNvSpPr txBox="1"/>
          <p:nvPr/>
        </p:nvSpPr>
        <p:spPr>
          <a:xfrm>
            <a:off x="731520" y="4846320"/>
            <a:ext cx="457200" cy="731520"/>
          </a:xfrm>
          <a:prstGeom prst="rect">
            <a:avLst/>
          </a:prstGeom>
          <a:noFill/>
          <a:ln/>
        </p:spPr>
        <p:txBody>
          <a:bodyPr wrap="square" lIns="0" tIns="0" rIns="0" bIns="0" rtlCol="0" anchor="ctr"/>
          <a:lstStyle/>
          <a:p>
            <a:pPr indent="0" marL="0">
              <a:buNone/>
            </a:pPr>
            <a:r>
              <a:rPr lang="en-US" sz="2400" b="1" dirty="0">
                <a:solidFill>
                  <a:schemeClr val="accent1"/>
                </a:solidFill>
              </a:rPr>
              <a:t>5</a:t>
            </a:r>
            <a:endParaRPr lang="en-US" sz="2400" dirty="0"/>
          </a:p>
        </p:txBody>
      </p:sp>
      <p:sp>
        <p:nvSpPr>
          <p:cNvPr id="25" name="Text 23"/>
          <p:cNvSpPr txBox="1"/>
          <p:nvPr/>
        </p:nvSpPr>
        <p:spPr>
          <a:xfrm>
            <a:off x="1280160" y="4846320"/>
            <a:ext cx="3566160" cy="731520"/>
          </a:xfrm>
          <a:prstGeom prst="rect">
            <a:avLst/>
          </a:prstGeom>
          <a:noFill/>
          <a:ln/>
        </p:spPr>
        <p:txBody>
          <a:bodyPr wrap="square" lIns="0" tIns="0" rIns="0" bIns="0" rtlCol="0" anchor="ctr"/>
          <a:lstStyle/>
          <a:p>
            <a:pPr indent="0" marL="0">
              <a:buNone/>
            </a:pPr>
            <a:r>
              <a:rPr lang="en-US" sz="1600" b="1" dirty="0">
                <a:solidFill>
                  <a:schemeClr val="tx1"/>
                </a:solidFill>
              </a:rPr>
              <a:t>Subway disruptions</a:t>
            </a:r>
            <a:endParaRPr lang="en-US" sz="1600" dirty="0"/>
          </a:p>
        </p:txBody>
      </p:sp>
      <p:sp>
        <p:nvSpPr>
          <p:cNvPr id="26" name="Text 24"/>
          <p:cNvSpPr txBox="1"/>
          <p:nvPr/>
        </p:nvSpPr>
        <p:spPr>
          <a:xfrm>
            <a:off x="5029200" y="4846320"/>
            <a:ext cx="4480560" cy="731520"/>
          </a:xfrm>
          <a:prstGeom prst="rect">
            <a:avLst/>
          </a:prstGeom>
          <a:noFill/>
          <a:ln/>
        </p:spPr>
        <p:txBody>
          <a:bodyPr wrap="square" lIns="0" tIns="0" rIns="0" bIns="0" rtlCol="0" anchor="ctr"/>
          <a:lstStyle/>
          <a:p>
            <a:pPr indent="0" marL="0">
              <a:buNone/>
            </a:pPr>
            <a:r>
              <a:rPr lang="en-US" sz="1400" dirty="0">
                <a:solidFill>
                  <a:schemeClr val="tx1"/>
                </a:solidFill>
              </a:rPr>
              <a:t>riders switch to bikes along a line that goes down</a:t>
            </a:r>
            <a:endParaRPr lang="en-US" sz="1400" dirty="0"/>
          </a:p>
        </p:txBody>
      </p:sp>
      <p:sp>
        <p:nvSpPr>
          <p:cNvPr id="27" name="Text 25"/>
          <p:cNvSpPr txBox="1"/>
          <p:nvPr/>
        </p:nvSpPr>
        <p:spPr>
          <a:xfrm>
            <a:off x="9646920" y="4846320"/>
            <a:ext cx="1828800" cy="731520"/>
          </a:xfrm>
          <a:prstGeom prst="rect">
            <a:avLst/>
          </a:prstGeom>
          <a:noFill/>
          <a:ln/>
        </p:spPr>
        <p:txBody>
          <a:bodyPr wrap="square" lIns="0" tIns="0" rIns="0" bIns="0" rtlCol="0" anchor="ctr"/>
          <a:lstStyle/>
          <a:p>
            <a:pPr indent="0" marL="0">
              <a:buNone/>
            </a:pPr>
            <a:r>
              <a:rPr lang="en-US" sz="1300" dirty="0">
                <a:solidFill>
                  <a:schemeClr val="accent6"/>
                </a:solidFill>
              </a:rPr>
              <a:t>public (MTA)</a:t>
            </a:r>
            <a:endParaRPr lang="en-US" sz="1300" dirty="0"/>
          </a:p>
        </p:txBody>
      </p:sp>
      <p:sp>
        <p:nvSpPr>
          <p:cNvPr id="28" name="Text 26"/>
          <p:cNvSpPr txBox="1"/>
          <p:nvPr/>
        </p:nvSpPr>
        <p:spPr>
          <a:xfrm>
            <a:off x="548640" y="5852160"/>
            <a:ext cx="11094415" cy="502920"/>
          </a:xfrm>
          <a:prstGeom prst="rect">
            <a:avLst/>
          </a:prstGeom>
          <a:noFill/>
          <a:ln/>
        </p:spPr>
        <p:txBody>
          <a:bodyPr wrap="square" lIns="0" tIns="0" rIns="0" bIns="0" rtlCol="0" anchor="t"/>
          <a:lstStyle/>
          <a:p>
            <a:pPr indent="0" marL="0">
              <a:buNone/>
            </a:pPr>
            <a:r>
              <a:rPr lang="en-US" sz="1300" dirty="0">
                <a:solidFill>
                  <a:schemeClr val="accent6"/>
                </a:solidFill>
              </a:rPr>
              <a:t>Ranked by how much each would change the plan. Our own weather model was scored on the weather that happened, not the forecast, so its 11% miss is a best case.</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68680"/>
          </a:xfrm>
          <a:prstGeom prst="rect">
            <a:avLst/>
          </a:prstGeom>
          <a:noFill/>
          <a:ln/>
        </p:spPr>
        <p:txBody>
          <a:bodyPr wrap="square" lIns="0" tIns="0" rIns="0" bIns="0" rtlCol="0" anchor="t"/>
          <a:lstStyle/>
          <a:p>
            <a:pPr algn="l" indent="0" marL="0">
              <a:buNone/>
            </a:pPr>
            <a:r>
              <a:rPr lang="en-US" sz="2800" b="1" dirty="0">
                <a:solidFill>
                  <a:schemeClr val="tx1"/>
                </a:solidFill>
              </a:rPr>
              <a:t>Backup: numbers people mix up</a:t>
            </a:r>
            <a:endParaRPr lang="en-US" sz="2800" dirty="0"/>
          </a:p>
        </p:txBody>
      </p:sp>
      <p:sp>
        <p:nvSpPr>
          <p:cNvPr id="3" name="Text 1"/>
          <p:cNvSpPr txBox="1"/>
          <p:nvPr/>
        </p:nvSpPr>
        <p:spPr>
          <a:xfrm>
            <a:off x="548640" y="141732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3,000</a:t>
            </a:r>
            <a:endParaRPr lang="en-US" sz="3400" dirty="0"/>
          </a:p>
        </p:txBody>
      </p:sp>
      <p:sp>
        <p:nvSpPr>
          <p:cNvPr id="4" name="Text 2"/>
          <p:cNvSpPr txBox="1"/>
          <p:nvPr/>
        </p:nvSpPr>
        <p:spPr>
          <a:xfrm>
            <a:off x="3108960" y="1417320"/>
            <a:ext cx="8503920" cy="822960"/>
          </a:xfrm>
          <a:prstGeom prst="rect">
            <a:avLst/>
          </a:prstGeom>
          <a:noFill/>
          <a:ln/>
        </p:spPr>
        <p:txBody>
          <a:bodyPr wrap="square" lIns="0" tIns="0" rIns="0" bIns="0" rtlCol="0" anchor="ctr"/>
          <a:lstStyle/>
          <a:p>
            <a:pPr indent="0" marL="0">
              <a:buNone/>
            </a:pPr>
            <a:r>
              <a:rPr lang="en-US" sz="1600" dirty="0">
                <a:solidFill>
                  <a:schemeClr val="tx1"/>
                </a:solidFill>
              </a:rPr>
              <a:t>is the night budget in bikes loaded plus unloaded; it moves about 1,900 bikes (1,877 a day on the test year)</a:t>
            </a:r>
            <a:endParaRPr lang="en-US" sz="1600" dirty="0"/>
          </a:p>
        </p:txBody>
      </p:sp>
      <p:sp>
        <p:nvSpPr>
          <p:cNvPr id="5" name="Text 3"/>
          <p:cNvSpPr txBox="1"/>
          <p:nvPr/>
        </p:nvSpPr>
        <p:spPr>
          <a:xfrm>
            <a:off x="548640" y="260604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2,514</a:t>
            </a:r>
            <a:endParaRPr lang="en-US" sz="3400" dirty="0"/>
          </a:p>
        </p:txBody>
      </p:sp>
      <p:sp>
        <p:nvSpPr>
          <p:cNvPr id="6" name="Text 4"/>
          <p:cNvSpPr txBox="1"/>
          <p:nvPr/>
        </p:nvSpPr>
        <p:spPr>
          <a:xfrm>
            <a:off x="3108960" y="2606040"/>
            <a:ext cx="8503920" cy="822960"/>
          </a:xfrm>
          <a:prstGeom prst="rect">
            <a:avLst/>
          </a:prstGeom>
          <a:noFill/>
          <a:ln/>
        </p:spPr>
        <p:txBody>
          <a:bodyPr wrap="square" lIns="0" tIns="0" rIns="0" bIns="0" rtlCol="0" anchor="ctr"/>
          <a:lstStyle/>
          <a:p>
            <a:pPr indent="0" marL="0">
              <a:buNone/>
            </a:pPr>
            <a:r>
              <a:rPr lang="en-US" sz="1600" dirty="0">
                <a:solidFill>
                  <a:schemeClr val="tx1"/>
                </a:solidFill>
              </a:rPr>
              <a:t>is Citi Bike's reported moves a day, and includes valets and Bike Angels, not only trucks</a:t>
            </a:r>
            <a:endParaRPr lang="en-US" sz="1600" dirty="0"/>
          </a:p>
        </p:txBody>
      </p:sp>
      <p:sp>
        <p:nvSpPr>
          <p:cNvPr id="7" name="Text 5"/>
          <p:cNvSpPr txBox="1"/>
          <p:nvPr/>
        </p:nvSpPr>
        <p:spPr>
          <a:xfrm>
            <a:off x="548640" y="379476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527</a:t>
            </a:r>
            <a:endParaRPr lang="en-US" sz="3400" dirty="0"/>
          </a:p>
        </p:txBody>
      </p:sp>
      <p:sp>
        <p:nvSpPr>
          <p:cNvPr id="8" name="Text 6"/>
          <p:cNvSpPr txBox="1"/>
          <p:nvPr/>
        </p:nvSpPr>
        <p:spPr>
          <a:xfrm>
            <a:off x="3108960" y="3794760"/>
            <a:ext cx="8503920" cy="822960"/>
          </a:xfrm>
          <a:prstGeom prst="rect">
            <a:avLst/>
          </a:prstGeom>
          <a:noFill/>
          <a:ln/>
        </p:spPr>
        <p:txBody>
          <a:bodyPr wrap="square" lIns="0" tIns="0" rIns="0" bIns="0" rtlCol="0" anchor="ctr"/>
          <a:lstStyle/>
          <a:p>
            <a:pPr indent="0" marL="0">
              <a:buNone/>
            </a:pPr>
            <a:r>
              <a:rPr lang="en-US" sz="1600" dirty="0">
                <a:solidFill>
                  <a:schemeClr val="tx1"/>
                </a:solidFill>
              </a:rPr>
              <a:t>bikes a day topped up from the depot under our schedule, because a rider at a full dock leaves the simulation with the bike</a:t>
            </a:r>
            <a:endParaRPr lang="en-US" sz="1600" dirty="0"/>
          </a:p>
        </p:txBody>
      </p:sp>
      <p:sp>
        <p:nvSpPr>
          <p:cNvPr id="9" name="Text 7"/>
          <p:cNvSpPr txBox="1"/>
          <p:nvPr/>
        </p:nvSpPr>
        <p:spPr>
          <a:xfrm>
            <a:off x="548640" y="4983480"/>
            <a:ext cx="2377440" cy="822960"/>
          </a:xfrm>
          <a:prstGeom prst="rect">
            <a:avLst/>
          </a:prstGeom>
          <a:noFill/>
          <a:ln/>
        </p:spPr>
        <p:txBody>
          <a:bodyPr wrap="square" lIns="0" tIns="0" rIns="0" bIns="0" rtlCol="0" anchor="ctr"/>
          <a:lstStyle/>
          <a:p>
            <a:pPr indent="0" marL="0">
              <a:buNone/>
            </a:pPr>
            <a:r>
              <a:rPr lang="en-US" sz="3400" b="1" dirty="0">
                <a:solidFill>
                  <a:schemeClr val="accent1"/>
                </a:solidFill>
              </a:rPr>
              <a:t>5 riders</a:t>
            </a:r>
            <a:endParaRPr lang="en-US" sz="3400" dirty="0"/>
          </a:p>
        </p:txBody>
      </p:sp>
      <p:sp>
        <p:nvSpPr>
          <p:cNvPr id="10" name="Text 8"/>
          <p:cNvSpPr txBox="1"/>
          <p:nvPr/>
        </p:nvSpPr>
        <p:spPr>
          <a:xfrm>
            <a:off x="3108960" y="4983480"/>
            <a:ext cx="8503920" cy="822960"/>
          </a:xfrm>
          <a:prstGeom prst="rect">
            <a:avLst/>
          </a:prstGeom>
          <a:noFill/>
          <a:ln/>
        </p:spPr>
        <p:txBody>
          <a:bodyPr wrap="square" lIns="0" tIns="0" rIns="0" bIns="0" rtlCol="0" anchor="ctr"/>
          <a:lstStyle/>
          <a:p>
            <a:pPr indent="0" marL="0">
              <a:buNone/>
            </a:pPr>
            <a:r>
              <a:rPr lang="en-US" sz="1600" dirty="0">
                <a:solidFill>
                  <a:schemeClr val="tx1"/>
                </a:solidFill>
              </a:rPr>
              <a:t>a day out of 1,779 is how much the result moves if riders inside the same 5 minutes are reordered</a:t>
            </a:r>
            <a:endParaRPr lang="en-US" sz="16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iti Bike rebalancing">
  <a:themeElements>
    <a:clrScheme name="Citi Bike rebalancing">
      <a:dk1>
        <a:srgbClr val="22252A"/>
      </a:dk1>
      <a:lt1>
        <a:srgbClr val="FFFFFF"/>
      </a:lt1>
      <a:dk2>
        <a:srgbClr val="15233B"/>
      </a:dk2>
      <a:lt2>
        <a:srgbClr val="F3F1EC"/>
      </a:lt2>
      <a:accent1>
        <a:srgbClr val="3B7DD8"/>
      </a:accent1>
      <a:accent2>
        <a:srgbClr val="D4692A"/>
      </a:accent2>
      <a:accent3>
        <a:srgbClr val="C9403A"/>
      </a:accent3>
      <a:accent4>
        <a:srgbClr val="1F4F99"/>
      </a:accent4>
      <a:accent5>
        <a:srgbClr val="9A978F"/>
      </a:accent5>
      <a:accent6>
        <a:srgbClr val="6B6E75"/>
      </a:accent6>
      <a:hlink>
        <a:srgbClr val="3B7DD8"/>
      </a:hlink>
      <a:folHlink>
        <a:srgbClr val="1F4F99"/>
      </a:folHlink>
    </a:clrScheme>
    <a:fontScheme name="Citi Bike rebalanci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 Bike rebalancing</dc:title>
  <dc:subject>PptxGenJS Presentation</dc:subject>
  <dc:creator>Team Jupyter</dc:creator>
  <cp:lastModifiedBy>Team Jupyter</cp:lastModifiedBy>
  <cp:revision>1</cp:revision>
  <dcterms:created xsi:type="dcterms:W3CDTF">2026-10-30T04:52:50Z</dcterms:created>
  <dcterms:modified xsi:type="dcterms:W3CDTF">2026-10-30T04:52:50Z</dcterms:modified>
</cp:coreProperties>
</file>