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1.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roblem" id="{2a82f4db-7adc-5e5b-d231-0c6500ea4e39}">
          <p14:sldIdLst>
            <p14:sldId id="256"/>
            <p14:sldId id="257"/>
            <p14:sldId id="258"/>
          </p14:sldIdLst>
        </p14:section>
        <p14:section name="Data and method" id="{29aba70c-68a2-f68a-4c70-b351fced918b}">
          <p14:sldIdLst>
            <p14:sldId id="259"/>
            <p14:sldId id="260"/>
          </p14:sldIdLst>
        </p14:section>
        <p14:section name="Analysis" id="{abf65beb-72ab-d622-3142-e8706340bf47}">
          <p14:sldIdLst>
            <p14:sldId id="261"/>
            <p14:sldId id="262"/>
          </p14:sldIdLst>
        </p14:section>
        <p14:section name="The rule" id="{48a2ac26-fa7c-c332-9b1f-042b420617af}">
          <p14:sldIdLst>
            <p14:sldId id="263"/>
            <p14:sldId id="264"/>
            <p14:sldId id="265"/>
          </p14:sldIdLst>
        </p14:section>
        <p14:section name="Results" id="{05c4ed5a-bf2c-1a1a-bcdd-aa710db3bf3d}">
          <p14:sldIdLst>
            <p14:sldId id="266"/>
            <p14:sldId id="267"/>
            <p14:sldId id="268"/>
          </p14:sldIdLst>
        </p14:section>
        <p14:section name="Limits and recommendations" id="{f0870847-d79d-080a-6cc9-df6c84067164}">
          <p14:sldIdLst>
            <p14:sldId id="269"/>
            <p14:sldId id="270"/>
            <p14:sldId id="271"/>
          </p14:sldIdLst>
        </p14:section>
        <p14:section name="Backup for Q&amp;A" id="{5f147e0e-b55e-2967-1dc1-51b9c3e97e76}">
          <p14:sldIdLst>
            <p14:sldId id="272"/>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prevented per bike</c:v>
                </c:pt>
              </c:strCache>
            </c:strRef>
          </c:tx>
          <c:spPr>
            <a:solidFill>
              <a:srgbClr val="3B7DD8"/>
            </a:solidFill>
            <a:effectLst/>
          </c:spPr>
          <c:invertIfNegative val="0"/>
          <c:dLbls>
            <c:numFmt formatCode="0.00" sourceLinked="0"/>
            <c:txPr>
              <a:bodyPr/>
              <a:lstStyle/>
              <a:p>
                <a:pPr>
                  <a:defRPr b="1" i="0" strike="noStrike" sz="1600" u="none">
                    <a:solidFill>
                      <a:srgbClr val="22252A"/>
                    </a:solidFill>
                    <a:latin typeface="+mn-lt"/>
                  </a:defRPr>
                </a:pPr>
              </a:p>
            </c:txPr>
            <c:showLegendKey val="0"/>
            <c:showVal val="1"/>
            <c:showCatName val="0"/>
            <c:showSerName val="0"/>
            <c:showPercent val="0"/>
            <c:showBubbleSize val="0"/>
            <c:showLeaderLines val="0"/>
          </c:dLbls>
          <c:dPt>
            <c:idx val="0"/>
            <c:invertIfNegative val="0"/>
            <c:bubble3D val="0"/>
            <c:spPr>
              <a:solidFill>
                <a:srgbClr val="3B7DD8"/>
              </a:solidFill>
              <a:effectLst/>
            </c:spPr>
          </c:dPt>
          <c:dPt>
            <c:idx val="1"/>
            <c:invertIfNegative val="0"/>
            <c:bubble3D val="0"/>
            <c:spPr>
              <a:solidFill>
                <a:srgbClr val="9A978F"/>
              </a:solidFill>
              <a:effectLst/>
            </c:spPr>
          </c:dPt>
          <c:cat>
            <c:multiLvlStrRef>
              <c:f>Sheet1!$A$2:$A$3</c:f>
              <c:multiLvlStrCache>
                <c:ptCount val="2"/>
                <c:lvl>
                  <c:pt idx="0">
                    <c:v>14:00 visit, 100 stations</c:v>
                  </c:pt>
                  <c:pt idx="1">
                    <c:v>Night budget 3,000 to 4,000</c:v>
                  </c:pt>
                </c:lvl>
              </c:multiLvlStrCache>
            </c:multiLvlStrRef>
          </c:cat>
          <c:val>
            <c:numRef>
              <c:f>Sheet1!$B$2:$B$3</c:f>
              <c:numCache>
                <c:formatCode>General</c:formatCode>
                <c:ptCount val="2"/>
                <c:pt idx="0">
                  <c:v>0.25</c:v>
                </c:pt>
                <c:pt idx="1">
                  <c:v>0.06</c:v>
                </c:pt>
              </c:numCache>
            </c:numRef>
          </c:val>
        </c:ser>
        <c:dLbls>
          <c:numFmt formatCode="0.00" sourceLinked="0"/>
          <c:txPr>
            <a:bodyPr/>
            <a:lstStyle/>
            <a:p>
              <a:pPr>
                <a:defRPr b="1" i="0" strike="noStrike" sz="1600" u="none">
                  <a:solidFill>
                    <a:srgbClr val="22252A"/>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400" b="0" i="0" u="none" strike="noStrike">
                <a:solidFill>
                  <a:srgbClr val="22252A"/>
                </a:solidFill>
                <a:latin typeface="+mn-lt"/>
              </a:defRPr>
            </a:pPr>
            <a:endParaRPr lang="en-US"/>
          </a:p>
        </c:txPr>
        <c:crossAx val="2094734552"/>
        <c:crosses val="autoZero"/>
        <c:auto val="1"/>
        <c:lblAlgn val="ctr"/>
        <c:noMultiLvlLbl val="1"/>
      </c:catAx>
      <c:valAx>
        <c:axId val="2094734552"/>
        <c:scaling>
          <c:orientation val="minMax"/>
          <c:max val="0.3"/>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1 (about 2:30 for slides 1 to 3)
Open with the answer: our schedule turns away 62% fewer riders than resetting stations to half full, and moves 57% fewer bikes doing it.
Then: in the next 15 minutes we show where that comes from, using every Citi Bike trip from October 2024 to September 2026.
Hook if you want one: picture a commuter at 8:45 who finds an empty station. That rider is lost. Our job is to have fewer of them for each bike Citi Bike pays to move.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flow on this map is the problem. Red stations lose bikes in the morning rush, blue gain them.
Numbers: 9,400 trips start in the 08:00 hour. 417 stations lose 5 or more bikes in the morning rush and 294 gain 5 or more. Manhattan gains 935 bikes, Brooklyn loses 1,055. The evening reverses it: Manhattan loses 1,263.
Why it matters: the next rider at a red station finds no bike, the next at a blue one finds no dock. Both are lost trips.
Likely question: why are the Bronx and Jersey City grey? Their flows are small and balanced, so they need little attention.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Citi Bike already fights this with four tools: trucks, bike trains, valets and Bike Angels. It reports about 2,500 bikes moved a day to NYC DOT.
But it does not publish which stations it fills, to what level, or how many riders still find a station empty. So its plan cannot be scored directly.
Our question (read it). We measure against two simple benchmarks, and we check our workload against the moves Citi Bike reports.
Likely question: is half full what Citi Bike does? No, its method is not public. Half full is a common, simple rule we use as a yardstick.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2 (about 2:30 for slides 4 and 5)
The data only records trips, not how many bikes sit in a station. So we rebuild each station's stock: bikes arriving minus bikes leaving, in 5-minute steps, for 2,470 stations.
That turns the public data into a simulator. Pick a schedule, set every station's level at 04:00, the quietest hour, and replay the real riders. When a station is empty or full, that rider is turned away, and we count it.
Cleaning: station ids written with one decimal (7293.10 as 7293.1), depots and demo units listed as stations, 512 repeated trips, and 23 Feb 2026 when the system shut for 22 cm of snow. After fixes 99.9% of trips start at a public station.
We split by time: every setting is chosen on the first year, and the second year is used once to score.
Likely question: why does a lost rider matter downstream? If they never ride, the bike they would have delivered never arrives, so the next station is short too. A simpler model that ignores this flatters 'never rebalance' (2,173 vs 18,189 riders a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row is a neighbourhood, each column an hour. Red: losing bikes, blue: gaining.
Homes at the top empty from 06:00 to 10:00; offices at the bottom fill over the same hours. The evening runs it back.
Two details shape the schedule. Nightlife areas like Williamsburg and the West Village lose bikes again after 21:00. And the office districts drain between 16:00 and 19:00, which is why a 14:00 visit can still help.
Bridge to next speaker: the pattern is strong, but can we plan it the night before?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3 (about 2:30 for slides 6 and 7)
A night-before plan only works if tomorrow looks like the past. It does.
Left: each dot is a station, its average morning flow in odd weeks against even weeks. Correlation 0.998: stations keep their habits.
Right: a single day is noisier. Against the average of the 10 workdays before, correlation 0.90, and the median station-day misses by 1.6 bikes.
Likely question: why 10 days? We tried 5, 10 and 20 on the development year. 20 cut shortages by 1% for 10% more bikes moved, so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Starting half full, a station runs empty or full on 22% of workday station-days. On only 1.3% would no starting level have worked. So almost every shortage is the wrong starting level.
One ordinary Tuesday at three stations:
Broadway and W 25 St, an office station with 109 docks. Half full is full by 08:45 and turns away the morning arrivals. Our start of 5 bikes holds almost an hour longer.
E 10 St and Ave A, a home station: the mirror image. Half full is empty from 09:00 to 16:00; starting near full keeps bikes there all day.
9 Ave and W 33 St, by Penn Station: the swing is 181 bikes against 94 docks. No start saves it. We come back to these stations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4 (about 2:30 for slides 8 to 10)
This is the rule. Every station gets a target band, not a single number. Below it, trucks bring it up to the lower edge. Above it, they take it down to the upper edge. Inside it, nobody visits. That is where half full wastes effort: 27% of its moves go to stations already inside their band.
How the band is built (right): for each of the last 10 comparable days, the need is how far the station fell below its morning stock, the room is how far it could rise before the docks are full. A start below the need runs empty, above the room runs full. Count the riders turned away for every possible start over the 10 days: the lowest total sits between the 10th and 11th smallest of those 20 numbers.
Then we rank every single-bike move across the city by how many shortages it prevents and take the best first, up to a nightly budget.
Likely question: why a band and not one target? Inside the band, every start turns away the same number of riders on those 10 days, so moving a bike there buys nothing.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band handles where. The total number of riders still swings with the weather and season.
A linear regression of the log of each day's trips on the weather in riding hours (07:00 to 21:00) and the calendar, fitted on the development year, explains 87% of the day-to-day variation in the test year. Median error 11%.
Effects: each 5 degrees warmer adds 21% up to about 22 C, above that heat costs 6%. Each wet hour costs 6.6%, so five wet hours lose about a third. 5 cm of snow in the last three days costs 20%. Christmas week loses 45%.
Surprise worth saying: we tried stretching each station's band by tomorrow's forecast. It gave more shortages and more bikes moved. A good forecast of volume does not make a good station decision (Gammelli et al. 2021 find the same). So the forecast sizes the shift, history sets the targets.
Likely question: why log trips? Weather changes trips by a percentage, not a fixed number, so the effects read as percent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setting was fixed on the development year. The test year was opened once, to score.
The budget rule: we chose the settings with the fewest shortages that do not move more bikes than Citi Bike reported for January to September 2025, 2,707 a day. So we compete on the same workload, not by moving more.
Say the budget correctly: 3,000 is bikes loaded plus unloaded, about 1,900 bikes moved a night. Past 4,000, extra moves make things worse, because they chase small savings that are mostly noise in 10 days of history.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5 (about 2:30 for slides 11 to 13)
Every schedule replayed on the test year it never saw.
Never moving a bike: 18,189 riders turned away a day. Half full: 5,873 bikes moved and still 4,732 turned away. Every station into its band: 2,032 for 3,321 bikes. Night budget alone: 1,945 for 1,877. Recommended, budget plus the 14:00 visit: 1,779 for 2,549. That is 62% fewer shortages with 57% fewer bikes than half full.
The pale bar is perfect foresight, 869: the same rule if we knew each day in advance. No real forecast gets there; it shows what is left to win.
Key point: fewer, better-aimed moves beat more moves. The budget turns away 87 fewer riders than moving every station into its band, with 1,444 fewer bikes.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do shortages happen? The grey line is half full: 944 riders turned away in the 08:00 hour alone, because the start was wrong. Under our schedule the worst hour is 17:00, when offices drain: 196 riders, 253 without the visit.
The 14:00 visit sends vans to the 100 stations where moving them back to their rest-of-day band prevents most. It prevents 166 shortages a day for 671 more bikes: 0.25 per bike. Spending the same extra effort at night, raising the budget from 3,000 to 4,000, prevents 0.06 per bike. Four times better.
Likely question: why 14:00 and not noon? We tried 10, 12 and 14 on the development year; 14:00 had the fewest shortages because it comes just before the evening drain.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 this realistic? Citi Bike reports its monthly moves to NYC DOT. Our schedule moves 2,572 bikes a day against its 2,514, and the two rise and fall together, correlation 0.92.
Citi Bike scales down harder in winter. Shortages fall in winter too, so our budget could shrink with the season. It also fits the fleet: 38,069 bikes docked at 04:00 against a fleet of about 39,000.
Careful in Q&amp;A: Citi Bike's 2,514 includes valets and Bike Angels, not just trucks. So the honest claim is 'the same order of work', not 'the same trucks'.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6 (about 2:30 for slides 14 to 16)
What is left is concentrated. Seven stations hold a quarter of the remaining shortages, 442 riders a day. Each swings by more than its docks on a normal workday: Penn Station's 9 Ave and W 33 St swings 181 bikes with 94 docks.
For these, the problem is capacity. Moving bikes at 04:00 cannot fix it. They need more docks or a valet, which Citi Bike already uses at its busiest stations.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Ranked by how much each could move the result.
1. Riders who walk away from an empty station leave no trip, so we undercount demand there. Our shortages are lower bounds; the real number is higher. Because every schedule is replayed on the same trips, the comparison still holds.
2. The data never shows how many bikes are in a station. We calculate it from trips.
3. Citi Bike does not publish its station-by-station moves, so we compare with never moving and with half full, and check our workload against its reports.
4. We count bikes, not dollars, and do not plan van routes. A routing step (O'Mahony and Shmoys 2015) would turn the nightly list into routes.
Future work: the gap to perfect foresight, 1,779 against 869, is day-to-day noise, so station forecasts are worth more than tuning the rule. Bike Angels could also take part of the budget at no truck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Ranked by the riders each one stops turning away on the test year.
1. Target bands instead of half full: the biggest gain. Plan workdays and weekends separately from each station's last 10 comparable days.
2. Seven stations are a capacity problem: docks or valets.
3. A 14:00 visit to the 100 neediest stations, the best use of extra bikes.
4. Cap the night at 3,000 loads and unloads, about 1,900 bikes, best moves first. Mostly a cost saving.
5. Use the weather forecast to decide how many trucks and crews to send. Targets still come from each station's history.
Close: together this turns away 62% fewer riders than half full while moving 57% fewer bikes, about what Citi Bike moves today. Thank you, we are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why we plan workdays and weekends separately: members drive the 08:00 and 17:00 peaks on workdays, while weekends and casual riders follow one smooth midday curve.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646 stations, about a quarter, take 80% of the work. If asked where the trucks go, use this 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first draft used the simple model, so if someone saw an earlier version, this is why the headline changed.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before the talk. These are the numbers a sharp question will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68680"/>
          </a:xfrm>
          <a:prstGeom prst="rect">
            <a:avLst/>
          </a:prstGeom>
          <a:noFill/>
          <a:ln/>
        </p:spPr>
        <p:txBody>
          <a:bodyPr wrap="square" rtlCol="0"/>
          <a:lstStyle>
            <a:lvl1pPr algn="l" indent="0" marL="0">
              <a:buNone/>
              <a:defRPr lang="en-US" sz="2800" b="1" dirty="0">
                <a:solidFill>
                  <a:schemeClr val="tx1"/>
                </a:solidFill>
              </a:defRPr>
            </a:lvl1pPr>
          </a:lstStyle>
          <a:p>
            <a:pPr algn="l" indent="0" marL="0">
              <a:buNone/>
            </a:pPr>
            <a:endParaRPr lang="en-US" sz="2800" dirty="0"/>
          </a:p>
        </p:txBody>
      </p:sp>
      <p:sp>
        <p:nvSpPr>
          <p:cNvPr id="3" name="Text 0"/>
          <p:cNvSpPr/>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chemeClr val="accent6"/>
                </a:solidFill>
              </a:rPr>
              <a:t>Team Jupyter  |  Citi Bike rebalancing</a:t>
            </a:r>
            <a:endParaRPr lang="en-US" sz="1000" dirty="0"/>
          </a:p>
        </p:txBody>
      </p:sp>
      <p:sp>
        <p:nvSpPr>
          <p:cNvPr id="25" name="Slide Number Placeholder 0"/>
          <p:cNvSpPr>
            <a:spLocks noGrp="1"/>
          </p:cNvSpPr>
          <p:nvPr>
            <p:ph type="sldNum" sz="quarter" idx="4294967295"/>
          </p:nvPr>
        </p:nvSpPr>
        <p:spPr>
          <a:xfrm>
            <a:off x="1118585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68680"/>
          </a:xfrm>
          <a:prstGeom prst="rect">
            <a:avLst/>
          </a:prstGeom>
          <a:noFill/>
          <a:ln/>
        </p:spPr>
        <p:txBody>
          <a:bodyPr wrap="square" rtlCol="0"/>
          <a:lstStyle>
            <a:lvl1pPr algn="l" indent="0" marL="0">
              <a:buNone/>
              <a:defRPr lang="en-US" sz="2800" b="1" dirty="0">
                <a:solidFill>
                  <a:schemeClr val="bg1"/>
                </a:solidFill>
              </a:defRPr>
            </a:lvl1pPr>
          </a:lstStyle>
          <a:p>
            <a:pPr algn="l" indent="0" marL="0">
              <a:buNone/>
            </a:pPr>
            <a:endParaRPr lang="en-US" sz="28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585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2.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image-12-1.png"/><Relationship Id="rId3" Type="http://schemas.openxmlformats.org/officeDocument/2006/relationships/slideLayout" Target="../slideLayouts/slideLayout2.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1097280"/>
            <a:ext cx="6400800" cy="365760"/>
          </a:xfrm>
          <a:prstGeom prst="rect">
            <a:avLst/>
          </a:prstGeom>
          <a:noFill/>
          <a:ln/>
        </p:spPr>
        <p:txBody>
          <a:bodyPr wrap="square" lIns="0" tIns="0" rIns="0" bIns="0" rtlCol="0" anchor="ctr"/>
          <a:lstStyle/>
          <a:p>
            <a:pPr indent="0" marL="0">
              <a:buNone/>
            </a:pPr>
            <a:r>
              <a:rPr lang="en-US" sz="1400" b="1" spc="300" kern="0" dirty="0">
                <a:solidFill>
                  <a:schemeClr val="accent5"/>
                </a:solidFill>
              </a:rPr>
              <a:t>DAO2702X  |  TEAM JUPYTER</a:t>
            </a:r>
            <a:endParaRPr lang="en-US" sz="1400" dirty="0"/>
          </a:p>
        </p:txBody>
      </p:sp>
      <p:sp>
        <p:nvSpPr>
          <p:cNvPr id="3" name="Text 1"/>
          <p:cNvSpPr txBox="1"/>
          <p:nvPr/>
        </p:nvSpPr>
        <p:spPr>
          <a:xfrm>
            <a:off x="548640" y="1645920"/>
            <a:ext cx="6400800" cy="2194560"/>
          </a:xfrm>
          <a:prstGeom prst="rect">
            <a:avLst/>
          </a:prstGeom>
          <a:noFill/>
          <a:ln/>
        </p:spPr>
        <p:txBody>
          <a:bodyPr wrap="square" lIns="0" tIns="0" rIns="0" bIns="0" rtlCol="0" anchor="t"/>
          <a:lstStyle/>
          <a:p>
            <a:pPr indent="0" marL="0">
              <a:buNone/>
            </a:pPr>
            <a:r>
              <a:rPr lang="en-US" sz="6000" b="1" dirty="0">
                <a:solidFill>
                  <a:schemeClr val="bg1"/>
                </a:solidFill>
              </a:rPr>
              <a:t>Fewer bikes,</a:t>
            </a:r>
            <a:endParaRPr lang="en-US" sz="6000" dirty="0"/>
          </a:p>
          <a:p>
            <a:pPr indent="0" marL="0">
              <a:buNone/>
            </a:pPr>
            <a:r>
              <a:rPr lang="en-US" sz="6000" b="1" dirty="0">
                <a:solidFill>
                  <a:schemeClr val="bg1"/>
                </a:solidFill>
              </a:rPr>
              <a:t>better aimed</a:t>
            </a:r>
            <a:endParaRPr lang="en-US" sz="6000" dirty="0"/>
          </a:p>
        </p:txBody>
      </p:sp>
      <p:sp>
        <p:nvSpPr>
          <p:cNvPr id="4" name="Text 2"/>
          <p:cNvSpPr txBox="1"/>
          <p:nvPr/>
        </p:nvSpPr>
        <p:spPr>
          <a:xfrm>
            <a:off x="548640" y="4023360"/>
            <a:ext cx="5760720" cy="914400"/>
          </a:xfrm>
          <a:prstGeom prst="rect">
            <a:avLst/>
          </a:prstGeom>
          <a:noFill/>
          <a:ln/>
        </p:spPr>
        <p:txBody>
          <a:bodyPr wrap="square" lIns="0" tIns="0" rIns="0" bIns="0" rtlCol="0" anchor="t"/>
          <a:lstStyle/>
          <a:p>
            <a:pPr indent="0" marL="0">
              <a:buNone/>
            </a:pPr>
            <a:r>
              <a:rPr lang="en-US" sz="2000" dirty="0">
                <a:solidFill>
                  <a:srgbClr val="C9D3E3"/>
                </a:solidFill>
              </a:rPr>
              <a:t>When and where Citi Bike should move its bikes, tested on a year of real riders</a:t>
            </a:r>
            <a:endParaRPr lang="en-US" sz="2000" dirty="0"/>
          </a:p>
        </p:txBody>
      </p:sp>
      <p:sp>
        <p:nvSpPr>
          <p:cNvPr id="5" name="Shape 3"/>
          <p:cNvSpPr/>
          <p:nvPr/>
        </p:nvSpPr>
        <p:spPr>
          <a:xfrm>
            <a:off x="7589520" y="1463040"/>
            <a:ext cx="4023360" cy="1691640"/>
          </a:xfrm>
          <a:prstGeom prst="roundRect">
            <a:avLst>
              <a:gd name="adj" fmla="val 4324"/>
            </a:avLst>
          </a:prstGeom>
          <a:solidFill>
            <a:srgbClr val="22344F"/>
          </a:solidFill>
          <a:ln/>
        </p:spPr>
      </p:sp>
      <p:sp>
        <p:nvSpPr>
          <p:cNvPr id="6" name="Text 4"/>
          <p:cNvSpPr txBox="1"/>
          <p:nvPr/>
        </p:nvSpPr>
        <p:spPr>
          <a:xfrm>
            <a:off x="7863840" y="1645920"/>
            <a:ext cx="3657600" cy="822960"/>
          </a:xfrm>
          <a:prstGeom prst="rect">
            <a:avLst/>
          </a:prstGeom>
          <a:noFill/>
          <a:ln/>
        </p:spPr>
        <p:txBody>
          <a:bodyPr wrap="square" lIns="0" tIns="0" rIns="0" bIns="0" rtlCol="0" anchor="ctr"/>
          <a:lstStyle/>
          <a:p>
            <a:pPr indent="0" marL="0">
              <a:buNone/>
            </a:pPr>
            <a:r>
              <a:rPr lang="en-US" sz="5400" b="1" dirty="0">
                <a:solidFill>
                  <a:srgbClr val="6FA3EA"/>
                </a:solidFill>
              </a:rPr>
              <a:t>62%</a:t>
            </a:r>
            <a:endParaRPr lang="en-US" sz="5400" dirty="0"/>
          </a:p>
        </p:txBody>
      </p:sp>
      <p:sp>
        <p:nvSpPr>
          <p:cNvPr id="7" name="Text 5"/>
          <p:cNvSpPr txBox="1"/>
          <p:nvPr/>
        </p:nvSpPr>
        <p:spPr>
          <a:xfrm>
            <a:off x="7863840" y="2468880"/>
            <a:ext cx="3657600" cy="548640"/>
          </a:xfrm>
          <a:prstGeom prst="rect">
            <a:avLst/>
          </a:prstGeom>
          <a:noFill/>
          <a:ln/>
        </p:spPr>
        <p:txBody>
          <a:bodyPr wrap="square" lIns="0" tIns="0" rIns="0" bIns="0" rtlCol="0" anchor="ctr"/>
          <a:lstStyle/>
          <a:p>
            <a:pPr indent="0" marL="0">
              <a:buNone/>
            </a:pPr>
            <a:r>
              <a:rPr lang="en-US" sz="1600" dirty="0">
                <a:solidFill>
                  <a:schemeClr val="bg1"/>
                </a:solidFill>
              </a:rPr>
              <a:t>fewer riders turned away</a:t>
            </a:r>
            <a:endParaRPr lang="en-US" sz="1600" dirty="0"/>
          </a:p>
        </p:txBody>
      </p:sp>
      <p:sp>
        <p:nvSpPr>
          <p:cNvPr id="8" name="Shape 6"/>
          <p:cNvSpPr/>
          <p:nvPr/>
        </p:nvSpPr>
        <p:spPr>
          <a:xfrm>
            <a:off x="7589520" y="3429000"/>
            <a:ext cx="4023360" cy="1691640"/>
          </a:xfrm>
          <a:prstGeom prst="roundRect">
            <a:avLst>
              <a:gd name="adj" fmla="val 4324"/>
            </a:avLst>
          </a:prstGeom>
          <a:solidFill>
            <a:srgbClr val="22344F"/>
          </a:solidFill>
          <a:ln/>
        </p:spPr>
      </p:sp>
      <p:sp>
        <p:nvSpPr>
          <p:cNvPr id="9" name="Text 7"/>
          <p:cNvSpPr txBox="1"/>
          <p:nvPr/>
        </p:nvSpPr>
        <p:spPr>
          <a:xfrm>
            <a:off x="7863840" y="3611880"/>
            <a:ext cx="3657600" cy="822960"/>
          </a:xfrm>
          <a:prstGeom prst="rect">
            <a:avLst/>
          </a:prstGeom>
          <a:noFill/>
          <a:ln/>
        </p:spPr>
        <p:txBody>
          <a:bodyPr wrap="square" lIns="0" tIns="0" rIns="0" bIns="0" rtlCol="0" anchor="ctr"/>
          <a:lstStyle/>
          <a:p>
            <a:pPr indent="0" marL="0">
              <a:buNone/>
            </a:pPr>
            <a:r>
              <a:rPr lang="en-US" sz="5400" b="1" dirty="0">
                <a:solidFill>
                  <a:srgbClr val="6FA3EA"/>
                </a:solidFill>
              </a:rPr>
              <a:t>57%</a:t>
            </a:r>
            <a:endParaRPr lang="en-US" sz="5400" dirty="0"/>
          </a:p>
        </p:txBody>
      </p:sp>
      <p:sp>
        <p:nvSpPr>
          <p:cNvPr id="10" name="Text 8"/>
          <p:cNvSpPr txBox="1"/>
          <p:nvPr/>
        </p:nvSpPr>
        <p:spPr>
          <a:xfrm>
            <a:off x="7863840" y="4434840"/>
            <a:ext cx="3657600" cy="548640"/>
          </a:xfrm>
          <a:prstGeom prst="rect">
            <a:avLst/>
          </a:prstGeom>
          <a:noFill/>
          <a:ln/>
        </p:spPr>
        <p:txBody>
          <a:bodyPr wrap="square" lIns="0" tIns="0" rIns="0" bIns="0" rtlCol="0" anchor="ctr"/>
          <a:lstStyle/>
          <a:p>
            <a:pPr indent="0" marL="0">
              <a:buNone/>
            </a:pPr>
            <a:r>
              <a:rPr lang="en-US" sz="1600" dirty="0">
                <a:solidFill>
                  <a:schemeClr val="bg1"/>
                </a:solidFill>
              </a:rPr>
              <a:t>fewer bikes moved</a:t>
            </a:r>
            <a:endParaRPr lang="en-US" sz="1600" dirty="0"/>
          </a:p>
        </p:txBody>
      </p:sp>
      <p:sp>
        <p:nvSpPr>
          <p:cNvPr id="11" name="Text 9"/>
          <p:cNvSpPr txBox="1"/>
          <p:nvPr/>
        </p:nvSpPr>
        <p:spPr>
          <a:xfrm>
            <a:off x="7589520" y="5257800"/>
            <a:ext cx="4023360" cy="457200"/>
          </a:xfrm>
          <a:prstGeom prst="rect">
            <a:avLst/>
          </a:prstGeom>
          <a:noFill/>
          <a:ln/>
        </p:spPr>
        <p:txBody>
          <a:bodyPr wrap="square" lIns="0" tIns="0" rIns="0" bIns="0" rtlCol="0" anchor="ctr"/>
          <a:lstStyle/>
          <a:p>
            <a:pPr indent="0" marL="0">
              <a:buNone/>
            </a:pPr>
            <a:r>
              <a:rPr lang="en-US" sz="1300" dirty="0">
                <a:solidFill>
                  <a:srgbClr val="C9D3E3"/>
                </a:solidFill>
              </a:rPr>
              <a:t>than resetting every station to half full each night</a:t>
            </a:r>
            <a:endParaRPr lang="en-US" sz="1300" dirty="0"/>
          </a:p>
        </p:txBody>
      </p:sp>
      <p:sp>
        <p:nvSpPr>
          <p:cNvPr id="13" name="Text 0"/>
          <p:cNvSpPr/>
          <p:nvPr>
            <p:ph idx="100" type="title" hasCustomPrompt="1"/>
          </p:nvPr>
        </p:nvSpPr>
        <p:spPr>
          <a:xfrm>
            <a:off x="548640" y="320040"/>
            <a:ext cx="11094415" cy="868680"/>
          </a:xfrm>
          <a:prstGeom prst="rect">
            <a:avLst/>
          </a:prstGeom>
          <a:noFill/>
          <a:ln/>
        </p:spPr>
        <p:txBody>
          <a:bodyPr wrap="square" lIns="0" tIns="0" rIns="0" bIns="0" rtlCol="0" anchor="t"/>
          <a:lstStyle/>
          <a:p>
            <a:pPr algn="l" indent="0" marL="0">
              <a:buNone/>
            </a:pPr>
            <a:endParaRPr lang="en-US" sz="2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68680"/>
          </a:xfrm>
          <a:prstGeom prst="rect">
            <a:avLst/>
          </a:prstGeom>
          <a:noFill/>
          <a:ln/>
        </p:spPr>
        <p:txBody>
          <a:bodyPr wrap="square" lIns="0" tIns="0" rIns="0" bIns="0" rtlCol="0" anchor="t"/>
          <a:lstStyle/>
          <a:p>
            <a:pPr algn="l" indent="0" marL="0">
              <a:buNone/>
            </a:pPr>
            <a:r>
              <a:rPr lang="en-US" sz="2800" b="1" dirty="0">
                <a:solidFill>
                  <a:schemeClr val="tx1"/>
                </a:solidFill>
              </a:rPr>
              <a:t>Every workday morning, homes drain into the offices</a:t>
            </a:r>
            <a:endParaRPr lang="en-US" sz="2800" dirty="0"/>
          </a:p>
        </p:txBody>
      </p:sp>
      <p:pic>
        <p:nvPicPr>
          <p:cNvPr id="3" name="rush map" descr="rush map">    </p:cNvPr>
          <p:cNvPicPr>
            <a:picLocks noChangeAspect="1"/>
          </p:cNvPicPr>
          <p:nvPr/>
        </p:nvPicPr>
        <p:blipFill>
          <a:blip r:embed="rId1"/>
          <a:stretch>
            <a:fillRect/>
          </a:stretch>
        </p:blipFill>
        <p:spPr>
          <a:xfrm>
            <a:off x="588667" y="1325880"/>
            <a:ext cx="7143707" cy="4709160"/>
          </a:xfrm>
          <a:prstGeom prst="rect">
            <a:avLst/>
          </a:prstGeom>
        </p:spPr>
      </p:pic>
      <p:sp>
        <p:nvSpPr>
          <p:cNvPr id="4" name="caption"/>
          <p:cNvSpPr txBox="1"/>
          <p:nvPr/>
        </p:nvSpPr>
        <p:spPr>
          <a:xfrm>
            <a:off x="548640" y="6080760"/>
            <a:ext cx="7223760" cy="320040"/>
          </a:xfrm>
          <a:prstGeom prst="rect">
            <a:avLst/>
          </a:prstGeom>
          <a:noFill/>
          <a:ln/>
        </p:spPr>
        <p:txBody>
          <a:bodyPr wrap="square" lIns="0" tIns="0" rIns="0" bIns="0" rtlCol="0" anchor="ctr"/>
          <a:lstStyle/>
          <a:p>
            <a:pPr indent="0" marL="0">
              <a:buNone/>
            </a:pPr>
            <a:r>
              <a:rPr lang="en-US" sz="1100" dirty="0">
                <a:solidFill>
                  <a:schemeClr val="accent6"/>
                </a:solidFill>
              </a:rPr>
              <a:t>Bikes each station gains over a workday rush; red loses, blue gains. Development year.</a:t>
            </a:r>
            <a:endParaRPr lang="en-US" sz="1100" dirty="0"/>
          </a:p>
        </p:txBody>
      </p:sp>
      <p:sp>
        <p:nvSpPr>
          <p:cNvPr id="5" name="stat 9,400"/>
          <p:cNvSpPr txBox="1"/>
          <p:nvPr/>
        </p:nvSpPr>
        <p:spPr>
          <a:xfrm>
            <a:off x="8229600" y="1463040"/>
            <a:ext cx="3383280" cy="609600"/>
          </a:xfrm>
          <a:prstGeom prst="rect">
            <a:avLst/>
          </a:prstGeom>
          <a:noFill/>
          <a:ln/>
        </p:spPr>
        <p:txBody>
          <a:bodyPr wrap="square" lIns="0" tIns="0" rIns="0" bIns="0" rtlCol="0" anchor="b"/>
          <a:lstStyle/>
          <a:p>
            <a:pPr indent="0" marL="0">
              <a:buNone/>
            </a:pPr>
            <a:r>
              <a:rPr lang="en-US" sz="4000" b="1" dirty="0">
                <a:solidFill>
                  <a:schemeClr val="accent1"/>
                </a:solidFill>
              </a:rPr>
              <a:t>9,400</a:t>
            </a:r>
            <a:endParaRPr lang="en-US" sz="4000" dirty="0"/>
          </a:p>
        </p:txBody>
      </p:sp>
      <p:sp>
        <p:nvSpPr>
          <p:cNvPr id="6" name="stat label"/>
          <p:cNvSpPr txBox="1"/>
          <p:nvPr/>
        </p:nvSpPr>
        <p:spPr>
          <a:xfrm>
            <a:off x="8229600" y="2118360"/>
            <a:ext cx="3383280" cy="685800"/>
          </a:xfrm>
          <a:prstGeom prst="rect">
            <a:avLst/>
          </a:prstGeom>
          <a:noFill/>
          <a:ln/>
        </p:spPr>
        <p:txBody>
          <a:bodyPr wrap="square" lIns="0" tIns="0" rIns="0" bIns="0" rtlCol="0" anchor="t"/>
          <a:lstStyle/>
          <a:p>
            <a:pPr indent="0" marL="0">
              <a:buNone/>
            </a:pPr>
            <a:r>
              <a:rPr lang="en-US" sz="1400" dirty="0">
                <a:solidFill>
                  <a:schemeClr val="tx1"/>
                </a:solidFill>
              </a:rPr>
              <a:t>trips start in the 08:00 hour of a workday</a:t>
            </a:r>
            <a:endParaRPr lang="en-US" sz="1400" dirty="0"/>
          </a:p>
        </p:txBody>
      </p:sp>
      <p:sp>
        <p:nvSpPr>
          <p:cNvPr id="7" name="stat 1,055"/>
          <p:cNvSpPr txBox="1"/>
          <p:nvPr/>
        </p:nvSpPr>
        <p:spPr>
          <a:xfrm>
            <a:off x="8229600" y="2880360"/>
            <a:ext cx="3383280" cy="609600"/>
          </a:xfrm>
          <a:prstGeom prst="rect">
            <a:avLst/>
          </a:prstGeom>
          <a:noFill/>
          <a:ln/>
        </p:spPr>
        <p:txBody>
          <a:bodyPr wrap="square" lIns="0" tIns="0" rIns="0" bIns="0" rtlCol="0" anchor="b"/>
          <a:lstStyle/>
          <a:p>
            <a:pPr indent="0" marL="0">
              <a:buNone/>
            </a:pPr>
            <a:r>
              <a:rPr lang="en-US" sz="4000" b="1" dirty="0">
                <a:solidFill>
                  <a:schemeClr val="accent3"/>
                </a:solidFill>
              </a:rPr>
              <a:t>1,055</a:t>
            </a:r>
            <a:endParaRPr lang="en-US" sz="4000" dirty="0"/>
          </a:p>
        </p:txBody>
      </p:sp>
      <p:sp>
        <p:nvSpPr>
          <p:cNvPr id="8" name="stat label"/>
          <p:cNvSpPr txBox="1"/>
          <p:nvPr/>
        </p:nvSpPr>
        <p:spPr>
          <a:xfrm>
            <a:off x="8229600" y="3535680"/>
            <a:ext cx="3383280" cy="685800"/>
          </a:xfrm>
          <a:prstGeom prst="rect">
            <a:avLst/>
          </a:prstGeom>
          <a:noFill/>
          <a:ln/>
        </p:spPr>
        <p:txBody>
          <a:bodyPr wrap="square" lIns="0" tIns="0" rIns="0" bIns="0" rtlCol="0" anchor="t"/>
          <a:lstStyle/>
          <a:p>
            <a:pPr indent="0" marL="0">
              <a:buNone/>
            </a:pPr>
            <a:r>
              <a:rPr lang="en-US" sz="1400" dirty="0">
                <a:solidFill>
                  <a:schemeClr val="tx1"/>
                </a:solidFill>
              </a:rPr>
              <a:t>bikes leave Brooklyn each morning rush, while Manhattan gains 935</a:t>
            </a:r>
            <a:endParaRPr lang="en-US" sz="1400" dirty="0"/>
          </a:p>
        </p:txBody>
      </p:sp>
      <p:sp>
        <p:nvSpPr>
          <p:cNvPr id="9" name="Text 6"/>
          <p:cNvSpPr txBox="1"/>
          <p:nvPr/>
        </p:nvSpPr>
        <p:spPr>
          <a:xfrm>
            <a:off x="8229600" y="4343400"/>
            <a:ext cx="3383280" cy="1188720"/>
          </a:xfrm>
          <a:prstGeom prst="rect">
            <a:avLst/>
          </a:prstGeom>
          <a:noFill/>
          <a:ln/>
        </p:spPr>
        <p:txBody>
          <a:bodyPr wrap="square" lIns="0" tIns="0" rIns="0" bIns="0" rtlCol="0" anchor="t"/>
          <a:lstStyle/>
          <a:p>
            <a:pPr indent="0" marL="0">
              <a:buNone/>
            </a:pPr>
            <a:r>
              <a:rPr lang="en-US" sz="1600" b="1" dirty="0">
                <a:solidFill>
                  <a:schemeClr val="tx1"/>
                </a:solidFill>
              </a:rPr>
              <a:t>Home stations run empty, office stations run full, and the evening runs it back.</a:t>
            </a:r>
            <a:endParaRPr lang="en-US" sz="1600" dirty="0"/>
          </a:p>
        </p:txBody>
      </p:sp>
      <p:sp>
        <p:nvSpPr>
          <p:cNvPr id="25" name="Slide Number Placeholder 0"/>
          <p:cNvSpPr>
            <a:spLocks noGrp="1"/>
          </p:cNvSpPr>
          <p:nvPr>
            <p:ph type="sldNum" sz="quarter" idx="4294967295"/>
          </p:nvPr>
        </p:nvSpPr>
        <p:spPr>
          <a:xfrm>
            <a:off x="1118585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68680"/>
          </a:xfrm>
          <a:prstGeom prst="rect">
            <a:avLst/>
          </a:prstGeom>
          <a:noFill/>
          <a:ln/>
        </p:spPr>
        <p:txBody>
          <a:bodyPr wrap="square" lIns="0" tIns="0" rIns="0" bIns="0" rtlCol="0" anchor="t"/>
          <a:lstStyle/>
          <a:p>
            <a:pPr algn="l" indent="0" marL="0">
              <a:buNone/>
            </a:pPr>
            <a:r>
              <a:rPr lang="en-US" sz="2800" b="1" dirty="0">
                <a:solidFill>
                  <a:schemeClr val="tx1"/>
                </a:solidFill>
              </a:rPr>
              <a:t>Citi Bike moves 2,500 bikes a day, but its plan is not public</a:t>
            </a:r>
            <a:endParaRPr lang="en-US" sz="2800" dirty="0"/>
          </a:p>
        </p:txBody>
      </p:sp>
      <p:sp>
        <p:nvSpPr>
          <p:cNvPr id="3" name="Text 1"/>
          <p:cNvSpPr txBox="1"/>
          <p:nvPr/>
        </p:nvSpPr>
        <p:spPr>
          <a:xfrm>
            <a:off x="548640" y="1371600"/>
            <a:ext cx="5120640" cy="365760"/>
          </a:xfrm>
          <a:prstGeom prst="rect">
            <a:avLst/>
          </a:prstGeom>
          <a:noFill/>
          <a:ln/>
        </p:spPr>
        <p:txBody>
          <a:bodyPr wrap="square" lIns="0" tIns="0" rIns="0" bIns="0" rtlCol="0" anchor="ctr"/>
          <a:lstStyle/>
          <a:p>
            <a:pPr indent="0" marL="0">
              <a:buNone/>
            </a:pPr>
            <a:r>
              <a:rPr lang="en-US" sz="1600" b="1" dirty="0">
                <a:solidFill>
                  <a:schemeClr val="accent6"/>
                </a:solidFill>
              </a:rPr>
              <a:t>How Citi Bike rebalances today</a:t>
            </a:r>
            <a:endParaRPr lang="en-US" sz="1600" dirty="0"/>
          </a:p>
        </p:txBody>
      </p:sp>
      <p:sp>
        <p:nvSpPr>
          <p:cNvPr id="4" name="Shape 2"/>
          <p:cNvSpPr/>
          <p:nvPr/>
        </p:nvSpPr>
        <p:spPr>
          <a:xfrm>
            <a:off x="548640" y="1920240"/>
            <a:ext cx="731520" cy="731520"/>
          </a:xfrm>
          <a:prstGeom prst="ellipse">
            <a:avLst/>
          </a:prstGeom>
          <a:solidFill>
            <a:srgbClr val="E3ECF8"/>
          </a:solidFill>
          <a:ln/>
        </p:spPr>
      </p:sp>
      <p:pic>
        <p:nvPicPr>
          <p:cNvPr id="5" name="Image 0" descr="preencoded.png">    </p:cNvPr>
          <p:cNvPicPr>
            <a:picLocks noChangeAspect="1"/>
          </p:cNvPicPr>
          <p:nvPr/>
        </p:nvPicPr>
        <p:blipFill>
          <a:blip r:embed="rId1"/>
          <a:stretch>
            <a:fillRect/>
          </a:stretch>
        </p:blipFill>
        <p:spPr>
          <a:xfrm>
            <a:off x="731520" y="2103120"/>
            <a:ext cx="365760" cy="365760"/>
          </a:xfrm>
          <a:prstGeom prst="rect">
            <a:avLst/>
          </a:prstGeom>
        </p:spPr>
      </p:pic>
      <p:sp>
        <p:nvSpPr>
          <p:cNvPr id="6" name="Text 3"/>
          <p:cNvSpPr txBox="1"/>
          <p:nvPr/>
        </p:nvSpPr>
        <p:spPr>
          <a:xfrm>
            <a:off x="1508760" y="1901952"/>
            <a:ext cx="4206240" cy="365760"/>
          </a:xfrm>
          <a:prstGeom prst="rect">
            <a:avLst/>
          </a:prstGeom>
          <a:noFill/>
          <a:ln/>
        </p:spPr>
        <p:txBody>
          <a:bodyPr wrap="square" lIns="0" tIns="0" rIns="0" bIns="0" rtlCol="0" anchor="ctr"/>
          <a:lstStyle/>
          <a:p>
            <a:pPr indent="0" marL="0">
              <a:buNone/>
            </a:pPr>
            <a:r>
              <a:rPr lang="en-US" sz="1700" b="1" dirty="0">
                <a:solidFill>
                  <a:schemeClr val="tx1"/>
                </a:solidFill>
              </a:rPr>
              <a:t>Vans and box trucks</a:t>
            </a:r>
            <a:endParaRPr lang="en-US" sz="1700" dirty="0"/>
          </a:p>
        </p:txBody>
      </p:sp>
      <p:sp>
        <p:nvSpPr>
          <p:cNvPr id="7" name="Text 4"/>
          <p:cNvSpPr txBox="1"/>
          <p:nvPr/>
        </p:nvSpPr>
        <p:spPr>
          <a:xfrm>
            <a:off x="1508760" y="2267712"/>
            <a:ext cx="4206240" cy="457200"/>
          </a:xfrm>
          <a:prstGeom prst="rect">
            <a:avLst/>
          </a:prstGeom>
          <a:noFill/>
          <a:ln/>
        </p:spPr>
        <p:txBody>
          <a:bodyPr wrap="square" lIns="0" tIns="0" rIns="0" bIns="0" rtlCol="0" anchor="t"/>
          <a:lstStyle/>
          <a:p>
            <a:pPr indent="0" marL="0">
              <a:buNone/>
            </a:pPr>
            <a:r>
              <a:rPr lang="en-US" sz="1400" dirty="0">
                <a:solidFill>
                  <a:schemeClr val="accent6"/>
                </a:solidFill>
              </a:rPr>
              <a:t>bulk moves over longer distances, around the clock</a:t>
            </a:r>
            <a:endParaRPr lang="en-US" sz="1400" dirty="0"/>
          </a:p>
        </p:txBody>
      </p:sp>
      <p:sp>
        <p:nvSpPr>
          <p:cNvPr id="8" name="Shape 5"/>
          <p:cNvSpPr/>
          <p:nvPr/>
        </p:nvSpPr>
        <p:spPr>
          <a:xfrm>
            <a:off x="548640" y="2999232"/>
            <a:ext cx="731520" cy="731520"/>
          </a:xfrm>
          <a:prstGeom prst="ellipse">
            <a:avLst/>
          </a:prstGeom>
          <a:solidFill>
            <a:srgbClr val="E3ECF8"/>
          </a:solidFill>
          <a:ln/>
        </p:spPr>
      </p:sp>
      <p:pic>
        <p:nvPicPr>
          <p:cNvPr id="9" name="Image 1" descr="preencoded.png">    </p:cNvPr>
          <p:cNvPicPr>
            <a:picLocks noChangeAspect="1"/>
          </p:cNvPicPr>
          <p:nvPr/>
        </p:nvPicPr>
        <p:blipFill>
          <a:blip r:embed="rId2"/>
          <a:stretch>
            <a:fillRect/>
          </a:stretch>
        </p:blipFill>
        <p:spPr>
          <a:xfrm>
            <a:off x="731520" y="3182112"/>
            <a:ext cx="365760" cy="365760"/>
          </a:xfrm>
          <a:prstGeom prst="rect">
            <a:avLst/>
          </a:prstGeom>
        </p:spPr>
      </p:pic>
      <p:sp>
        <p:nvSpPr>
          <p:cNvPr id="10" name="Text 6"/>
          <p:cNvSpPr txBox="1"/>
          <p:nvPr/>
        </p:nvSpPr>
        <p:spPr>
          <a:xfrm>
            <a:off x="1508760" y="2980944"/>
            <a:ext cx="4206240" cy="365760"/>
          </a:xfrm>
          <a:prstGeom prst="rect">
            <a:avLst/>
          </a:prstGeom>
          <a:noFill/>
          <a:ln/>
        </p:spPr>
        <p:txBody>
          <a:bodyPr wrap="square" lIns="0" tIns="0" rIns="0" bIns="0" rtlCol="0" anchor="ctr"/>
          <a:lstStyle/>
          <a:p>
            <a:pPr indent="0" marL="0">
              <a:buNone/>
            </a:pPr>
            <a:r>
              <a:rPr lang="en-US" sz="1700" b="1" dirty="0">
                <a:solidFill>
                  <a:schemeClr val="tx1"/>
                </a:solidFill>
              </a:rPr>
              <a:t>Bike trains</a:t>
            </a:r>
            <a:endParaRPr lang="en-US" sz="1700" dirty="0"/>
          </a:p>
        </p:txBody>
      </p:sp>
      <p:sp>
        <p:nvSpPr>
          <p:cNvPr id="11" name="Text 7"/>
          <p:cNvSpPr txBox="1"/>
          <p:nvPr/>
        </p:nvSpPr>
        <p:spPr>
          <a:xfrm>
            <a:off x="1508760" y="3346704"/>
            <a:ext cx="4206240" cy="457200"/>
          </a:xfrm>
          <a:prstGeom prst="rect">
            <a:avLst/>
          </a:prstGeom>
          <a:noFill/>
          <a:ln/>
        </p:spPr>
        <p:txBody>
          <a:bodyPr wrap="square" lIns="0" tIns="0" rIns="0" bIns="0" rtlCol="0" anchor="t"/>
          <a:lstStyle/>
          <a:p>
            <a:pPr indent="0" marL="0">
              <a:buNone/>
            </a:pPr>
            <a:r>
              <a:rPr lang="en-US" sz="1400" dirty="0">
                <a:solidFill>
                  <a:schemeClr val="accent6"/>
                </a:solidFill>
              </a:rPr>
              <a:t>e-bikes towing 12 to 16 bikes on narrow streets</a:t>
            </a:r>
            <a:endParaRPr lang="en-US" sz="1400" dirty="0"/>
          </a:p>
        </p:txBody>
      </p:sp>
      <p:sp>
        <p:nvSpPr>
          <p:cNvPr id="12" name="Shape 8"/>
          <p:cNvSpPr/>
          <p:nvPr/>
        </p:nvSpPr>
        <p:spPr>
          <a:xfrm>
            <a:off x="548640" y="4078224"/>
            <a:ext cx="731520" cy="731520"/>
          </a:xfrm>
          <a:prstGeom prst="ellipse">
            <a:avLst/>
          </a:prstGeom>
          <a:solidFill>
            <a:srgbClr val="E3ECF8"/>
          </a:solidFill>
          <a:ln/>
        </p:spPr>
      </p:sp>
      <p:pic>
        <p:nvPicPr>
          <p:cNvPr id="13" name="Image 2" descr="preencoded.png">    </p:cNvPr>
          <p:cNvPicPr>
            <a:picLocks noChangeAspect="1"/>
          </p:cNvPicPr>
          <p:nvPr/>
        </p:nvPicPr>
        <p:blipFill>
          <a:blip r:embed="rId3"/>
          <a:stretch>
            <a:fillRect/>
          </a:stretch>
        </p:blipFill>
        <p:spPr>
          <a:xfrm>
            <a:off x="731520" y="4261104"/>
            <a:ext cx="365760" cy="365760"/>
          </a:xfrm>
          <a:prstGeom prst="rect">
            <a:avLst/>
          </a:prstGeom>
        </p:spPr>
      </p:pic>
      <p:sp>
        <p:nvSpPr>
          <p:cNvPr id="14" name="Text 9"/>
          <p:cNvSpPr txBox="1"/>
          <p:nvPr/>
        </p:nvSpPr>
        <p:spPr>
          <a:xfrm>
            <a:off x="1508760" y="4059936"/>
            <a:ext cx="4206240" cy="365760"/>
          </a:xfrm>
          <a:prstGeom prst="rect">
            <a:avLst/>
          </a:prstGeom>
          <a:noFill/>
          <a:ln/>
        </p:spPr>
        <p:txBody>
          <a:bodyPr wrap="square" lIns="0" tIns="0" rIns="0" bIns="0" rtlCol="0" anchor="ctr"/>
          <a:lstStyle/>
          <a:p>
            <a:pPr indent="0" marL="0">
              <a:buNone/>
            </a:pPr>
            <a:r>
              <a:rPr lang="en-US" sz="1700" b="1" dirty="0">
                <a:solidFill>
                  <a:schemeClr val="tx1"/>
                </a:solidFill>
              </a:rPr>
              <a:t>Valets</a:t>
            </a:r>
            <a:endParaRPr lang="en-US" sz="1700" dirty="0"/>
          </a:p>
        </p:txBody>
      </p:sp>
      <p:sp>
        <p:nvSpPr>
          <p:cNvPr id="15" name="Text 10"/>
          <p:cNvSpPr txBox="1"/>
          <p:nvPr/>
        </p:nvSpPr>
        <p:spPr>
          <a:xfrm>
            <a:off x="1508760" y="4425696"/>
            <a:ext cx="4206240" cy="457200"/>
          </a:xfrm>
          <a:prstGeom prst="rect">
            <a:avLst/>
          </a:prstGeom>
          <a:noFill/>
          <a:ln/>
        </p:spPr>
        <p:txBody>
          <a:bodyPr wrap="square" lIns="0" tIns="0" rIns="0" bIns="0" rtlCol="0" anchor="t"/>
          <a:lstStyle/>
          <a:p>
            <a:pPr indent="0" marL="0">
              <a:buNone/>
            </a:pPr>
            <a:r>
              <a:rPr lang="en-US" sz="1400" dirty="0">
                <a:solidFill>
                  <a:schemeClr val="accent6"/>
                </a:solidFill>
              </a:rPr>
              <a:t>staff at the busiest stations take bikes beyond the docks</a:t>
            </a:r>
            <a:endParaRPr lang="en-US" sz="1400" dirty="0"/>
          </a:p>
        </p:txBody>
      </p:sp>
      <p:sp>
        <p:nvSpPr>
          <p:cNvPr id="16" name="Shape 11"/>
          <p:cNvSpPr/>
          <p:nvPr/>
        </p:nvSpPr>
        <p:spPr>
          <a:xfrm>
            <a:off x="548640" y="5157216"/>
            <a:ext cx="731520" cy="731520"/>
          </a:xfrm>
          <a:prstGeom prst="ellipse">
            <a:avLst/>
          </a:prstGeom>
          <a:solidFill>
            <a:srgbClr val="E3ECF8"/>
          </a:solidFill>
          <a:ln/>
        </p:spPr>
      </p:sp>
      <p:pic>
        <p:nvPicPr>
          <p:cNvPr id="17" name="Image 3" descr="preencoded.png">    </p:cNvPr>
          <p:cNvPicPr>
            <a:picLocks noChangeAspect="1"/>
          </p:cNvPicPr>
          <p:nvPr/>
        </p:nvPicPr>
        <p:blipFill>
          <a:blip r:embed="rId4"/>
          <a:stretch>
            <a:fillRect/>
          </a:stretch>
        </p:blipFill>
        <p:spPr>
          <a:xfrm>
            <a:off x="731520" y="5340096"/>
            <a:ext cx="365760" cy="365760"/>
          </a:xfrm>
          <a:prstGeom prst="rect">
            <a:avLst/>
          </a:prstGeom>
        </p:spPr>
      </p:pic>
      <p:sp>
        <p:nvSpPr>
          <p:cNvPr id="18" name="Text 12"/>
          <p:cNvSpPr txBox="1"/>
          <p:nvPr/>
        </p:nvSpPr>
        <p:spPr>
          <a:xfrm>
            <a:off x="1508760" y="5138928"/>
            <a:ext cx="4206240" cy="365760"/>
          </a:xfrm>
          <a:prstGeom prst="rect">
            <a:avLst/>
          </a:prstGeom>
          <a:noFill/>
          <a:ln/>
        </p:spPr>
        <p:txBody>
          <a:bodyPr wrap="square" lIns="0" tIns="0" rIns="0" bIns="0" rtlCol="0" anchor="ctr"/>
          <a:lstStyle/>
          <a:p>
            <a:pPr indent="0" marL="0">
              <a:buNone/>
            </a:pPr>
            <a:r>
              <a:rPr lang="en-US" sz="1700" b="1" dirty="0">
                <a:solidFill>
                  <a:schemeClr val="tx1"/>
                </a:solidFill>
              </a:rPr>
              <a:t>Bike Angels</a:t>
            </a:r>
            <a:endParaRPr lang="en-US" sz="1700" dirty="0"/>
          </a:p>
        </p:txBody>
      </p:sp>
      <p:sp>
        <p:nvSpPr>
          <p:cNvPr id="19" name="Text 13"/>
          <p:cNvSpPr txBox="1"/>
          <p:nvPr/>
        </p:nvSpPr>
        <p:spPr>
          <a:xfrm>
            <a:off x="1508760" y="5504688"/>
            <a:ext cx="4206240" cy="457200"/>
          </a:xfrm>
          <a:prstGeom prst="rect">
            <a:avLst/>
          </a:prstGeom>
          <a:noFill/>
          <a:ln/>
        </p:spPr>
        <p:txBody>
          <a:bodyPr wrap="square" lIns="0" tIns="0" rIns="0" bIns="0" rtlCol="0" anchor="t"/>
          <a:lstStyle/>
          <a:p>
            <a:pPr indent="0" marL="0">
              <a:buNone/>
            </a:pPr>
            <a:r>
              <a:rPr lang="en-US" sz="1400" dirty="0">
                <a:solidFill>
                  <a:schemeClr val="accent6"/>
                </a:solidFill>
              </a:rPr>
              <a:t>members earn points for riding from full to empty stations</a:t>
            </a:r>
            <a:endParaRPr lang="en-US" sz="1400" dirty="0"/>
          </a:p>
        </p:txBody>
      </p:sp>
      <p:sp>
        <p:nvSpPr>
          <p:cNvPr id="20" name="Shape 14"/>
          <p:cNvSpPr/>
          <p:nvPr/>
        </p:nvSpPr>
        <p:spPr>
          <a:xfrm>
            <a:off x="6400800" y="1371600"/>
            <a:ext cx="5239512" cy="3017520"/>
          </a:xfrm>
          <a:prstGeom prst="roundRect">
            <a:avLst>
              <a:gd name="adj" fmla="val 2424"/>
            </a:avLst>
          </a:prstGeom>
          <a:solidFill>
            <a:schemeClr val="tx2"/>
          </a:solidFill>
          <a:ln/>
        </p:spPr>
      </p:sp>
      <p:sp>
        <p:nvSpPr>
          <p:cNvPr id="21" name="Text 15"/>
          <p:cNvSpPr txBox="1"/>
          <p:nvPr/>
        </p:nvSpPr>
        <p:spPr>
          <a:xfrm>
            <a:off x="6720840" y="1600200"/>
            <a:ext cx="4572000" cy="320040"/>
          </a:xfrm>
          <a:prstGeom prst="rect">
            <a:avLst/>
          </a:prstGeom>
          <a:noFill/>
          <a:ln/>
        </p:spPr>
        <p:txBody>
          <a:bodyPr wrap="square" lIns="0" tIns="0" rIns="0" bIns="0" rtlCol="0" anchor="ctr"/>
          <a:lstStyle/>
          <a:p>
            <a:pPr indent="0" marL="0">
              <a:buNone/>
            </a:pPr>
            <a:r>
              <a:rPr lang="en-US" sz="1300" b="1" spc="200" kern="0" dirty="0">
                <a:solidFill>
                  <a:srgbClr val="6FA3EA"/>
                </a:solidFill>
              </a:rPr>
              <a:t>OUR QUESTION</a:t>
            </a:r>
            <a:endParaRPr lang="en-US" sz="1300" dirty="0"/>
          </a:p>
        </p:txBody>
      </p:sp>
      <p:sp>
        <p:nvSpPr>
          <p:cNvPr id="22" name="Text 16"/>
          <p:cNvSpPr txBox="1"/>
          <p:nvPr/>
        </p:nvSpPr>
        <p:spPr>
          <a:xfrm>
            <a:off x="6720840" y="2011680"/>
            <a:ext cx="4572000" cy="2240280"/>
          </a:xfrm>
          <a:prstGeom prst="rect">
            <a:avLst/>
          </a:prstGeom>
          <a:noFill/>
          <a:ln/>
        </p:spPr>
        <p:txBody>
          <a:bodyPr wrap="square" lIns="0" tIns="0" rIns="0" bIns="0" rtlCol="0" anchor="t"/>
          <a:lstStyle/>
          <a:p>
            <a:pPr indent="0" marL="0">
              <a:buNone/>
            </a:pPr>
            <a:r>
              <a:rPr lang="en-US" sz="1800" dirty="0">
                <a:solidFill>
                  <a:schemeClr val="bg1"/>
                </a:solidFill>
              </a:rPr>
              <a:t>Each night, which stations should Citi Bike restock or clear, and by how many bikes, to turn away the fewest riders for each bike it moves?</a:t>
            </a:r>
            <a:endParaRPr lang="en-US" sz="1800" dirty="0"/>
          </a:p>
          <a:p>
            <a:pPr indent="0" marL="0">
              <a:buNone/>
            </a:pPr>
            <a:endParaRPr lang="en-US" sz="1800" dirty="0"/>
          </a:p>
          <a:p>
            <a:pPr indent="0" marL="0">
              <a:buNone/>
            </a:pPr>
            <a:r>
              <a:rPr lang="en-US" sz="1800" dirty="0">
                <a:solidFill>
                  <a:schemeClr val="bg1"/>
                </a:solidFill>
              </a:rPr>
              <a:t>And is a second visit during the day worth it?</a:t>
            </a:r>
            <a:endParaRPr lang="en-US" sz="1800" dirty="0"/>
          </a:p>
        </p:txBody>
      </p:sp>
      <p:sp>
        <p:nvSpPr>
          <p:cNvPr id="23" name="Text 17"/>
          <p:cNvSpPr txBox="1"/>
          <p:nvPr/>
        </p:nvSpPr>
        <p:spPr>
          <a:xfrm>
            <a:off x="6400800" y="4617720"/>
            <a:ext cx="5239512" cy="640080"/>
          </a:xfrm>
          <a:prstGeom prst="rect">
            <a:avLst/>
          </a:prstGeom>
          <a:noFill/>
          <a:ln/>
        </p:spPr>
        <p:txBody>
          <a:bodyPr wrap="square" lIns="0" tIns="0" rIns="0" bIns="0" rtlCol="0" anchor="t"/>
          <a:lstStyle/>
          <a:p>
            <a:pPr indent="0" marL="0">
              <a:buNone/>
            </a:pPr>
            <a:r>
              <a:rPr lang="en-US" sz="1400" dirty="0">
                <a:solidFill>
                  <a:schemeClr val="tx1"/>
                </a:solidFill>
              </a:rPr>
              <a:t>It publishes bikes moved per month, but not targets or shortages. So we score against two benchmarks:</a:t>
            </a:r>
            <a:endParaRPr lang="en-US" sz="1400" dirty="0"/>
          </a:p>
        </p:txBody>
      </p:sp>
      <p:sp>
        <p:nvSpPr>
          <p:cNvPr id="24" name="card"/>
          <p:cNvSpPr/>
          <p:nvPr/>
        </p:nvSpPr>
        <p:spPr>
          <a:xfrm>
            <a:off x="6400800" y="5394960"/>
            <a:ext cx="2103120" cy="777240"/>
          </a:xfrm>
          <a:prstGeom prst="roundRect">
            <a:avLst>
              <a:gd name="adj" fmla="val 9412"/>
            </a:avLst>
          </a:prstGeom>
          <a:solidFill>
            <a:schemeClr val="bg2"/>
          </a:solidFill>
          <a:ln/>
        </p:spPr>
      </p:sp>
      <p:sp>
        <p:nvSpPr>
          <p:cNvPr id="25" name="Text 19"/>
          <p:cNvSpPr txBox="1"/>
          <p:nvPr/>
        </p:nvSpPr>
        <p:spPr>
          <a:xfrm>
            <a:off x="6583680" y="5394960"/>
            <a:ext cx="1737360" cy="777240"/>
          </a:xfrm>
          <a:prstGeom prst="rect">
            <a:avLst/>
          </a:prstGeom>
          <a:noFill/>
          <a:ln/>
        </p:spPr>
        <p:txBody>
          <a:bodyPr wrap="square" lIns="0" tIns="0" rIns="0" bIns="0" rtlCol="0" anchor="ctr"/>
          <a:lstStyle/>
          <a:p>
            <a:pPr indent="0" marL="0">
              <a:buNone/>
            </a:pPr>
            <a:r>
              <a:rPr lang="en-US" sz="1400" b="1" dirty="0">
                <a:solidFill>
                  <a:schemeClr val="tx1"/>
                </a:solidFill>
              </a:rPr>
              <a:t>Never move a bike</a:t>
            </a:r>
            <a:endParaRPr lang="en-US" sz="1400" dirty="0"/>
          </a:p>
        </p:txBody>
      </p:sp>
      <p:sp>
        <p:nvSpPr>
          <p:cNvPr id="26" name="card"/>
          <p:cNvSpPr/>
          <p:nvPr/>
        </p:nvSpPr>
        <p:spPr>
          <a:xfrm>
            <a:off x="8686800" y="5394960"/>
            <a:ext cx="2953512" cy="777240"/>
          </a:xfrm>
          <a:prstGeom prst="roundRect">
            <a:avLst>
              <a:gd name="adj" fmla="val 9412"/>
            </a:avLst>
          </a:prstGeom>
          <a:solidFill>
            <a:schemeClr val="bg2"/>
          </a:solidFill>
          <a:ln/>
        </p:spPr>
      </p:sp>
      <p:sp>
        <p:nvSpPr>
          <p:cNvPr id="27" name="Text 21"/>
          <p:cNvSpPr txBox="1"/>
          <p:nvPr/>
        </p:nvSpPr>
        <p:spPr>
          <a:xfrm>
            <a:off x="8869680" y="5394960"/>
            <a:ext cx="2587752" cy="777240"/>
          </a:xfrm>
          <a:prstGeom prst="rect">
            <a:avLst/>
          </a:prstGeom>
          <a:noFill/>
          <a:ln/>
        </p:spPr>
        <p:txBody>
          <a:bodyPr wrap="square" lIns="0" tIns="0" rIns="0" bIns="0" rtlCol="0" anchor="ctr"/>
          <a:lstStyle/>
          <a:p>
            <a:pPr indent="0" marL="0">
              <a:buNone/>
            </a:pPr>
            <a:r>
              <a:rPr lang="en-US" sz="1400" b="1" dirty="0">
                <a:solidFill>
                  <a:schemeClr val="tx1"/>
                </a:solidFill>
              </a:rPr>
              <a:t>Reset every station to half full each night</a:t>
            </a:r>
            <a:endParaRPr lang="en-US" sz="1400" dirty="0"/>
          </a:p>
        </p:txBody>
      </p:sp>
      <p:sp>
        <p:nvSpPr>
          <p:cNvPr id="25" name="Slide Number Placeholder 0"/>
          <p:cNvSpPr>
            <a:spLocks noGrp="1"/>
          </p:cNvSpPr>
          <p:nvPr>
            <p:ph type="sldNum" sz="quarter" idx="4294967295"/>
          </p:nvPr>
        </p:nvSpPr>
        <p:spPr>
          <a:xfrm>
            <a:off x="1118585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68680"/>
          </a:xfrm>
          <a:prstGeom prst="rect">
            <a:avLst/>
          </a:prstGeom>
          <a:noFill/>
          <a:ln/>
        </p:spPr>
        <p:txBody>
          <a:bodyPr wrap="square" lIns="0" tIns="0" rIns="0" bIns="0" rtlCol="0" anchor="t"/>
          <a:lstStyle/>
          <a:p>
            <a:pPr algn="l" indent="0" marL="0">
              <a:buNone/>
            </a:pPr>
            <a:r>
              <a:rPr lang="en-US" sz="2800" b="1" dirty="0">
                <a:solidFill>
                  <a:schemeClr val="tx1"/>
                </a:solidFill>
              </a:rPr>
              <a:t>We replay 92 million real trips through any schedule</a:t>
            </a:r>
            <a:endParaRPr lang="en-US" sz="2800" dirty="0"/>
          </a:p>
        </p:txBody>
      </p:sp>
      <p:sp>
        <p:nvSpPr>
          <p:cNvPr id="3" name="card"/>
          <p:cNvSpPr/>
          <p:nvPr/>
        </p:nvSpPr>
        <p:spPr>
          <a:xfrm>
            <a:off x="548640" y="1417320"/>
            <a:ext cx="2468880" cy="2011680"/>
          </a:xfrm>
          <a:prstGeom prst="roundRect">
            <a:avLst>
              <a:gd name="adj" fmla="val 3636"/>
            </a:avLst>
          </a:prstGeom>
          <a:solidFill>
            <a:schemeClr val="bg2"/>
          </a:solidFill>
          <a:ln/>
        </p:spPr>
      </p:sp>
      <p:sp>
        <p:nvSpPr>
          <p:cNvPr id="4" name="Text 2"/>
          <p:cNvSpPr txBox="1"/>
          <p:nvPr/>
        </p:nvSpPr>
        <p:spPr>
          <a:xfrm>
            <a:off x="731520" y="1600200"/>
            <a:ext cx="2103120" cy="457200"/>
          </a:xfrm>
          <a:prstGeom prst="rect">
            <a:avLst/>
          </a:prstGeom>
          <a:noFill/>
          <a:ln/>
        </p:spPr>
        <p:txBody>
          <a:bodyPr wrap="square" lIns="0" tIns="0" rIns="0" bIns="0" rtlCol="0" anchor="ctr"/>
          <a:lstStyle/>
          <a:p>
            <a:pPr indent="0" marL="0">
              <a:buNone/>
            </a:pPr>
            <a:r>
              <a:rPr lang="en-US" sz="1900" b="1" dirty="0">
                <a:solidFill>
                  <a:schemeClr val="tx1"/>
                </a:solidFill>
              </a:rPr>
              <a:t>92.1M trips</a:t>
            </a:r>
            <a:endParaRPr lang="en-US" sz="1900" dirty="0"/>
          </a:p>
        </p:txBody>
      </p:sp>
      <p:sp>
        <p:nvSpPr>
          <p:cNvPr id="5" name="Text 3"/>
          <p:cNvSpPr txBox="1"/>
          <p:nvPr/>
        </p:nvSpPr>
        <p:spPr>
          <a:xfrm>
            <a:off x="731520" y="2103120"/>
            <a:ext cx="2103120" cy="1234440"/>
          </a:xfrm>
          <a:prstGeom prst="rect">
            <a:avLst/>
          </a:prstGeom>
          <a:noFill/>
          <a:ln/>
        </p:spPr>
        <p:txBody>
          <a:bodyPr wrap="square" lIns="0" tIns="0" rIns="0" bIns="0" rtlCol="0" anchor="t"/>
          <a:lstStyle/>
          <a:p>
            <a:pPr indent="0" marL="0">
              <a:buNone/>
            </a:pPr>
            <a:r>
              <a:rPr lang="en-US" sz="1400" dirty="0">
                <a:solidFill>
                  <a:schemeClr val="tx1"/>
                </a:solidFill>
              </a:rPr>
              <a:t>every Citi Bike trip, Oct 2024 to Sep 2026, with start and end station and time</a:t>
            </a:r>
            <a:endParaRPr lang="en-US" sz="1400" dirty="0"/>
          </a:p>
        </p:txBody>
      </p:sp>
      <p:sp>
        <p:nvSpPr>
          <p:cNvPr id="6" name="Shape 4"/>
          <p:cNvSpPr/>
          <p:nvPr/>
        </p:nvSpPr>
        <p:spPr>
          <a:xfrm>
            <a:off x="3108960" y="2240280"/>
            <a:ext cx="182880" cy="365760"/>
          </a:xfrm>
          <a:prstGeom prst="chevron">
            <a:avLst/>
          </a:prstGeom>
          <a:solidFill>
            <a:schemeClr val="accent5"/>
          </a:solidFill>
          <a:ln/>
        </p:spPr>
      </p:sp>
      <p:sp>
        <p:nvSpPr>
          <p:cNvPr id="7" name="card"/>
          <p:cNvSpPr/>
          <p:nvPr/>
        </p:nvSpPr>
        <p:spPr>
          <a:xfrm>
            <a:off x="3383280" y="1417320"/>
            <a:ext cx="2468880" cy="2011680"/>
          </a:xfrm>
          <a:prstGeom prst="roundRect">
            <a:avLst>
              <a:gd name="adj" fmla="val 3636"/>
            </a:avLst>
          </a:prstGeom>
          <a:solidFill>
            <a:schemeClr val="bg2"/>
          </a:solidFill>
          <a:ln/>
        </p:spPr>
      </p:sp>
      <p:sp>
        <p:nvSpPr>
          <p:cNvPr id="8" name="Text 6"/>
          <p:cNvSpPr txBox="1"/>
          <p:nvPr/>
        </p:nvSpPr>
        <p:spPr>
          <a:xfrm>
            <a:off x="3566160" y="1600200"/>
            <a:ext cx="2103120" cy="457200"/>
          </a:xfrm>
          <a:prstGeom prst="rect">
            <a:avLst/>
          </a:prstGeom>
          <a:noFill/>
          <a:ln/>
        </p:spPr>
        <p:txBody>
          <a:bodyPr wrap="square" lIns="0" tIns="0" rIns="0" bIns="0" rtlCol="0" anchor="ctr"/>
          <a:lstStyle/>
          <a:p>
            <a:pPr indent="0" marL="0">
              <a:buNone/>
            </a:pPr>
            <a:r>
              <a:rPr lang="en-US" sz="1900" b="1" dirty="0">
                <a:solidFill>
                  <a:schemeClr val="tx1"/>
                </a:solidFill>
              </a:rPr>
              <a:t>Stock every 5 min</a:t>
            </a:r>
            <a:endParaRPr lang="en-US" sz="1900" dirty="0"/>
          </a:p>
        </p:txBody>
      </p:sp>
      <p:sp>
        <p:nvSpPr>
          <p:cNvPr id="9" name="Text 7"/>
          <p:cNvSpPr txBox="1"/>
          <p:nvPr/>
        </p:nvSpPr>
        <p:spPr>
          <a:xfrm>
            <a:off x="3566160" y="2103120"/>
            <a:ext cx="2103120" cy="1234440"/>
          </a:xfrm>
          <a:prstGeom prst="rect">
            <a:avLst/>
          </a:prstGeom>
          <a:noFill/>
          <a:ln/>
        </p:spPr>
        <p:txBody>
          <a:bodyPr wrap="square" lIns="0" tIns="0" rIns="0" bIns="0" rtlCol="0" anchor="t"/>
          <a:lstStyle/>
          <a:p>
            <a:pPr indent="0" marL="0">
              <a:buNone/>
            </a:pPr>
            <a:r>
              <a:rPr lang="en-US" sz="1400" dirty="0">
                <a:solidFill>
                  <a:schemeClr val="tx1"/>
                </a:solidFill>
              </a:rPr>
              <a:t>bikes in each of 2,470 stations rebuilt from trips leaving and arriving</a:t>
            </a:r>
            <a:endParaRPr lang="en-US" sz="1400" dirty="0"/>
          </a:p>
        </p:txBody>
      </p:sp>
      <p:sp>
        <p:nvSpPr>
          <p:cNvPr id="10" name="Shape 8"/>
          <p:cNvSpPr/>
          <p:nvPr/>
        </p:nvSpPr>
        <p:spPr>
          <a:xfrm>
            <a:off x="5943600" y="2240280"/>
            <a:ext cx="182880" cy="365760"/>
          </a:xfrm>
          <a:prstGeom prst="chevron">
            <a:avLst/>
          </a:prstGeom>
          <a:solidFill>
            <a:schemeClr val="accent5"/>
          </a:solidFill>
          <a:ln/>
        </p:spPr>
      </p:sp>
      <p:sp>
        <p:nvSpPr>
          <p:cNvPr id="11" name="card"/>
          <p:cNvSpPr/>
          <p:nvPr/>
        </p:nvSpPr>
        <p:spPr>
          <a:xfrm>
            <a:off x="6217920" y="1417320"/>
            <a:ext cx="2468880" cy="2011680"/>
          </a:xfrm>
          <a:prstGeom prst="roundRect">
            <a:avLst>
              <a:gd name="adj" fmla="val 3636"/>
            </a:avLst>
          </a:prstGeom>
          <a:solidFill>
            <a:schemeClr val="bg2"/>
          </a:solidFill>
          <a:ln/>
        </p:spPr>
      </p:sp>
      <p:sp>
        <p:nvSpPr>
          <p:cNvPr id="12" name="Text 10"/>
          <p:cNvSpPr txBox="1"/>
          <p:nvPr/>
        </p:nvSpPr>
        <p:spPr>
          <a:xfrm>
            <a:off x="6400800" y="1600200"/>
            <a:ext cx="2103120" cy="457200"/>
          </a:xfrm>
          <a:prstGeom prst="rect">
            <a:avLst/>
          </a:prstGeom>
          <a:noFill/>
          <a:ln/>
        </p:spPr>
        <p:txBody>
          <a:bodyPr wrap="square" lIns="0" tIns="0" rIns="0" bIns="0" rtlCol="0" anchor="ctr"/>
          <a:lstStyle/>
          <a:p>
            <a:pPr indent="0" marL="0">
              <a:buNone/>
            </a:pPr>
            <a:r>
              <a:rPr lang="en-US" sz="1900" b="1" dirty="0">
                <a:solidFill>
                  <a:schemeClr val="tx1"/>
                </a:solidFill>
              </a:rPr>
              <a:t>Replay a schedule</a:t>
            </a:r>
            <a:endParaRPr lang="en-US" sz="1900" dirty="0"/>
          </a:p>
        </p:txBody>
      </p:sp>
      <p:sp>
        <p:nvSpPr>
          <p:cNvPr id="13" name="Text 11"/>
          <p:cNvSpPr txBox="1"/>
          <p:nvPr/>
        </p:nvSpPr>
        <p:spPr>
          <a:xfrm>
            <a:off x="6400800" y="2103120"/>
            <a:ext cx="2103120" cy="1234440"/>
          </a:xfrm>
          <a:prstGeom prst="rect">
            <a:avLst/>
          </a:prstGeom>
          <a:noFill/>
          <a:ln/>
        </p:spPr>
        <p:txBody>
          <a:bodyPr wrap="square" lIns="0" tIns="0" rIns="0" bIns="0" rtlCol="0" anchor="t"/>
          <a:lstStyle/>
          <a:p>
            <a:pPr indent="0" marL="0">
              <a:buNone/>
            </a:pPr>
            <a:r>
              <a:rPr lang="en-US" sz="1400" dirty="0">
                <a:solidFill>
                  <a:schemeClr val="tx1"/>
                </a:solidFill>
              </a:rPr>
              <a:t>set each station's level at 04:00, then let the real riders come</a:t>
            </a:r>
            <a:endParaRPr lang="en-US" sz="1400" dirty="0"/>
          </a:p>
        </p:txBody>
      </p:sp>
      <p:sp>
        <p:nvSpPr>
          <p:cNvPr id="14" name="Shape 12"/>
          <p:cNvSpPr/>
          <p:nvPr/>
        </p:nvSpPr>
        <p:spPr>
          <a:xfrm>
            <a:off x="8778240" y="2240280"/>
            <a:ext cx="182880" cy="365760"/>
          </a:xfrm>
          <a:prstGeom prst="chevron">
            <a:avLst/>
          </a:prstGeom>
          <a:solidFill>
            <a:schemeClr val="accent5"/>
          </a:solidFill>
          <a:ln/>
        </p:spPr>
      </p:sp>
      <p:sp>
        <p:nvSpPr>
          <p:cNvPr id="15" name="card"/>
          <p:cNvSpPr/>
          <p:nvPr/>
        </p:nvSpPr>
        <p:spPr>
          <a:xfrm>
            <a:off x="9052560" y="1417320"/>
            <a:ext cx="2468880" cy="2011680"/>
          </a:xfrm>
          <a:prstGeom prst="roundRect">
            <a:avLst>
              <a:gd name="adj" fmla="val 3636"/>
            </a:avLst>
          </a:prstGeom>
          <a:solidFill>
            <a:srgbClr val="E3ECF8"/>
          </a:solidFill>
          <a:ln/>
        </p:spPr>
      </p:sp>
      <p:sp>
        <p:nvSpPr>
          <p:cNvPr id="16" name="Text 14"/>
          <p:cNvSpPr txBox="1"/>
          <p:nvPr/>
        </p:nvSpPr>
        <p:spPr>
          <a:xfrm>
            <a:off x="9235440" y="1600200"/>
            <a:ext cx="2103120" cy="457200"/>
          </a:xfrm>
          <a:prstGeom prst="rect">
            <a:avLst/>
          </a:prstGeom>
          <a:noFill/>
          <a:ln/>
        </p:spPr>
        <p:txBody>
          <a:bodyPr wrap="square" lIns="0" tIns="0" rIns="0" bIns="0" rtlCol="0" anchor="ctr"/>
          <a:lstStyle/>
          <a:p>
            <a:pPr indent="0" marL="0">
              <a:buNone/>
            </a:pPr>
            <a:r>
              <a:rPr lang="en-US" sz="1900" b="1" dirty="0">
                <a:solidFill>
                  <a:schemeClr val="accent4"/>
                </a:solidFill>
              </a:rPr>
              <a:t>Count the cost</a:t>
            </a:r>
            <a:endParaRPr lang="en-US" sz="1900" dirty="0"/>
          </a:p>
        </p:txBody>
      </p:sp>
      <p:sp>
        <p:nvSpPr>
          <p:cNvPr id="17" name="Text 15"/>
          <p:cNvSpPr txBox="1"/>
          <p:nvPr/>
        </p:nvSpPr>
        <p:spPr>
          <a:xfrm>
            <a:off x="9235440" y="2103120"/>
            <a:ext cx="2103120" cy="1234440"/>
          </a:xfrm>
          <a:prstGeom prst="rect">
            <a:avLst/>
          </a:prstGeom>
          <a:noFill/>
          <a:ln/>
        </p:spPr>
        <p:txBody>
          <a:bodyPr wrap="square" lIns="0" tIns="0" rIns="0" bIns="0" rtlCol="0" anchor="t"/>
          <a:lstStyle/>
          <a:p>
            <a:pPr indent="0" marL="0">
              <a:buNone/>
            </a:pPr>
            <a:r>
              <a:rPr lang="en-US" sz="1400" dirty="0">
                <a:solidFill>
                  <a:schemeClr val="tx1"/>
                </a:solidFill>
              </a:rPr>
              <a:t>riders turned away at an empty or full station, and bikes moved</a:t>
            </a:r>
            <a:endParaRPr lang="en-US" sz="1400" dirty="0"/>
          </a:p>
        </p:txBody>
      </p:sp>
      <p:sp>
        <p:nvSpPr>
          <p:cNvPr id="18" name="Text 16"/>
          <p:cNvSpPr txBox="1"/>
          <p:nvPr/>
        </p:nvSpPr>
        <p:spPr>
          <a:xfrm>
            <a:off x="548640" y="3840480"/>
            <a:ext cx="10972800" cy="365760"/>
          </a:xfrm>
          <a:prstGeom prst="rect">
            <a:avLst/>
          </a:prstGeom>
          <a:noFill/>
          <a:ln/>
        </p:spPr>
        <p:txBody>
          <a:bodyPr wrap="square" lIns="0" tIns="0" rIns="0" bIns="0" rtlCol="0" anchor="ctr"/>
          <a:lstStyle/>
          <a:p>
            <a:pPr indent="0" marL="0">
              <a:buNone/>
            </a:pPr>
            <a:r>
              <a:rPr lang="en-US" sz="1600" b="1" dirty="0">
                <a:solidFill>
                  <a:schemeClr val="accent6"/>
                </a:solidFill>
              </a:rPr>
              <a:t>Split by time, so nothing is tuned on the year it is scored on</a:t>
            </a:r>
            <a:endParaRPr lang="en-US" sz="1600" dirty="0"/>
          </a:p>
        </p:txBody>
      </p:sp>
      <p:sp>
        <p:nvSpPr>
          <p:cNvPr id="19" name="Shape 17"/>
          <p:cNvSpPr/>
          <p:nvPr/>
        </p:nvSpPr>
        <p:spPr>
          <a:xfrm>
            <a:off x="548640" y="4343400"/>
            <a:ext cx="5455768" cy="822960"/>
          </a:xfrm>
          <a:prstGeom prst="rect">
            <a:avLst/>
          </a:prstGeom>
          <a:solidFill>
            <a:schemeClr val="accent5"/>
          </a:solidFill>
          <a:ln/>
        </p:spPr>
      </p:sp>
      <p:sp>
        <p:nvSpPr>
          <p:cNvPr id="20" name="Shape 18"/>
          <p:cNvSpPr/>
          <p:nvPr/>
        </p:nvSpPr>
        <p:spPr>
          <a:xfrm>
            <a:off x="6187288" y="4343400"/>
            <a:ext cx="5455768" cy="822960"/>
          </a:xfrm>
          <a:prstGeom prst="rect">
            <a:avLst/>
          </a:prstGeom>
          <a:solidFill>
            <a:schemeClr val="accent1"/>
          </a:solidFill>
          <a:ln/>
        </p:spPr>
      </p:sp>
      <p:sp>
        <p:nvSpPr>
          <p:cNvPr id="21" name="Text 19"/>
          <p:cNvSpPr txBox="1"/>
          <p:nvPr/>
        </p:nvSpPr>
        <p:spPr>
          <a:xfrm>
            <a:off x="731520" y="4343400"/>
            <a:ext cx="5090008" cy="822960"/>
          </a:xfrm>
          <a:prstGeom prst="rect">
            <a:avLst/>
          </a:prstGeom>
          <a:noFill/>
          <a:ln/>
        </p:spPr>
        <p:txBody>
          <a:bodyPr wrap="square" lIns="0" tIns="0" rIns="0" bIns="0" rtlCol="0" anchor="ctr"/>
          <a:lstStyle/>
          <a:p>
            <a:pPr indent="0" marL="0">
              <a:buNone/>
            </a:pPr>
            <a:r>
              <a:rPr lang="en-US" sz="1500" b="1" dirty="0">
                <a:solidFill>
                  <a:schemeClr val="bg1"/>
                </a:solidFill>
              </a:rPr>
              <a:t>Development year  </a:t>
            </a:r>
            <a:pPr indent="0" marL="0">
              <a:buNone/>
            </a:pPr>
            <a:r>
              <a:rPr lang="en-US" sz="1500" dirty="0">
                <a:solidFill>
                  <a:schemeClr val="bg1"/>
                </a:solidFill>
              </a:rPr>
              <a:t>Oct 2024 to Sep 2025: explore, choose every setting</a:t>
            </a:r>
            <a:endParaRPr lang="en-US" sz="1500" dirty="0"/>
          </a:p>
        </p:txBody>
      </p:sp>
      <p:sp>
        <p:nvSpPr>
          <p:cNvPr id="22" name="Text 20"/>
          <p:cNvSpPr txBox="1"/>
          <p:nvPr/>
        </p:nvSpPr>
        <p:spPr>
          <a:xfrm>
            <a:off x="6370168" y="4343400"/>
            <a:ext cx="5090008" cy="822960"/>
          </a:xfrm>
          <a:prstGeom prst="rect">
            <a:avLst/>
          </a:prstGeom>
          <a:noFill/>
          <a:ln/>
        </p:spPr>
        <p:txBody>
          <a:bodyPr wrap="square" lIns="0" tIns="0" rIns="0" bIns="0" rtlCol="0" anchor="ctr"/>
          <a:lstStyle/>
          <a:p>
            <a:pPr indent="0" marL="0">
              <a:buNone/>
            </a:pPr>
            <a:r>
              <a:rPr lang="en-US" sz="1500" b="1" dirty="0">
                <a:solidFill>
                  <a:schemeClr val="bg1"/>
                </a:solidFill>
              </a:rPr>
              <a:t>Test year  </a:t>
            </a:r>
            <a:pPr indent="0" marL="0">
              <a:buNone/>
            </a:pPr>
            <a:r>
              <a:rPr lang="en-US" sz="1500" dirty="0">
                <a:solidFill>
                  <a:schemeClr val="bg1"/>
                </a:solidFill>
              </a:rPr>
              <a:t>Oct 2025 to Sep 2026: scored once</a:t>
            </a:r>
            <a:endParaRPr lang="en-US" sz="1500" dirty="0"/>
          </a:p>
        </p:txBody>
      </p:sp>
      <p:sp>
        <p:nvSpPr>
          <p:cNvPr id="23" name="Text 21"/>
          <p:cNvSpPr txBox="1"/>
          <p:nvPr/>
        </p:nvSpPr>
        <p:spPr>
          <a:xfrm>
            <a:off x="548640" y="5394960"/>
            <a:ext cx="11064240" cy="640080"/>
          </a:xfrm>
          <a:prstGeom prst="rect">
            <a:avLst/>
          </a:prstGeom>
          <a:noFill/>
          <a:ln/>
        </p:spPr>
        <p:txBody>
          <a:bodyPr wrap="square" lIns="0" tIns="0" rIns="0" bIns="0" rtlCol="0" anchor="t"/>
          <a:lstStyle/>
          <a:p>
            <a:pPr indent="0" marL="0">
              <a:buNone/>
            </a:pPr>
            <a:r>
              <a:rPr lang="en-US" sz="1500" dirty="0">
                <a:solidFill>
                  <a:schemeClr val="tx1"/>
                </a:solidFill>
              </a:rPr>
              <a:t>A rider turned away at an empty station never rides, so that bike never reaches the other end. Shortages ripple downstream.</a:t>
            </a:r>
            <a:endParaRPr lang="en-US" sz="1500" dirty="0"/>
          </a:p>
        </p:txBody>
      </p:sp>
      <p:sp>
        <p:nvSpPr>
          <p:cNvPr id="25" name="Slide Number Placeholder 0"/>
          <p:cNvSpPr>
            <a:spLocks noGrp="1"/>
          </p:cNvSpPr>
          <p:nvPr>
            <p:ph type="sldNum" sz="quarter" idx="4294967295"/>
          </p:nvPr>
        </p:nvSpPr>
        <p:spPr>
          <a:xfrm>
            <a:off x="1118585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68680"/>
          </a:xfrm>
          <a:prstGeom prst="rect">
            <a:avLst/>
          </a:prstGeom>
          <a:noFill/>
          <a:ln/>
        </p:spPr>
        <p:txBody>
          <a:bodyPr wrap="square" lIns="0" tIns="0" rIns="0" bIns="0" rtlCol="0" anchor="t"/>
          <a:lstStyle/>
          <a:p>
            <a:pPr algn="l" indent="0" marL="0">
              <a:buNone/>
            </a:pPr>
            <a:r>
              <a:rPr lang="en-US" sz="2800" b="1" dirty="0">
                <a:solidFill>
                  <a:schemeClr val="tx1"/>
                </a:solidFill>
              </a:rPr>
              <a:t>Each neighbourhood runs on its own clock</a:t>
            </a:r>
            <a:endParaRPr lang="en-US" sz="2800" dirty="0"/>
          </a:p>
        </p:txBody>
      </p:sp>
      <p:pic>
        <p:nvPicPr>
          <p:cNvPr id="3" name="neighbourhood clock" descr="neighbourhood clock">    </p:cNvPr>
          <p:cNvPicPr>
            <a:picLocks noChangeAspect="1"/>
          </p:cNvPicPr>
          <p:nvPr/>
        </p:nvPicPr>
        <p:blipFill>
          <a:blip r:embed="rId1"/>
          <a:stretch>
            <a:fillRect/>
          </a:stretch>
        </p:blipFill>
        <p:spPr>
          <a:xfrm>
            <a:off x="548640" y="1616691"/>
            <a:ext cx="7863840" cy="4127538"/>
          </a:xfrm>
          <a:prstGeom prst="rect">
            <a:avLst/>
          </a:prstGeom>
        </p:spPr>
      </p:pic>
      <p:sp>
        <p:nvSpPr>
          <p:cNvPr id="4" name="caption"/>
          <p:cNvSpPr txBox="1"/>
          <p:nvPr/>
        </p:nvSpPr>
        <p:spPr>
          <a:xfrm>
            <a:off x="548640" y="5789949"/>
            <a:ext cx="7863840" cy="320040"/>
          </a:xfrm>
          <a:prstGeom prst="rect">
            <a:avLst/>
          </a:prstGeom>
          <a:noFill/>
          <a:ln/>
        </p:spPr>
        <p:txBody>
          <a:bodyPr wrap="square" lIns="0" tIns="0" rIns="0" bIns="0" rtlCol="0" anchor="ctr"/>
          <a:lstStyle/>
          <a:p>
            <a:pPr indent="0" marL="0">
              <a:buNone/>
            </a:pPr>
            <a:r>
              <a:rPr lang="en-US" sz="1100" dirty="0">
                <a:solidFill>
                  <a:schemeClr val="accent6"/>
                </a:solidFill>
              </a:rPr>
              <a:t>Bikes gained per workday hour, 24 neighbourhoods with the largest swings. Development year.</a:t>
            </a:r>
            <a:endParaRPr lang="en-US" sz="1100" dirty="0"/>
          </a:p>
        </p:txBody>
      </p:sp>
      <p:sp>
        <p:nvSpPr>
          <p:cNvPr id="5" name="stat 726"/>
          <p:cNvSpPr txBox="1"/>
          <p:nvPr/>
        </p:nvSpPr>
        <p:spPr>
          <a:xfrm>
            <a:off x="8778240" y="1463040"/>
            <a:ext cx="2834640" cy="609600"/>
          </a:xfrm>
          <a:prstGeom prst="rect">
            <a:avLst/>
          </a:prstGeom>
          <a:noFill/>
          <a:ln/>
        </p:spPr>
        <p:txBody>
          <a:bodyPr wrap="square" lIns="0" tIns="0" rIns="0" bIns="0" rtlCol="0" anchor="b"/>
          <a:lstStyle/>
          <a:p>
            <a:pPr indent="0" marL="0">
              <a:buNone/>
            </a:pPr>
            <a:r>
              <a:rPr lang="en-US" sz="4000" b="1" dirty="0">
                <a:solidFill>
                  <a:schemeClr val="accent3"/>
                </a:solidFill>
              </a:rPr>
              <a:t>726</a:t>
            </a:r>
            <a:endParaRPr lang="en-US" sz="4000" dirty="0"/>
          </a:p>
        </p:txBody>
      </p:sp>
      <p:sp>
        <p:nvSpPr>
          <p:cNvPr id="6" name="stat label"/>
          <p:cNvSpPr txBox="1"/>
          <p:nvPr/>
        </p:nvSpPr>
        <p:spPr>
          <a:xfrm>
            <a:off x="8778240" y="2118360"/>
            <a:ext cx="2834640" cy="685800"/>
          </a:xfrm>
          <a:prstGeom prst="rect">
            <a:avLst/>
          </a:prstGeom>
          <a:noFill/>
          <a:ln/>
        </p:spPr>
        <p:txBody>
          <a:bodyPr wrap="square" lIns="0" tIns="0" rIns="0" bIns="0" rtlCol="0" anchor="t"/>
          <a:lstStyle/>
          <a:p>
            <a:pPr indent="0" marL="0">
              <a:buNone/>
            </a:pPr>
            <a:r>
              <a:rPr lang="en-US" sz="1400" dirty="0">
                <a:solidFill>
                  <a:schemeClr val="tx1"/>
                </a:solidFill>
              </a:rPr>
              <a:t>bikes leave the East Village over the morning rush</a:t>
            </a:r>
            <a:endParaRPr lang="en-US" sz="1400" dirty="0"/>
          </a:p>
        </p:txBody>
      </p:sp>
      <p:sp>
        <p:nvSpPr>
          <p:cNvPr id="7" name="stat 1,119"/>
          <p:cNvSpPr txBox="1"/>
          <p:nvPr/>
        </p:nvSpPr>
        <p:spPr>
          <a:xfrm>
            <a:off x="8778240" y="2834640"/>
            <a:ext cx="2834640" cy="609600"/>
          </a:xfrm>
          <a:prstGeom prst="rect">
            <a:avLst/>
          </a:prstGeom>
          <a:noFill/>
          <a:ln/>
        </p:spPr>
        <p:txBody>
          <a:bodyPr wrap="square" lIns="0" tIns="0" rIns="0" bIns="0" rtlCol="0" anchor="b"/>
          <a:lstStyle/>
          <a:p>
            <a:pPr indent="0" marL="0">
              <a:buNone/>
            </a:pPr>
            <a:r>
              <a:rPr lang="en-US" sz="4000" b="1" dirty="0">
                <a:solidFill>
                  <a:schemeClr val="accent1"/>
                </a:solidFill>
              </a:rPr>
              <a:t>1,119</a:t>
            </a:r>
            <a:endParaRPr lang="en-US" sz="4000" dirty="0"/>
          </a:p>
        </p:txBody>
      </p:sp>
      <p:sp>
        <p:nvSpPr>
          <p:cNvPr id="8" name="stat label"/>
          <p:cNvSpPr txBox="1"/>
          <p:nvPr/>
        </p:nvSpPr>
        <p:spPr>
          <a:xfrm>
            <a:off x="8778240" y="3489960"/>
            <a:ext cx="2834640" cy="685800"/>
          </a:xfrm>
          <a:prstGeom prst="rect">
            <a:avLst/>
          </a:prstGeom>
          <a:noFill/>
          <a:ln/>
        </p:spPr>
        <p:txBody>
          <a:bodyPr wrap="square" lIns="0" tIns="0" rIns="0" bIns="0" rtlCol="0" anchor="t"/>
          <a:lstStyle/>
          <a:p>
            <a:pPr indent="0" marL="0">
              <a:buNone/>
            </a:pPr>
            <a:r>
              <a:rPr lang="en-US" sz="1400" dirty="0">
                <a:solidFill>
                  <a:schemeClr val="tx1"/>
                </a:solidFill>
              </a:rPr>
              <a:t>arrive in Midtown and Times Square over the same hours</a:t>
            </a:r>
            <a:endParaRPr lang="en-US" sz="1400" dirty="0"/>
          </a:p>
        </p:txBody>
      </p:sp>
      <p:sp>
        <p:nvSpPr>
          <p:cNvPr id="9" name="Text 6"/>
          <p:cNvSpPr txBox="1"/>
          <p:nvPr/>
        </p:nvSpPr>
        <p:spPr>
          <a:xfrm>
            <a:off x="8778240" y="4251960"/>
            <a:ext cx="2834640" cy="1463040"/>
          </a:xfrm>
          <a:prstGeom prst="rect">
            <a:avLst/>
          </a:prstGeom>
          <a:noFill/>
          <a:ln/>
        </p:spPr>
        <p:txBody>
          <a:bodyPr wrap="square" lIns="0" tIns="0" rIns="0" bIns="0" rtlCol="0" anchor="t"/>
          <a:lstStyle/>
          <a:p>
            <a:pPr indent="0" marL="0">
              <a:buNone/>
            </a:pPr>
            <a:r>
              <a:rPr lang="en-US" sz="1500" b="1" dirty="0">
                <a:solidFill>
                  <a:schemeClr val="tx1"/>
                </a:solidFill>
              </a:rPr>
              <a:t>Offices drain in a sharp window from 16:00 to 19:00, so a visit at 14:00 can still help them.</a:t>
            </a:r>
            <a:endParaRPr lang="en-US" sz="1500" dirty="0"/>
          </a:p>
        </p:txBody>
      </p:sp>
      <p:sp>
        <p:nvSpPr>
          <p:cNvPr id="25" name="Slide Number Placeholder 0"/>
          <p:cNvSpPr>
            <a:spLocks noGrp="1"/>
          </p:cNvSpPr>
          <p:nvPr>
            <p:ph type="sldNum" sz="quarter" idx="4294967295"/>
          </p:nvPr>
        </p:nvSpPr>
        <p:spPr>
          <a:xfrm>
            <a:off x="1118585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68680"/>
          </a:xfrm>
          <a:prstGeom prst="rect">
            <a:avLst/>
          </a:prstGeom>
          <a:noFill/>
          <a:ln/>
        </p:spPr>
        <p:txBody>
          <a:bodyPr wrap="square" lIns="0" tIns="0" rIns="0" bIns="0" rtlCol="0" anchor="t"/>
          <a:lstStyle/>
          <a:p>
            <a:pPr algn="l" indent="0" marL="0">
              <a:buNone/>
            </a:pPr>
            <a:r>
              <a:rPr lang="en-US" sz="2800" b="1" dirty="0">
                <a:solidFill>
                  <a:schemeClr val="tx1"/>
                </a:solidFill>
              </a:rPr>
              <a:t>Tomorrow looks like the last ten days, so plan it the night before</a:t>
            </a:r>
            <a:endParaRPr lang="en-US" sz="2800" dirty="0"/>
          </a:p>
        </p:txBody>
      </p:sp>
      <p:sp>
        <p:nvSpPr>
          <p:cNvPr id="3" name="Text 1"/>
          <p:cNvSpPr txBox="1"/>
          <p:nvPr/>
        </p:nvSpPr>
        <p:spPr>
          <a:xfrm>
            <a:off x="548640" y="1325880"/>
            <a:ext cx="1737360" cy="685800"/>
          </a:xfrm>
          <a:prstGeom prst="rect">
            <a:avLst/>
          </a:prstGeom>
          <a:noFill/>
          <a:ln/>
        </p:spPr>
        <p:txBody>
          <a:bodyPr wrap="square" lIns="0" tIns="0" rIns="0" bIns="0" rtlCol="0" anchor="ctr"/>
          <a:lstStyle/>
          <a:p>
            <a:pPr indent="0" marL="0">
              <a:buNone/>
            </a:pPr>
            <a:r>
              <a:rPr lang="en-US" sz="4000" b="1" dirty="0">
                <a:solidFill>
                  <a:schemeClr val="accent1"/>
                </a:solidFill>
              </a:rPr>
              <a:t>0.998</a:t>
            </a:r>
            <a:endParaRPr lang="en-US" sz="4000" dirty="0"/>
          </a:p>
        </p:txBody>
      </p:sp>
      <p:sp>
        <p:nvSpPr>
          <p:cNvPr id="4" name="Text 2"/>
          <p:cNvSpPr txBox="1"/>
          <p:nvPr/>
        </p:nvSpPr>
        <p:spPr>
          <a:xfrm>
            <a:off x="2377440" y="1325880"/>
            <a:ext cx="3489808" cy="685800"/>
          </a:xfrm>
          <a:prstGeom prst="rect">
            <a:avLst/>
          </a:prstGeom>
          <a:noFill/>
          <a:ln/>
        </p:spPr>
        <p:txBody>
          <a:bodyPr wrap="square" lIns="0" tIns="0" rIns="0" bIns="0" rtlCol="0" anchor="ctr"/>
          <a:lstStyle/>
          <a:p>
            <a:pPr indent="0" marL="0">
              <a:buNone/>
            </a:pPr>
            <a:r>
              <a:rPr lang="en-US" sz="1500" dirty="0">
                <a:solidFill>
                  <a:schemeClr val="tx1"/>
                </a:solidFill>
              </a:rPr>
              <a:t>a station's morning flow, odd weeks against even weeks</a:t>
            </a:r>
            <a:endParaRPr lang="en-US" sz="1500" dirty="0"/>
          </a:p>
        </p:txBody>
      </p:sp>
      <p:pic>
        <p:nvPicPr>
          <p:cNvPr id="5" name="fig4-habit.png" descr="fig4-habit.png">    </p:cNvPr>
          <p:cNvPicPr>
            <a:picLocks noChangeAspect="1"/>
          </p:cNvPicPr>
          <p:nvPr/>
        </p:nvPicPr>
        <p:blipFill>
          <a:blip r:embed="rId1"/>
          <a:stretch>
            <a:fillRect/>
          </a:stretch>
        </p:blipFill>
        <p:spPr>
          <a:xfrm>
            <a:off x="1098802" y="2103120"/>
            <a:ext cx="4218284" cy="3383280"/>
          </a:xfrm>
          <a:prstGeom prst="rect">
            <a:avLst/>
          </a:prstGeom>
        </p:spPr>
      </p:pic>
      <p:sp>
        <p:nvSpPr>
          <p:cNvPr id="6" name="Text 3"/>
          <p:cNvSpPr txBox="1"/>
          <p:nvPr/>
        </p:nvSpPr>
        <p:spPr>
          <a:xfrm>
            <a:off x="6324448" y="1325880"/>
            <a:ext cx="1737360" cy="685800"/>
          </a:xfrm>
          <a:prstGeom prst="rect">
            <a:avLst/>
          </a:prstGeom>
          <a:noFill/>
          <a:ln/>
        </p:spPr>
        <p:txBody>
          <a:bodyPr wrap="square" lIns="0" tIns="0" rIns="0" bIns="0" rtlCol="0" anchor="ctr"/>
          <a:lstStyle/>
          <a:p>
            <a:pPr indent="0" marL="0">
              <a:buNone/>
            </a:pPr>
            <a:r>
              <a:rPr lang="en-US" sz="4000" b="1" dirty="0">
                <a:solidFill>
                  <a:schemeClr val="accent1"/>
                </a:solidFill>
              </a:rPr>
              <a:t>0.90</a:t>
            </a:r>
            <a:endParaRPr lang="en-US" sz="4000" dirty="0"/>
          </a:p>
        </p:txBody>
      </p:sp>
      <p:sp>
        <p:nvSpPr>
          <p:cNvPr id="7" name="Text 4"/>
          <p:cNvSpPr txBox="1"/>
          <p:nvPr/>
        </p:nvSpPr>
        <p:spPr>
          <a:xfrm>
            <a:off x="8153248" y="1325880"/>
            <a:ext cx="3489808" cy="685800"/>
          </a:xfrm>
          <a:prstGeom prst="rect">
            <a:avLst/>
          </a:prstGeom>
          <a:noFill/>
          <a:ln/>
        </p:spPr>
        <p:txBody>
          <a:bodyPr wrap="square" lIns="0" tIns="0" rIns="0" bIns="0" rtlCol="0" anchor="ctr"/>
          <a:lstStyle/>
          <a:p>
            <a:pPr indent="0" marL="0">
              <a:buNone/>
            </a:pPr>
            <a:r>
              <a:rPr lang="en-US" sz="1500" dirty="0">
                <a:solidFill>
                  <a:schemeClr val="tx1"/>
                </a:solidFill>
              </a:rPr>
              <a:t>one day against the average of its last 10 workdays</a:t>
            </a:r>
            <a:endParaRPr lang="en-US" sz="1500" dirty="0"/>
          </a:p>
        </p:txBody>
      </p:sp>
      <p:pic>
        <p:nvPicPr>
          <p:cNvPr id="8" name="fig5-single-day.png" descr="fig5-single-day.png">    </p:cNvPr>
          <p:cNvPicPr>
            <a:picLocks noChangeAspect="1"/>
          </p:cNvPicPr>
          <p:nvPr/>
        </p:nvPicPr>
        <p:blipFill>
          <a:blip r:embed="rId2"/>
          <a:stretch>
            <a:fillRect/>
          </a:stretch>
        </p:blipFill>
        <p:spPr>
          <a:xfrm>
            <a:off x="6874609" y="2103120"/>
            <a:ext cx="4218284" cy="3383280"/>
          </a:xfrm>
          <a:prstGeom prst="rect">
            <a:avLst/>
          </a:prstGeom>
        </p:spPr>
      </p:pic>
      <p:sp>
        <p:nvSpPr>
          <p:cNvPr id="9" name="caption"/>
          <p:cNvSpPr txBox="1"/>
          <p:nvPr/>
        </p:nvSpPr>
        <p:spPr>
          <a:xfrm>
            <a:off x="548640" y="5559552"/>
            <a:ext cx="10972800" cy="320040"/>
          </a:xfrm>
          <a:prstGeom prst="rect">
            <a:avLst/>
          </a:prstGeom>
          <a:noFill/>
          <a:ln/>
        </p:spPr>
        <p:txBody>
          <a:bodyPr wrap="square" lIns="0" tIns="0" rIns="0" bIns="0" rtlCol="0" anchor="ctr"/>
          <a:lstStyle/>
          <a:p>
            <a:pPr indent="0" marL="0">
              <a:buNone/>
            </a:pPr>
            <a:r>
              <a:rPr lang="en-US" sz="1100" dirty="0">
                <a:solidFill>
                  <a:schemeClr val="accent6"/>
                </a:solidFill>
              </a:rPr>
              <a:t>Development year. Left: 2,190 stations. Right: 30,000 random station-days.</a:t>
            </a:r>
            <a:endParaRPr lang="en-US" sz="1100" dirty="0"/>
          </a:p>
        </p:txBody>
      </p:sp>
      <p:sp>
        <p:nvSpPr>
          <p:cNvPr id="10" name="Text 6"/>
          <p:cNvSpPr txBox="1"/>
          <p:nvPr/>
        </p:nvSpPr>
        <p:spPr>
          <a:xfrm>
            <a:off x="548640" y="5852160"/>
            <a:ext cx="11094415" cy="457200"/>
          </a:xfrm>
          <a:prstGeom prst="rect">
            <a:avLst/>
          </a:prstGeom>
          <a:noFill/>
          <a:ln/>
        </p:spPr>
        <p:txBody>
          <a:bodyPr wrap="square" lIns="0" tIns="0" rIns="0" bIns="0" rtlCol="0" anchor="t"/>
          <a:lstStyle/>
          <a:p>
            <a:pPr indent="0" marL="0">
              <a:buNone/>
            </a:pPr>
            <a:r>
              <a:rPr lang="en-US" sz="1500" b="1" dirty="0">
                <a:solidFill>
                  <a:schemeClr val="accent4"/>
                </a:solidFill>
              </a:rPr>
              <a:t>At most stations a night-before plan is off by a little (median miss 1.6 bikes); at the big ones by a lot, which is what a daytime visit is for.</a:t>
            </a:r>
            <a:endParaRPr lang="en-US" sz="1500" dirty="0"/>
          </a:p>
        </p:txBody>
      </p:sp>
      <p:sp>
        <p:nvSpPr>
          <p:cNvPr id="25" name="Slide Number Placeholder 0"/>
          <p:cNvSpPr>
            <a:spLocks noGrp="1"/>
          </p:cNvSpPr>
          <p:nvPr>
            <p:ph type="sldNum" sz="quarter" idx="4294967295"/>
          </p:nvPr>
        </p:nvSpPr>
        <p:spPr>
          <a:xfrm>
            <a:off x="1118585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68680"/>
          </a:xfrm>
          <a:prstGeom prst="rect">
            <a:avLst/>
          </a:prstGeom>
          <a:noFill/>
          <a:ln/>
        </p:spPr>
        <p:txBody>
          <a:bodyPr wrap="square" lIns="0" tIns="0" rIns="0" bIns="0" rtlCol="0" anchor="t"/>
          <a:lstStyle/>
          <a:p>
            <a:pPr algn="l" indent="0" marL="0">
              <a:buNone/>
            </a:pPr>
            <a:r>
              <a:rPr lang="en-US" sz="2800" b="1" dirty="0">
                <a:solidFill>
                  <a:schemeClr val="tx1"/>
                </a:solidFill>
              </a:rPr>
              <a:t>Most shortages are a wrong starting level, not too few docks</a:t>
            </a:r>
            <a:endParaRPr lang="en-US" sz="2800" dirty="0"/>
          </a:p>
        </p:txBody>
      </p:sp>
      <p:sp>
        <p:nvSpPr>
          <p:cNvPr id="3" name="stat 22%"/>
          <p:cNvSpPr txBox="1"/>
          <p:nvPr/>
        </p:nvSpPr>
        <p:spPr>
          <a:xfrm>
            <a:off x="548640" y="1325880"/>
            <a:ext cx="4846320" cy="548640"/>
          </a:xfrm>
          <a:prstGeom prst="rect">
            <a:avLst/>
          </a:prstGeom>
          <a:noFill/>
          <a:ln/>
        </p:spPr>
        <p:txBody>
          <a:bodyPr wrap="square" lIns="0" tIns="0" rIns="0" bIns="0" rtlCol="0" anchor="b"/>
          <a:lstStyle/>
          <a:p>
            <a:pPr indent="0" marL="0">
              <a:buNone/>
            </a:pPr>
            <a:r>
              <a:rPr lang="en-US" sz="3600" b="1" dirty="0">
                <a:solidFill>
                  <a:schemeClr val="accent3"/>
                </a:solidFill>
              </a:rPr>
              <a:t>22%</a:t>
            </a:r>
            <a:endParaRPr lang="en-US" sz="3600" dirty="0"/>
          </a:p>
        </p:txBody>
      </p:sp>
      <p:sp>
        <p:nvSpPr>
          <p:cNvPr id="4" name="stat label"/>
          <p:cNvSpPr txBox="1"/>
          <p:nvPr/>
        </p:nvSpPr>
        <p:spPr>
          <a:xfrm>
            <a:off x="548640" y="1920240"/>
            <a:ext cx="4846320" cy="685800"/>
          </a:xfrm>
          <a:prstGeom prst="rect">
            <a:avLst/>
          </a:prstGeom>
          <a:noFill/>
          <a:ln/>
        </p:spPr>
        <p:txBody>
          <a:bodyPr wrap="square" lIns="0" tIns="0" rIns="0" bIns="0" rtlCol="0" anchor="t"/>
          <a:lstStyle/>
          <a:p>
            <a:pPr indent="0" marL="0">
              <a:buNone/>
            </a:pPr>
            <a:r>
              <a:rPr lang="en-US" sz="1400" dirty="0">
                <a:solidFill>
                  <a:schemeClr val="tx1"/>
                </a:solidFill>
              </a:rPr>
              <a:t>of workday station-days run empty or full at some point from a half-full start</a:t>
            </a:r>
            <a:endParaRPr lang="en-US" sz="1400" dirty="0"/>
          </a:p>
        </p:txBody>
      </p:sp>
      <p:sp>
        <p:nvSpPr>
          <p:cNvPr id="5" name="stat 1.3%"/>
          <p:cNvSpPr txBox="1"/>
          <p:nvPr/>
        </p:nvSpPr>
        <p:spPr>
          <a:xfrm>
            <a:off x="6309360" y="1325880"/>
            <a:ext cx="5303520" cy="548640"/>
          </a:xfrm>
          <a:prstGeom prst="rect">
            <a:avLst/>
          </a:prstGeom>
          <a:noFill/>
          <a:ln/>
        </p:spPr>
        <p:txBody>
          <a:bodyPr wrap="square" lIns="0" tIns="0" rIns="0" bIns="0" rtlCol="0" anchor="b"/>
          <a:lstStyle/>
          <a:p>
            <a:pPr indent="0" marL="0">
              <a:buNone/>
            </a:pPr>
            <a:r>
              <a:rPr lang="en-US" sz="3600" b="1" dirty="0">
                <a:solidFill>
                  <a:schemeClr val="accent5"/>
                </a:solidFill>
              </a:rPr>
              <a:t>1.3%</a:t>
            </a:r>
            <a:endParaRPr lang="en-US" sz="3600" dirty="0"/>
          </a:p>
        </p:txBody>
      </p:sp>
      <p:sp>
        <p:nvSpPr>
          <p:cNvPr id="6" name="stat label"/>
          <p:cNvSpPr txBox="1"/>
          <p:nvPr/>
        </p:nvSpPr>
        <p:spPr>
          <a:xfrm>
            <a:off x="6309360" y="1920240"/>
            <a:ext cx="5303520" cy="685800"/>
          </a:xfrm>
          <a:prstGeom prst="rect">
            <a:avLst/>
          </a:prstGeom>
          <a:noFill/>
          <a:ln/>
        </p:spPr>
        <p:txBody>
          <a:bodyPr wrap="square" lIns="0" tIns="0" rIns="0" bIns="0" rtlCol="0" anchor="t"/>
          <a:lstStyle/>
          <a:p>
            <a:pPr indent="0" marL="0">
              <a:buNone/>
            </a:pPr>
            <a:r>
              <a:rPr lang="en-US" sz="1400" dirty="0">
                <a:solidFill>
                  <a:schemeClr val="tx1"/>
                </a:solidFill>
              </a:rPr>
              <a:t>would fail from any starting level, because the day's swing is larger than the docks</a:t>
            </a:r>
            <a:endParaRPr lang="en-US" sz="1400" dirty="0"/>
          </a:p>
        </p:txBody>
      </p:sp>
      <p:pic>
        <p:nvPicPr>
          <p:cNvPr id="7" name="one day at three stations" descr="one day at three stations">    </p:cNvPr>
          <p:cNvPicPr>
            <a:picLocks noChangeAspect="1"/>
          </p:cNvPicPr>
          <p:nvPr/>
        </p:nvPicPr>
        <p:blipFill>
          <a:blip r:embed="rId1"/>
          <a:stretch>
            <a:fillRect/>
          </a:stretch>
        </p:blipFill>
        <p:spPr>
          <a:xfrm>
            <a:off x="1517589" y="2743200"/>
            <a:ext cx="9126343" cy="3291840"/>
          </a:xfrm>
          <a:prstGeom prst="rect">
            <a:avLst/>
          </a:prstGeom>
        </p:spPr>
      </p:pic>
      <p:sp>
        <p:nvSpPr>
          <p:cNvPr id="8" name="caption"/>
          <p:cNvSpPr txBox="1"/>
          <p:nvPr/>
        </p:nvSpPr>
        <p:spPr>
          <a:xfrm>
            <a:off x="548640" y="6053328"/>
            <a:ext cx="11064240" cy="320040"/>
          </a:xfrm>
          <a:prstGeom prst="rect">
            <a:avLst/>
          </a:prstGeom>
          <a:noFill/>
          <a:ln/>
        </p:spPr>
        <p:txBody>
          <a:bodyPr wrap="square" lIns="0" tIns="0" rIns="0" bIns="0" rtlCol="0" anchor="ctr"/>
          <a:lstStyle/>
          <a:p>
            <a:pPr indent="0" marL="0">
              <a:buNone/>
            </a:pPr>
            <a:r>
              <a:rPr lang="en-US" sz="1100" dirty="0">
                <a:solidFill>
                  <a:schemeClr val="accent6"/>
                </a:solidFill>
              </a:rPr>
              <a:t>Bikes docked on Tue 12 May 2026. Dashed: the station's docks. Flat at the dashes or at zero = riders turned away.</a:t>
            </a:r>
            <a:endParaRPr lang="en-US" sz="1100" dirty="0"/>
          </a:p>
        </p:txBody>
      </p:sp>
      <p:sp>
        <p:nvSpPr>
          <p:cNvPr id="25" name="Slide Number Placeholder 0"/>
          <p:cNvSpPr>
            <a:spLocks noGrp="1"/>
          </p:cNvSpPr>
          <p:nvPr>
            <p:ph type="sldNum" sz="quarter" idx="4294967295"/>
          </p:nvPr>
        </p:nvSpPr>
        <p:spPr>
          <a:xfrm>
            <a:off x="1118585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68680"/>
          </a:xfrm>
          <a:prstGeom prst="rect">
            <a:avLst/>
          </a:prstGeom>
          <a:noFill/>
          <a:ln/>
        </p:spPr>
        <p:txBody>
          <a:bodyPr wrap="square" lIns="0" tIns="0" rIns="0" bIns="0" rtlCol="0" anchor="t"/>
          <a:lstStyle/>
          <a:p>
            <a:pPr algn="l" indent="0" marL="0">
              <a:buNone/>
            </a:pPr>
            <a:r>
              <a:rPr lang="en-US" sz="2800" b="1" dirty="0">
                <a:solidFill>
                  <a:schemeClr val="tx1"/>
                </a:solidFill>
              </a:rPr>
              <a:t>Each station gets a target band from its own last ten days</a:t>
            </a:r>
            <a:endParaRPr lang="en-US" sz="2800" dirty="0"/>
          </a:p>
        </p:txBody>
      </p:sp>
      <p:sp>
        <p:nvSpPr>
          <p:cNvPr id="3" name="Text 1"/>
          <p:cNvSpPr txBox="1"/>
          <p:nvPr/>
        </p:nvSpPr>
        <p:spPr>
          <a:xfrm>
            <a:off x="548640" y="1371600"/>
            <a:ext cx="5486400" cy="365760"/>
          </a:xfrm>
          <a:prstGeom prst="rect">
            <a:avLst/>
          </a:prstGeom>
          <a:noFill/>
          <a:ln/>
        </p:spPr>
        <p:txBody>
          <a:bodyPr wrap="square" lIns="0" tIns="0" rIns="0" bIns="0" rtlCol="0" anchor="ctr"/>
          <a:lstStyle/>
          <a:p>
            <a:pPr indent="0" marL="0">
              <a:buNone/>
            </a:pPr>
            <a:r>
              <a:rPr lang="en-US" sz="1600" b="1" dirty="0">
                <a:solidFill>
                  <a:schemeClr val="accent6"/>
                </a:solidFill>
              </a:rPr>
              <a:t>One station at 04:00</a:t>
            </a:r>
            <a:endParaRPr lang="en-US" sz="1600" dirty="0"/>
          </a:p>
        </p:txBody>
      </p:sp>
      <p:sp>
        <p:nvSpPr>
          <p:cNvPr id="4" name="Shape 2"/>
          <p:cNvSpPr/>
          <p:nvPr/>
        </p:nvSpPr>
        <p:spPr>
          <a:xfrm>
            <a:off x="548640" y="2148840"/>
            <a:ext cx="5852160" cy="640080"/>
          </a:xfrm>
          <a:prstGeom prst="rect">
            <a:avLst/>
          </a:prstGeom>
          <a:solidFill>
            <a:schemeClr val="bg2"/>
          </a:solidFill>
          <a:ln w="12700">
            <a:solidFill>
              <a:schemeClr val="accent5"/>
            </a:solidFill>
            <a:prstDash val="solid"/>
          </a:ln>
        </p:spPr>
      </p:sp>
      <p:sp>
        <p:nvSpPr>
          <p:cNvPr id="5" name="Shape 3"/>
          <p:cNvSpPr/>
          <p:nvPr/>
        </p:nvSpPr>
        <p:spPr>
          <a:xfrm>
            <a:off x="2743200" y="2148840"/>
            <a:ext cx="1645920" cy="640080"/>
          </a:xfrm>
          <a:prstGeom prst="rect">
            <a:avLst/>
          </a:prstGeom>
          <a:solidFill>
            <a:schemeClr val="accent1"/>
          </a:solidFill>
          <a:ln/>
        </p:spPr>
      </p:sp>
      <p:sp>
        <p:nvSpPr>
          <p:cNvPr id="6" name="Text 4"/>
          <p:cNvSpPr txBox="1"/>
          <p:nvPr/>
        </p:nvSpPr>
        <p:spPr>
          <a:xfrm>
            <a:off x="2743200" y="2148840"/>
            <a:ext cx="1645920" cy="640080"/>
          </a:xfrm>
          <a:prstGeom prst="rect">
            <a:avLst/>
          </a:prstGeom>
          <a:noFill/>
          <a:ln/>
        </p:spPr>
        <p:txBody>
          <a:bodyPr wrap="square" lIns="0" tIns="0" rIns="0" bIns="0" rtlCol="0" anchor="ctr"/>
          <a:lstStyle/>
          <a:p>
            <a:pPr algn="ctr" indent="0" marL="0">
              <a:buNone/>
            </a:pPr>
            <a:r>
              <a:rPr lang="en-US" sz="1400" b="1" dirty="0">
                <a:solidFill>
                  <a:schemeClr val="bg1"/>
                </a:solidFill>
              </a:rPr>
              <a:t>target band</a:t>
            </a:r>
            <a:endParaRPr lang="en-US" sz="1400" dirty="0"/>
          </a:p>
        </p:txBody>
      </p:sp>
      <p:sp>
        <p:nvSpPr>
          <p:cNvPr id="7" name="Text 5"/>
          <p:cNvSpPr txBox="1"/>
          <p:nvPr/>
        </p:nvSpPr>
        <p:spPr>
          <a:xfrm>
            <a:off x="548640" y="2834640"/>
            <a:ext cx="1371600" cy="274320"/>
          </a:xfrm>
          <a:prstGeom prst="rect">
            <a:avLst/>
          </a:prstGeom>
          <a:noFill/>
          <a:ln/>
        </p:spPr>
        <p:txBody>
          <a:bodyPr wrap="square" lIns="0" tIns="0" rIns="0" bIns="0" rtlCol="0" anchor="ctr"/>
          <a:lstStyle/>
          <a:p>
            <a:pPr indent="0" marL="0">
              <a:buNone/>
            </a:pPr>
            <a:r>
              <a:rPr lang="en-US" sz="1200" dirty="0">
                <a:solidFill>
                  <a:schemeClr val="accent6"/>
                </a:solidFill>
              </a:rPr>
              <a:t>0 bikes</a:t>
            </a:r>
            <a:endParaRPr lang="en-US" sz="1200" dirty="0"/>
          </a:p>
        </p:txBody>
      </p:sp>
      <p:sp>
        <p:nvSpPr>
          <p:cNvPr id="8" name="Text 6"/>
          <p:cNvSpPr txBox="1"/>
          <p:nvPr/>
        </p:nvSpPr>
        <p:spPr>
          <a:xfrm>
            <a:off x="4754880" y="2834640"/>
            <a:ext cx="1645920" cy="274320"/>
          </a:xfrm>
          <a:prstGeom prst="rect">
            <a:avLst/>
          </a:prstGeom>
          <a:noFill/>
          <a:ln/>
        </p:spPr>
        <p:txBody>
          <a:bodyPr wrap="square" lIns="0" tIns="0" rIns="0" bIns="0" rtlCol="0" anchor="ctr"/>
          <a:lstStyle/>
          <a:p>
            <a:pPr algn="r" indent="0" marL="0">
              <a:buNone/>
            </a:pPr>
            <a:r>
              <a:rPr lang="en-US" sz="1200" dirty="0">
                <a:solidFill>
                  <a:schemeClr val="accent6"/>
                </a:solidFill>
              </a:rPr>
              <a:t>all docks full</a:t>
            </a:r>
            <a:endParaRPr lang="en-US" sz="1200" dirty="0"/>
          </a:p>
        </p:txBody>
      </p:sp>
      <p:sp>
        <p:nvSpPr>
          <p:cNvPr id="9" name="Shape 7"/>
          <p:cNvSpPr/>
          <p:nvPr/>
        </p:nvSpPr>
        <p:spPr>
          <a:xfrm>
            <a:off x="548640" y="3502152"/>
            <a:ext cx="256032" cy="256032"/>
          </a:xfrm>
          <a:prstGeom prst="ellipse">
            <a:avLst/>
          </a:prstGeom>
          <a:solidFill>
            <a:schemeClr val="accent3"/>
          </a:solidFill>
          <a:ln/>
        </p:spPr>
      </p:sp>
      <p:sp>
        <p:nvSpPr>
          <p:cNvPr id="10" name="Text 8"/>
          <p:cNvSpPr txBox="1"/>
          <p:nvPr/>
        </p:nvSpPr>
        <p:spPr>
          <a:xfrm>
            <a:off x="960120" y="3429000"/>
            <a:ext cx="5394960" cy="411480"/>
          </a:xfrm>
          <a:prstGeom prst="rect">
            <a:avLst/>
          </a:prstGeom>
          <a:noFill/>
          <a:ln/>
        </p:spPr>
        <p:txBody>
          <a:bodyPr wrap="square" lIns="0" tIns="0" rIns="0" bIns="0" rtlCol="0" anchor="ctr"/>
          <a:lstStyle/>
          <a:p>
            <a:pPr indent="0" marL="0">
              <a:buNone/>
            </a:pPr>
            <a:r>
              <a:rPr lang="en-US" sz="1600" b="1" dirty="0">
                <a:solidFill>
                  <a:schemeClr val="tx1"/>
                </a:solidFill>
              </a:rPr>
              <a:t>Below the band: </a:t>
            </a:r>
            <a:pPr indent="0" marL="0">
              <a:buNone/>
            </a:pPr>
            <a:r>
              <a:rPr lang="en-US" sz="1600" dirty="0">
                <a:solidFill>
                  <a:schemeClr val="tx1"/>
                </a:solidFill>
              </a:rPr>
              <a:t>trucks add bikes up to its lower edge</a:t>
            </a:r>
            <a:endParaRPr lang="en-US" sz="1600" dirty="0"/>
          </a:p>
        </p:txBody>
      </p:sp>
      <p:sp>
        <p:nvSpPr>
          <p:cNvPr id="11" name="Shape 9"/>
          <p:cNvSpPr/>
          <p:nvPr/>
        </p:nvSpPr>
        <p:spPr>
          <a:xfrm>
            <a:off x="548640" y="4279392"/>
            <a:ext cx="256032" cy="256032"/>
          </a:xfrm>
          <a:prstGeom prst="ellipse">
            <a:avLst/>
          </a:prstGeom>
          <a:solidFill>
            <a:schemeClr val="accent1"/>
          </a:solidFill>
          <a:ln/>
        </p:spPr>
      </p:sp>
      <p:sp>
        <p:nvSpPr>
          <p:cNvPr id="12" name="Text 10"/>
          <p:cNvSpPr txBox="1"/>
          <p:nvPr/>
        </p:nvSpPr>
        <p:spPr>
          <a:xfrm>
            <a:off x="960120" y="4206240"/>
            <a:ext cx="5394960" cy="411480"/>
          </a:xfrm>
          <a:prstGeom prst="rect">
            <a:avLst/>
          </a:prstGeom>
          <a:noFill/>
          <a:ln/>
        </p:spPr>
        <p:txBody>
          <a:bodyPr wrap="square" lIns="0" tIns="0" rIns="0" bIns="0" rtlCol="0" anchor="ctr"/>
          <a:lstStyle/>
          <a:p>
            <a:pPr indent="0" marL="0">
              <a:buNone/>
            </a:pPr>
            <a:r>
              <a:rPr lang="en-US" sz="1600" b="1" dirty="0">
                <a:solidFill>
                  <a:schemeClr val="tx1"/>
                </a:solidFill>
              </a:rPr>
              <a:t>Inside the band: </a:t>
            </a:r>
            <a:pPr indent="0" marL="0">
              <a:buNone/>
            </a:pPr>
            <a:r>
              <a:rPr lang="en-US" sz="1600" dirty="0">
                <a:solidFill>
                  <a:schemeClr val="tx1"/>
                </a:solidFill>
              </a:rPr>
              <a:t>leave it alone, no visit</a:t>
            </a:r>
            <a:endParaRPr lang="en-US" sz="1600" dirty="0"/>
          </a:p>
        </p:txBody>
      </p:sp>
      <p:sp>
        <p:nvSpPr>
          <p:cNvPr id="13" name="Shape 11"/>
          <p:cNvSpPr/>
          <p:nvPr/>
        </p:nvSpPr>
        <p:spPr>
          <a:xfrm>
            <a:off x="548640" y="5056632"/>
            <a:ext cx="256032" cy="256032"/>
          </a:xfrm>
          <a:prstGeom prst="ellipse">
            <a:avLst/>
          </a:prstGeom>
          <a:solidFill>
            <a:schemeClr val="accent3"/>
          </a:solidFill>
          <a:ln/>
        </p:spPr>
      </p:sp>
      <p:sp>
        <p:nvSpPr>
          <p:cNvPr id="14" name="Text 12"/>
          <p:cNvSpPr txBox="1"/>
          <p:nvPr/>
        </p:nvSpPr>
        <p:spPr>
          <a:xfrm>
            <a:off x="960120" y="4983480"/>
            <a:ext cx="5394960" cy="411480"/>
          </a:xfrm>
          <a:prstGeom prst="rect">
            <a:avLst/>
          </a:prstGeom>
          <a:noFill/>
          <a:ln/>
        </p:spPr>
        <p:txBody>
          <a:bodyPr wrap="square" lIns="0" tIns="0" rIns="0" bIns="0" rtlCol="0" anchor="ctr"/>
          <a:lstStyle/>
          <a:p>
            <a:pPr indent="0" marL="0">
              <a:buNone/>
            </a:pPr>
            <a:r>
              <a:rPr lang="en-US" sz="1600" b="1" dirty="0">
                <a:solidFill>
                  <a:schemeClr val="tx1"/>
                </a:solidFill>
              </a:rPr>
              <a:t>Above the band: </a:t>
            </a:r>
            <a:pPr indent="0" marL="0">
              <a:buNone/>
            </a:pPr>
            <a:r>
              <a:rPr lang="en-US" sz="1600" dirty="0">
                <a:solidFill>
                  <a:schemeClr val="tx1"/>
                </a:solidFill>
              </a:rPr>
              <a:t>trucks take bikes down to its upper edge</a:t>
            </a:r>
            <a:endParaRPr lang="en-US" sz="1600" dirty="0"/>
          </a:p>
        </p:txBody>
      </p:sp>
      <p:sp>
        <p:nvSpPr>
          <p:cNvPr id="15" name="Text 13"/>
          <p:cNvSpPr txBox="1"/>
          <p:nvPr/>
        </p:nvSpPr>
        <p:spPr>
          <a:xfrm>
            <a:off x="548640" y="5669280"/>
            <a:ext cx="5852160" cy="594360"/>
          </a:xfrm>
          <a:prstGeom prst="rect">
            <a:avLst/>
          </a:prstGeom>
          <a:noFill/>
          <a:ln/>
        </p:spPr>
        <p:txBody>
          <a:bodyPr wrap="square" lIns="0" tIns="0" rIns="0" bIns="0" rtlCol="0" anchor="t"/>
          <a:lstStyle/>
          <a:p>
            <a:pPr indent="0" marL="0">
              <a:buNone/>
            </a:pPr>
            <a:r>
              <a:rPr lang="en-US" sz="1400" b="1" dirty="0">
                <a:solidFill>
                  <a:schemeClr val="accent4"/>
                </a:solidFill>
              </a:rPr>
              <a:t>Then rank every possible move across the city by the shortages it prevents, and do the best first.</a:t>
            </a:r>
            <a:endParaRPr lang="en-US" sz="1400" dirty="0"/>
          </a:p>
        </p:txBody>
      </p:sp>
      <p:sp>
        <p:nvSpPr>
          <p:cNvPr id="16" name="card"/>
          <p:cNvSpPr/>
          <p:nvPr/>
        </p:nvSpPr>
        <p:spPr>
          <a:xfrm>
            <a:off x="6858000" y="1371600"/>
            <a:ext cx="4785055" cy="4892040"/>
          </a:xfrm>
          <a:prstGeom prst="roundRect">
            <a:avLst>
              <a:gd name="adj" fmla="val 1529"/>
            </a:avLst>
          </a:prstGeom>
          <a:solidFill>
            <a:schemeClr val="bg2"/>
          </a:solidFill>
          <a:ln/>
        </p:spPr>
      </p:sp>
      <p:sp>
        <p:nvSpPr>
          <p:cNvPr id="17" name="Text 15"/>
          <p:cNvSpPr txBox="1"/>
          <p:nvPr/>
        </p:nvSpPr>
        <p:spPr>
          <a:xfrm>
            <a:off x="7132320" y="1554480"/>
            <a:ext cx="4236415" cy="365760"/>
          </a:xfrm>
          <a:prstGeom prst="rect">
            <a:avLst/>
          </a:prstGeom>
          <a:noFill/>
          <a:ln/>
        </p:spPr>
        <p:txBody>
          <a:bodyPr wrap="square" lIns="0" tIns="0" rIns="0" bIns="0" rtlCol="0" anchor="ctr"/>
          <a:lstStyle/>
          <a:p>
            <a:pPr indent="0" marL="0">
              <a:buNone/>
            </a:pPr>
            <a:r>
              <a:rPr lang="en-US" sz="1700" b="1" dirty="0">
                <a:solidFill>
                  <a:schemeClr val="tx1"/>
                </a:solidFill>
              </a:rPr>
              <a:t>How the band is built</a:t>
            </a:r>
            <a:endParaRPr lang="en-US" sz="1700" dirty="0"/>
          </a:p>
        </p:txBody>
      </p:sp>
      <p:sp>
        <p:nvSpPr>
          <p:cNvPr id="18" name="Shape 16"/>
          <p:cNvSpPr/>
          <p:nvPr/>
        </p:nvSpPr>
        <p:spPr>
          <a:xfrm>
            <a:off x="7132320" y="2103120"/>
            <a:ext cx="411480" cy="411480"/>
          </a:xfrm>
          <a:prstGeom prst="ellipse">
            <a:avLst/>
          </a:prstGeom>
          <a:solidFill>
            <a:schemeClr val="accent1"/>
          </a:solidFill>
          <a:ln/>
        </p:spPr>
      </p:sp>
      <p:sp>
        <p:nvSpPr>
          <p:cNvPr id="19" name="Text 17"/>
          <p:cNvSpPr txBox="1"/>
          <p:nvPr/>
        </p:nvSpPr>
        <p:spPr>
          <a:xfrm>
            <a:off x="7132320" y="2103120"/>
            <a:ext cx="411480" cy="411480"/>
          </a:xfrm>
          <a:prstGeom prst="rect">
            <a:avLst/>
          </a:prstGeom>
          <a:no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20" name="Text 18"/>
          <p:cNvSpPr txBox="1"/>
          <p:nvPr/>
        </p:nvSpPr>
        <p:spPr>
          <a:xfrm>
            <a:off x="7726680" y="2066544"/>
            <a:ext cx="3642055" cy="1188720"/>
          </a:xfrm>
          <a:prstGeom prst="rect">
            <a:avLst/>
          </a:prstGeom>
          <a:noFill/>
          <a:ln/>
        </p:spPr>
        <p:txBody>
          <a:bodyPr wrap="square" lIns="0" tIns="0" rIns="0" bIns="0" rtlCol="0" anchor="t"/>
          <a:lstStyle/>
          <a:p>
            <a:pPr indent="0" marL="0">
              <a:buNone/>
            </a:pPr>
            <a:r>
              <a:rPr lang="en-US" sz="1400" dirty="0">
                <a:solidFill>
                  <a:schemeClr val="tx1"/>
                </a:solidFill>
              </a:rPr>
              <a:t>Take the station's last 10 comparable days: workdays or weekends.</a:t>
            </a:r>
            <a:endParaRPr lang="en-US" sz="1400" dirty="0"/>
          </a:p>
        </p:txBody>
      </p:sp>
      <p:sp>
        <p:nvSpPr>
          <p:cNvPr id="21" name="Shape 19"/>
          <p:cNvSpPr/>
          <p:nvPr/>
        </p:nvSpPr>
        <p:spPr>
          <a:xfrm>
            <a:off x="7132320" y="3246120"/>
            <a:ext cx="411480" cy="411480"/>
          </a:xfrm>
          <a:prstGeom prst="ellipse">
            <a:avLst/>
          </a:prstGeom>
          <a:solidFill>
            <a:schemeClr val="accent1"/>
          </a:solidFill>
          <a:ln/>
        </p:spPr>
      </p:sp>
      <p:sp>
        <p:nvSpPr>
          <p:cNvPr id="22" name="Text 20"/>
          <p:cNvSpPr txBox="1"/>
          <p:nvPr/>
        </p:nvSpPr>
        <p:spPr>
          <a:xfrm>
            <a:off x="7132320" y="3246120"/>
            <a:ext cx="411480" cy="411480"/>
          </a:xfrm>
          <a:prstGeom prst="rect">
            <a:avLst/>
          </a:prstGeom>
          <a:no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23" name="Text 21"/>
          <p:cNvSpPr txBox="1"/>
          <p:nvPr/>
        </p:nvSpPr>
        <p:spPr>
          <a:xfrm>
            <a:off x="7726680" y="3209544"/>
            <a:ext cx="3642055" cy="1188720"/>
          </a:xfrm>
          <a:prstGeom prst="rect">
            <a:avLst/>
          </a:prstGeom>
          <a:noFill/>
          <a:ln/>
        </p:spPr>
        <p:txBody>
          <a:bodyPr wrap="square" lIns="0" tIns="0" rIns="0" bIns="0" rtlCol="0" anchor="t"/>
          <a:lstStyle/>
          <a:p>
            <a:pPr indent="0" marL="0">
              <a:buNone/>
            </a:pPr>
            <a:r>
              <a:rPr lang="en-US" sz="1400" dirty="0">
                <a:solidFill>
                  <a:schemeClr val="tx1"/>
                </a:solidFill>
              </a:rPr>
              <a:t>From each day keep two numbers. Need: the most it fell below its 04:00 stock. Room: its docks minus the most it rose above.</a:t>
            </a:r>
            <a:endParaRPr lang="en-US" sz="1400" dirty="0"/>
          </a:p>
        </p:txBody>
      </p:sp>
      <p:sp>
        <p:nvSpPr>
          <p:cNvPr id="24" name="Shape 22"/>
          <p:cNvSpPr/>
          <p:nvPr/>
        </p:nvSpPr>
        <p:spPr>
          <a:xfrm>
            <a:off x="7132320" y="4389120"/>
            <a:ext cx="411480" cy="411480"/>
          </a:xfrm>
          <a:prstGeom prst="ellipse">
            <a:avLst/>
          </a:prstGeom>
          <a:solidFill>
            <a:schemeClr val="accent1"/>
          </a:solidFill>
          <a:ln/>
        </p:spPr>
      </p:sp>
      <p:sp>
        <p:nvSpPr>
          <p:cNvPr id="25" name="Text 23"/>
          <p:cNvSpPr txBox="1"/>
          <p:nvPr/>
        </p:nvSpPr>
        <p:spPr>
          <a:xfrm>
            <a:off x="7132320" y="4389120"/>
            <a:ext cx="411480" cy="411480"/>
          </a:xfrm>
          <a:prstGeom prst="rect">
            <a:avLst/>
          </a:prstGeom>
          <a:no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26" name="Text 24"/>
          <p:cNvSpPr txBox="1"/>
          <p:nvPr/>
        </p:nvSpPr>
        <p:spPr>
          <a:xfrm>
            <a:off x="7726680" y="4352544"/>
            <a:ext cx="3642055" cy="1188720"/>
          </a:xfrm>
          <a:prstGeom prst="rect">
            <a:avLst/>
          </a:prstGeom>
          <a:noFill/>
          <a:ln/>
        </p:spPr>
        <p:txBody>
          <a:bodyPr wrap="square" lIns="0" tIns="0" rIns="0" bIns="0" rtlCol="0" anchor="t"/>
          <a:lstStyle/>
          <a:p>
            <a:pPr indent="0" marL="0">
              <a:buNone/>
            </a:pPr>
            <a:r>
              <a:rPr lang="en-US" sz="1400" dirty="0">
                <a:solidFill>
                  <a:schemeClr val="tx1"/>
                </a:solidFill>
              </a:rPr>
              <a:t>Any start below the need, or above the room, turns riders away. The band is the start with the fewest over all 10 days: between the 10th and 11th smallest of the 20 numbers.</a:t>
            </a:r>
            <a:endParaRPr lang="en-US" sz="1400" dirty="0"/>
          </a:p>
        </p:txBody>
      </p:sp>
      <p:sp>
        <p:nvSpPr>
          <p:cNvPr id="27" name="Text 25"/>
          <p:cNvSpPr txBox="1"/>
          <p:nvPr/>
        </p:nvSpPr>
        <p:spPr>
          <a:xfrm>
            <a:off x="7132320" y="5577840"/>
            <a:ext cx="4236415" cy="502920"/>
          </a:xfrm>
          <a:prstGeom prst="rect">
            <a:avLst/>
          </a:prstGeom>
          <a:noFill/>
          <a:ln/>
        </p:spPr>
        <p:txBody>
          <a:bodyPr wrap="square" lIns="0" tIns="0" rIns="0" bIns="0" rtlCol="0" anchor="t"/>
          <a:lstStyle/>
          <a:p>
            <a:pPr indent="0" marL="0">
              <a:buNone/>
            </a:pPr>
            <a:r>
              <a:rPr lang="en-US" sz="1100" dirty="0">
                <a:solidFill>
                  <a:schemeClr val="accent6"/>
                </a:solidFill>
              </a:rPr>
              <a:t>The overnight-stock rule of Raviv and Kolka (2013), with the station's own days in place of a demand model.</a:t>
            </a:r>
            <a:endParaRPr lang="en-US" sz="1100" dirty="0"/>
          </a:p>
        </p:txBody>
      </p:sp>
      <p:sp>
        <p:nvSpPr>
          <p:cNvPr id="25" name="Slide Number Placeholder 0"/>
          <p:cNvSpPr>
            <a:spLocks noGrp="1"/>
          </p:cNvSpPr>
          <p:nvPr>
            <p:ph type="sldNum" sz="quarter" idx="4294967295"/>
          </p:nvPr>
        </p:nvSpPr>
        <p:spPr>
          <a:xfrm>
            <a:off x="1118585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68680"/>
          </a:xfrm>
          <a:prstGeom prst="rect">
            <a:avLst/>
          </a:prstGeom>
          <a:noFill/>
          <a:ln/>
        </p:spPr>
        <p:txBody>
          <a:bodyPr wrap="square" lIns="0" tIns="0" rIns="0" bIns="0" rtlCol="0" anchor="t"/>
          <a:lstStyle/>
          <a:p>
            <a:pPr algn="l" indent="0" marL="0">
              <a:buNone/>
            </a:pPr>
            <a:r>
              <a:rPr lang="en-US" sz="2800" b="1" dirty="0">
                <a:solidFill>
                  <a:schemeClr val="tx1"/>
                </a:solidFill>
              </a:rPr>
              <a:t>Weather predicts how busy tomorrow is, so it sizes the night shift</a:t>
            </a:r>
            <a:endParaRPr lang="en-US" sz="2800" dirty="0"/>
          </a:p>
        </p:txBody>
      </p:sp>
      <p:pic>
        <p:nvPicPr>
          <p:cNvPr id="3" name="predicted vs actual" descr="predicted vs actual">    </p:cNvPr>
          <p:cNvPicPr>
            <a:picLocks noChangeAspect="1"/>
          </p:cNvPicPr>
          <p:nvPr/>
        </p:nvPicPr>
        <p:blipFill>
          <a:blip r:embed="rId1"/>
          <a:stretch>
            <a:fillRect/>
          </a:stretch>
        </p:blipFill>
        <p:spPr>
          <a:xfrm>
            <a:off x="548640" y="1855504"/>
            <a:ext cx="3931920" cy="3055552"/>
          </a:xfrm>
          <a:prstGeom prst="rect">
            <a:avLst/>
          </a:prstGeom>
        </p:spPr>
      </p:pic>
      <p:pic>
        <p:nvPicPr>
          <p:cNvPr id="4" name="weather effects" descr="weather effects">    </p:cNvPr>
          <p:cNvPicPr>
            <a:picLocks noChangeAspect="1"/>
          </p:cNvPicPr>
          <p:nvPr/>
        </p:nvPicPr>
        <p:blipFill>
          <a:blip r:embed="rId2"/>
          <a:stretch>
            <a:fillRect/>
          </a:stretch>
        </p:blipFill>
        <p:spPr>
          <a:xfrm>
            <a:off x="4754880" y="1909822"/>
            <a:ext cx="4480560" cy="2946916"/>
          </a:xfrm>
          <a:prstGeom prst="rect">
            <a:avLst/>
          </a:prstGeom>
        </p:spPr>
      </p:pic>
      <p:sp>
        <p:nvSpPr>
          <p:cNvPr id="5" name="caption"/>
          <p:cNvSpPr txBox="1"/>
          <p:nvPr/>
        </p:nvSpPr>
        <p:spPr>
          <a:xfrm>
            <a:off x="548640" y="5577840"/>
            <a:ext cx="8503920" cy="320040"/>
          </a:xfrm>
          <a:prstGeom prst="rect">
            <a:avLst/>
          </a:prstGeom>
          <a:noFill/>
          <a:ln/>
        </p:spPr>
        <p:txBody>
          <a:bodyPr wrap="square" lIns="0" tIns="0" rIns="0" bIns="0" rtlCol="0" anchor="ctr"/>
          <a:lstStyle/>
          <a:p>
            <a:pPr indent="0" marL="0">
              <a:buNone/>
            </a:pPr>
            <a:r>
              <a:rPr lang="en-US" sz="1100" dirty="0">
                <a:solidFill>
                  <a:schemeClr val="accent6"/>
                </a:solidFill>
              </a:rPr>
              <a:t>Left: trips per day, test year; dashed = perfect forecast. Right: change in a day's trips, 95% intervals.</a:t>
            </a:r>
            <a:endParaRPr lang="en-US" sz="1100" dirty="0"/>
          </a:p>
        </p:txBody>
      </p:sp>
      <p:sp>
        <p:nvSpPr>
          <p:cNvPr id="6" name="stat 0.87"/>
          <p:cNvSpPr txBox="1"/>
          <p:nvPr/>
        </p:nvSpPr>
        <p:spPr>
          <a:xfrm>
            <a:off x="9326880" y="1371600"/>
            <a:ext cx="2286000" cy="609600"/>
          </a:xfrm>
          <a:prstGeom prst="rect">
            <a:avLst/>
          </a:prstGeom>
          <a:noFill/>
          <a:ln/>
        </p:spPr>
        <p:txBody>
          <a:bodyPr wrap="square" lIns="0" tIns="0" rIns="0" bIns="0" rtlCol="0" anchor="b"/>
          <a:lstStyle/>
          <a:p>
            <a:pPr indent="0" marL="0">
              <a:buNone/>
            </a:pPr>
            <a:r>
              <a:rPr lang="en-US" sz="4000" b="1" dirty="0">
                <a:solidFill>
                  <a:schemeClr val="accent1"/>
                </a:solidFill>
              </a:rPr>
              <a:t>0.87</a:t>
            </a:r>
            <a:endParaRPr lang="en-US" sz="4000" dirty="0"/>
          </a:p>
        </p:txBody>
      </p:sp>
      <p:sp>
        <p:nvSpPr>
          <p:cNvPr id="7" name="stat label"/>
          <p:cNvSpPr txBox="1"/>
          <p:nvPr/>
        </p:nvSpPr>
        <p:spPr>
          <a:xfrm>
            <a:off x="9326880" y="2026920"/>
            <a:ext cx="2286000" cy="685800"/>
          </a:xfrm>
          <a:prstGeom prst="rect">
            <a:avLst/>
          </a:prstGeom>
          <a:noFill/>
          <a:ln/>
        </p:spPr>
        <p:txBody>
          <a:bodyPr wrap="square" lIns="0" tIns="0" rIns="0" bIns="0" rtlCol="0" anchor="t"/>
          <a:lstStyle/>
          <a:p>
            <a:pPr indent="0" marL="0">
              <a:buNone/>
            </a:pPr>
            <a:r>
              <a:rPr lang="en-US" sz="1400" dirty="0">
                <a:solidFill>
                  <a:schemeClr val="tx1"/>
                </a:solidFill>
              </a:rPr>
              <a:t>R² on the test year; half of all days within 11%</a:t>
            </a:r>
            <a:endParaRPr lang="en-US" sz="1400" dirty="0"/>
          </a:p>
        </p:txBody>
      </p:sp>
      <p:sp>
        <p:nvSpPr>
          <p:cNvPr id="8" name="stat -6.6%"/>
          <p:cNvSpPr txBox="1"/>
          <p:nvPr/>
        </p:nvSpPr>
        <p:spPr>
          <a:xfrm>
            <a:off x="9326880" y="2834640"/>
            <a:ext cx="2286000" cy="609600"/>
          </a:xfrm>
          <a:prstGeom prst="rect">
            <a:avLst/>
          </a:prstGeom>
          <a:noFill/>
          <a:ln/>
        </p:spPr>
        <p:txBody>
          <a:bodyPr wrap="square" lIns="0" tIns="0" rIns="0" bIns="0" rtlCol="0" anchor="b"/>
          <a:lstStyle/>
          <a:p>
            <a:pPr indent="0" marL="0">
              <a:buNone/>
            </a:pPr>
            <a:r>
              <a:rPr lang="en-US" sz="4000" b="1" dirty="0">
                <a:solidFill>
                  <a:schemeClr val="accent3"/>
                </a:solidFill>
              </a:rPr>
              <a:t>-6.6%</a:t>
            </a:r>
            <a:endParaRPr lang="en-US" sz="4000" dirty="0"/>
          </a:p>
        </p:txBody>
      </p:sp>
      <p:sp>
        <p:nvSpPr>
          <p:cNvPr id="9" name="stat label"/>
          <p:cNvSpPr txBox="1"/>
          <p:nvPr/>
        </p:nvSpPr>
        <p:spPr>
          <a:xfrm>
            <a:off x="9326880" y="3489960"/>
            <a:ext cx="2286000" cy="685800"/>
          </a:xfrm>
          <a:prstGeom prst="rect">
            <a:avLst/>
          </a:prstGeom>
          <a:noFill/>
          <a:ln/>
        </p:spPr>
        <p:txBody>
          <a:bodyPr wrap="square" lIns="0" tIns="0" rIns="0" bIns="0" rtlCol="0" anchor="t"/>
          <a:lstStyle/>
          <a:p>
            <a:pPr indent="0" marL="0">
              <a:buNone/>
            </a:pPr>
            <a:r>
              <a:rPr lang="en-US" sz="1400" dirty="0">
                <a:solidFill>
                  <a:schemeClr val="tx1"/>
                </a:solidFill>
              </a:rPr>
              <a:t>trips for each wet hour; Christmas week -45%</a:t>
            </a:r>
            <a:endParaRPr lang="en-US" sz="1400" dirty="0"/>
          </a:p>
        </p:txBody>
      </p:sp>
      <p:sp>
        <p:nvSpPr>
          <p:cNvPr id="10" name="Text 6"/>
          <p:cNvSpPr txBox="1"/>
          <p:nvPr/>
        </p:nvSpPr>
        <p:spPr>
          <a:xfrm>
            <a:off x="9326880" y="4297680"/>
            <a:ext cx="2286000" cy="1737360"/>
          </a:xfrm>
          <a:prstGeom prst="rect">
            <a:avLst/>
          </a:prstGeom>
          <a:noFill/>
          <a:ln/>
        </p:spPr>
        <p:txBody>
          <a:bodyPr wrap="square" lIns="0" tIns="0" rIns="0" bIns="0" rtlCol="0" anchor="t"/>
          <a:lstStyle/>
          <a:p>
            <a:pPr indent="0" marL="0">
              <a:buNone/>
            </a:pPr>
            <a:r>
              <a:rPr lang="en-US" sz="1400" b="1" dirty="0">
                <a:solidFill>
                  <a:schemeClr val="tx1"/>
                </a:solidFill>
              </a:rPr>
              <a:t>Station targets still come from history: stretching them by the forecast made decisions worse.</a:t>
            </a:r>
            <a:endParaRPr lang="en-US" sz="1400" dirty="0"/>
          </a:p>
        </p:txBody>
      </p:sp>
      <p:sp>
        <p:nvSpPr>
          <p:cNvPr id="25" name="Slide Number Placeholder 0"/>
          <p:cNvSpPr>
            <a:spLocks noGrp="1"/>
          </p:cNvSpPr>
          <p:nvPr>
            <p:ph type="sldNum" sz="quarter" idx="4294967295"/>
          </p:nvPr>
        </p:nvSpPr>
        <p:spPr>
          <a:xfrm>
            <a:off x="1118585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68680"/>
          </a:xfrm>
          <a:prstGeom prst="rect">
            <a:avLst/>
          </a:prstGeom>
          <a:noFill/>
          <a:ln/>
        </p:spPr>
        <p:txBody>
          <a:bodyPr wrap="square" lIns="0" tIns="0" rIns="0" bIns="0" rtlCol="0" anchor="t"/>
          <a:lstStyle/>
          <a:p>
            <a:pPr algn="l" indent="0" marL="0">
              <a:buNone/>
            </a:pPr>
            <a:r>
              <a:rPr lang="en-US" sz="2800" b="1" dirty="0">
                <a:solidFill>
                  <a:schemeClr val="tx1"/>
                </a:solidFill>
              </a:rPr>
              <a:t>Every setting was chosen before the test year was opened</a:t>
            </a:r>
            <a:endParaRPr lang="en-US" sz="28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2651760"/>
                <a:gridCol w="2651760"/>
                <a:gridCol w="1463040"/>
                <a:gridCol w="4325112"/>
              </a:tblGrid>
              <a:tr h="640080">
                <a:tc>
                  <a:txBody>
                    <a:bodyPr/>
                    <a:lstStyle/>
                    <a:p>
                      <a:pPr indent="0" marL="0">
                        <a:buNone/>
                      </a:pPr>
                      <a:r>
                        <a:rPr lang="en-US" sz="1500" b="1" dirty="0">
                          <a:solidFill>
                            <a:srgbClr val="FFFFFF"/>
                          </a:solidFill>
                        </a:rPr>
                        <a:t>Setting</a:t>
                      </a:r>
                      <a:endParaRPr lang="en-US" sz="1500" dirty="0"/>
                    </a:p>
                  </a:txBody>
                  <a:tcPr marL="109728" marR="109728" marT="54864" marB="54864" anchor="ctr">
                    <a:lnL w="9525" cap="flat" cmpd="sng" algn="ctr">
                      <a:solidFill>
                        <a:srgbClr val="D6D3CC"/>
                      </a:solidFill>
                      <a:prstDash val="solid"/>
                      <a:round/>
                      <a:headEnd type="none" w="med" len="med"/>
                      <a:tailEnd type="none" w="med" len="med"/>
                    </a:lnL>
                    <a:lnR w="9525" cap="flat" cmpd="sng" algn="ctr">
                      <a:solidFill>
                        <a:srgbClr val="D6D3CC"/>
                      </a:solidFill>
                      <a:prstDash val="solid"/>
                      <a:round/>
                      <a:headEnd type="none" w="med" len="med"/>
                      <a:tailEnd type="none" w="med" len="med"/>
                    </a:lnR>
                    <a:lnT w="9525" cap="flat" cmpd="sng" algn="ctr">
                      <a:solidFill>
                        <a:srgbClr val="D6D3CC"/>
                      </a:solidFill>
                      <a:prstDash val="solid"/>
                      <a:round/>
                      <a:headEnd type="none" w="med" len="med"/>
                      <a:tailEnd type="none" w="med" len="med"/>
                    </a:lnT>
                    <a:lnB w="9525" cap="flat" cmpd="sng" algn="ctr">
                      <a:solidFill>
                        <a:srgbClr val="D6D3CC"/>
                      </a:solidFill>
                      <a:prstDash val="solid"/>
                      <a:round/>
                      <a:headEnd type="none" w="med" len="med"/>
                      <a:tailEnd type="none" w="med" len="med"/>
                    </a:lnB>
                    <a:solidFill>
                      <a:srgbClr val="15233B"/>
                    </a:solidFill>
                  </a:tcPr>
                </a:tc>
                <a:tc>
                  <a:txBody>
                    <a:bodyPr/>
                    <a:lstStyle/>
                    <a:p>
                      <a:pPr indent="0" marL="0">
                        <a:buNone/>
                      </a:pPr>
                      <a:r>
                        <a:rPr lang="en-US" sz="1500" b="1" dirty="0">
                          <a:solidFill>
                            <a:srgbClr val="FFFFFF"/>
                          </a:solidFill>
                        </a:rPr>
                        <a:t>Tried</a:t>
                      </a:r>
                      <a:endParaRPr lang="en-US" sz="1500" dirty="0"/>
                    </a:p>
                  </a:txBody>
                  <a:tcPr marL="109728" marR="109728" marT="54864" marB="54864" anchor="ctr">
                    <a:lnL w="9525" cap="flat" cmpd="sng" algn="ctr">
                      <a:solidFill>
                        <a:srgbClr val="D6D3CC"/>
                      </a:solidFill>
                      <a:prstDash val="solid"/>
                      <a:round/>
                      <a:headEnd type="none" w="med" len="med"/>
                      <a:tailEnd type="none" w="med" len="med"/>
                    </a:lnL>
                    <a:lnR w="9525" cap="flat" cmpd="sng" algn="ctr">
                      <a:solidFill>
                        <a:srgbClr val="D6D3CC"/>
                      </a:solidFill>
                      <a:prstDash val="solid"/>
                      <a:round/>
                      <a:headEnd type="none" w="med" len="med"/>
                      <a:tailEnd type="none" w="med" len="med"/>
                    </a:lnR>
                    <a:lnT w="9525" cap="flat" cmpd="sng" algn="ctr">
                      <a:solidFill>
                        <a:srgbClr val="D6D3CC"/>
                      </a:solidFill>
                      <a:prstDash val="solid"/>
                      <a:round/>
                      <a:headEnd type="none" w="med" len="med"/>
                      <a:tailEnd type="none" w="med" len="med"/>
                    </a:lnT>
                    <a:lnB w="9525" cap="flat" cmpd="sng" algn="ctr">
                      <a:solidFill>
                        <a:srgbClr val="D6D3CC"/>
                      </a:solidFill>
                      <a:prstDash val="solid"/>
                      <a:round/>
                      <a:headEnd type="none" w="med" len="med"/>
                      <a:tailEnd type="none" w="med" len="med"/>
                    </a:lnB>
                    <a:solidFill>
                      <a:srgbClr val="15233B"/>
                    </a:solidFill>
                  </a:tcPr>
                </a:tc>
                <a:tc>
                  <a:txBody>
                    <a:bodyPr/>
                    <a:lstStyle/>
                    <a:p>
                      <a:pPr indent="0" marL="0">
                        <a:buNone/>
                      </a:pPr>
                      <a:r>
                        <a:rPr lang="en-US" sz="1500" b="1" dirty="0">
                          <a:solidFill>
                            <a:srgbClr val="FFFFFF"/>
                          </a:solidFill>
                        </a:rPr>
                        <a:t>Chosen</a:t>
                      </a:r>
                      <a:endParaRPr lang="en-US" sz="1500" dirty="0"/>
                    </a:p>
                  </a:txBody>
                  <a:tcPr marL="109728" marR="109728" marT="54864" marB="54864" anchor="ctr">
                    <a:lnL w="9525" cap="flat" cmpd="sng" algn="ctr">
                      <a:solidFill>
                        <a:srgbClr val="D6D3CC"/>
                      </a:solidFill>
                      <a:prstDash val="solid"/>
                      <a:round/>
                      <a:headEnd type="none" w="med" len="med"/>
                      <a:tailEnd type="none" w="med" len="med"/>
                    </a:lnL>
                    <a:lnR w="9525" cap="flat" cmpd="sng" algn="ctr">
                      <a:solidFill>
                        <a:srgbClr val="D6D3CC"/>
                      </a:solidFill>
                      <a:prstDash val="solid"/>
                      <a:round/>
                      <a:headEnd type="none" w="med" len="med"/>
                      <a:tailEnd type="none" w="med" len="med"/>
                    </a:lnR>
                    <a:lnT w="9525" cap="flat" cmpd="sng" algn="ctr">
                      <a:solidFill>
                        <a:srgbClr val="D6D3CC"/>
                      </a:solidFill>
                      <a:prstDash val="solid"/>
                      <a:round/>
                      <a:headEnd type="none" w="med" len="med"/>
                      <a:tailEnd type="none" w="med" len="med"/>
                    </a:lnT>
                    <a:lnB w="9525" cap="flat" cmpd="sng" algn="ctr">
                      <a:solidFill>
                        <a:srgbClr val="D6D3CC"/>
                      </a:solidFill>
                      <a:prstDash val="solid"/>
                      <a:round/>
                      <a:headEnd type="none" w="med" len="med"/>
                      <a:tailEnd type="none" w="med" len="med"/>
                    </a:lnB>
                    <a:solidFill>
                      <a:srgbClr val="15233B"/>
                    </a:solidFill>
                  </a:tcPr>
                </a:tc>
                <a:tc>
                  <a:txBody>
                    <a:bodyPr/>
                    <a:lstStyle/>
                    <a:p>
                      <a:pPr indent="0" marL="0">
                        <a:buNone/>
                      </a:pPr>
                      <a:r>
                        <a:rPr lang="en-US" sz="1500" b="1" dirty="0">
                          <a:solidFill>
                            <a:srgbClr val="FFFFFF"/>
                          </a:solidFill>
                        </a:rPr>
                        <a:t>Why</a:t>
                      </a:r>
                      <a:endParaRPr lang="en-US" sz="1500" dirty="0"/>
                    </a:p>
                  </a:txBody>
                  <a:tcPr marL="109728" marR="109728" marT="54864" marB="54864" anchor="ctr">
                    <a:lnL w="9525" cap="flat" cmpd="sng" algn="ctr">
                      <a:solidFill>
                        <a:srgbClr val="D6D3CC"/>
                      </a:solidFill>
                      <a:prstDash val="solid"/>
                      <a:round/>
                      <a:headEnd type="none" w="med" len="med"/>
                      <a:tailEnd type="none" w="med" len="med"/>
                    </a:lnL>
                    <a:lnR w="9525" cap="flat" cmpd="sng" algn="ctr">
                      <a:solidFill>
                        <a:srgbClr val="D6D3CC"/>
                      </a:solidFill>
                      <a:prstDash val="solid"/>
                      <a:round/>
                      <a:headEnd type="none" w="med" len="med"/>
                      <a:tailEnd type="none" w="med" len="med"/>
                    </a:lnR>
                    <a:lnT w="9525" cap="flat" cmpd="sng" algn="ctr">
                      <a:solidFill>
                        <a:srgbClr val="D6D3CC"/>
                      </a:solidFill>
                      <a:prstDash val="solid"/>
                      <a:round/>
                      <a:headEnd type="none" w="med" len="med"/>
                      <a:tailEnd type="none" w="med" len="med"/>
                    </a:lnT>
                    <a:lnB w="9525" cap="flat" cmpd="sng" algn="ctr">
                      <a:solidFill>
                        <a:srgbClr val="D6D3CC"/>
                      </a:solidFill>
                      <a:prstDash val="solid"/>
                      <a:round/>
                      <a:headEnd type="none" w="med" len="med"/>
                      <a:tailEnd type="none" w="med" len="med"/>
                    </a:lnB>
                    <a:solidFill>
                      <a:srgbClr val="15233B"/>
                    </a:solidFill>
                  </a:tcPr>
                </a:tc>
              </a:tr>
              <a:tr h="640080">
                <a:tc>
                  <a:txBody>
                    <a:bodyPr/>
                    <a:lstStyle/>
                    <a:p>
                      <a:pPr indent="0" marL="0">
                        <a:buNone/>
                      </a:pPr>
                      <a:r>
                        <a:rPr lang="en-US" sz="1500" dirty="0">
                          <a:solidFill>
                            <a:schemeClr val="tx1"/>
                          </a:solidFill>
                        </a:rPr>
                        <a:t>Days of history</a:t>
                      </a:r>
                      <a:endParaRPr lang="en-US" sz="1500" dirty="0"/>
                    </a:p>
                  </a:txBody>
                  <a:tcPr marL="109728" marR="109728" marT="54864" marB="54864" anchor="ctr">
                    <a:lnL w="9525" cap="flat" cmpd="sng" algn="ctr">
                      <a:solidFill>
                        <a:srgbClr val="D6D3CC"/>
                      </a:solidFill>
                      <a:prstDash val="solid"/>
                      <a:round/>
                      <a:headEnd type="none" w="med" len="med"/>
                      <a:tailEnd type="none" w="med" len="med"/>
                    </a:lnL>
                    <a:lnR w="9525" cap="flat" cmpd="sng" algn="ctr">
                      <a:solidFill>
                        <a:srgbClr val="D6D3CC"/>
                      </a:solidFill>
                      <a:prstDash val="solid"/>
                      <a:round/>
                      <a:headEnd type="none" w="med" len="med"/>
                      <a:tailEnd type="none" w="med" len="med"/>
                    </a:lnR>
                    <a:lnT w="9525" cap="flat" cmpd="sng" algn="ctr">
                      <a:solidFill>
                        <a:srgbClr val="D6D3CC"/>
                      </a:solidFill>
                      <a:prstDash val="solid"/>
                      <a:round/>
                      <a:headEnd type="none" w="med" len="med"/>
                      <a:tailEnd type="none" w="med" len="med"/>
                    </a:lnT>
                    <a:lnB w="9525" cap="flat" cmpd="sng" algn="ctr">
                      <a:solidFill>
                        <a:srgbClr val="D6D3CC"/>
                      </a:solidFill>
                      <a:prstDash val="solid"/>
                      <a:round/>
                      <a:headEnd type="none" w="med" len="med"/>
                      <a:tailEnd type="none" w="med" len="med"/>
                    </a:lnB>
                  </a:tcPr>
                </a:tc>
                <a:tc>
                  <a:txBody>
                    <a:bodyPr/>
                    <a:lstStyle/>
                    <a:p>
                      <a:pPr indent="0" marL="0">
                        <a:buNone/>
                      </a:pPr>
                      <a:r>
                        <a:rPr lang="en-US" sz="1500" dirty="0">
                          <a:solidFill>
                            <a:schemeClr val="tx1"/>
                          </a:solidFill>
                        </a:rPr>
                        <a:t>5, 10, 20</a:t>
                      </a:r>
                      <a:endParaRPr lang="en-US" sz="1500" dirty="0"/>
                    </a:p>
                  </a:txBody>
                  <a:tcPr marL="109728" marR="109728" marT="54864" marB="54864" anchor="ctr">
                    <a:lnL w="9525" cap="flat" cmpd="sng" algn="ctr">
                      <a:solidFill>
                        <a:srgbClr val="D6D3CC"/>
                      </a:solidFill>
                      <a:prstDash val="solid"/>
                      <a:round/>
                      <a:headEnd type="none" w="med" len="med"/>
                      <a:tailEnd type="none" w="med" len="med"/>
                    </a:lnL>
                    <a:lnR w="9525" cap="flat" cmpd="sng" algn="ctr">
                      <a:solidFill>
                        <a:srgbClr val="D6D3CC"/>
                      </a:solidFill>
                      <a:prstDash val="solid"/>
                      <a:round/>
                      <a:headEnd type="none" w="med" len="med"/>
                      <a:tailEnd type="none" w="med" len="med"/>
                    </a:lnR>
                    <a:lnT w="9525" cap="flat" cmpd="sng" algn="ctr">
                      <a:solidFill>
                        <a:srgbClr val="D6D3CC"/>
                      </a:solidFill>
                      <a:prstDash val="solid"/>
                      <a:round/>
                      <a:headEnd type="none" w="med" len="med"/>
                      <a:tailEnd type="none" w="med" len="med"/>
                    </a:lnT>
                    <a:lnB w="9525" cap="flat" cmpd="sng" algn="ctr">
                      <a:solidFill>
                        <a:srgbClr val="D6D3CC"/>
                      </a:solidFill>
                      <a:prstDash val="solid"/>
                      <a:round/>
                      <a:headEnd type="none" w="med" len="med"/>
                      <a:tailEnd type="none" w="med" len="med"/>
                    </a:lnB>
                  </a:tcPr>
                </a:tc>
                <a:tc>
                  <a:txBody>
                    <a:bodyPr/>
                    <a:lstStyle/>
                    <a:p>
                      <a:pPr indent="0" marL="0">
                        <a:buNone/>
                      </a:pPr>
                      <a:r>
                        <a:rPr lang="en-US" sz="1500" dirty="0">
                          <a:solidFill>
                            <a:schemeClr val="tx1"/>
                          </a:solidFill>
                        </a:rPr>
                        <a:t>10</a:t>
                      </a:r>
                      <a:endParaRPr lang="en-US" sz="1500" dirty="0"/>
                    </a:p>
                  </a:txBody>
                  <a:tcPr marL="109728" marR="109728" marT="54864" marB="54864" anchor="ctr">
                    <a:lnL w="9525" cap="flat" cmpd="sng" algn="ctr">
                      <a:solidFill>
                        <a:srgbClr val="D6D3CC"/>
                      </a:solidFill>
                      <a:prstDash val="solid"/>
                      <a:round/>
                      <a:headEnd type="none" w="med" len="med"/>
                      <a:tailEnd type="none" w="med" len="med"/>
                    </a:lnL>
                    <a:lnR w="9525" cap="flat" cmpd="sng" algn="ctr">
                      <a:solidFill>
                        <a:srgbClr val="D6D3CC"/>
                      </a:solidFill>
                      <a:prstDash val="solid"/>
                      <a:round/>
                      <a:headEnd type="none" w="med" len="med"/>
                      <a:tailEnd type="none" w="med" len="med"/>
                    </a:lnR>
                    <a:lnT w="9525" cap="flat" cmpd="sng" algn="ctr">
                      <a:solidFill>
                        <a:srgbClr val="D6D3CC"/>
                      </a:solidFill>
                      <a:prstDash val="solid"/>
                      <a:round/>
                      <a:headEnd type="none" w="med" len="med"/>
                      <a:tailEnd type="none" w="med" len="med"/>
                    </a:lnT>
                    <a:lnB w="9525" cap="flat" cmpd="sng" algn="ctr">
                      <a:solidFill>
                        <a:srgbClr val="D6D3CC"/>
                      </a:solidFill>
                      <a:prstDash val="solid"/>
                      <a:round/>
                      <a:headEnd type="none" w="med" len="med"/>
                      <a:tailEnd type="none" w="med" len="med"/>
                    </a:lnB>
                  </a:tcPr>
                </a:tc>
                <a:tc>
                  <a:txBody>
                    <a:bodyPr/>
                    <a:lstStyle/>
                    <a:p>
                      <a:pPr indent="0" marL="0">
                        <a:buNone/>
                      </a:pPr>
                      <a:r>
                        <a:rPr lang="en-US" sz="1500" dirty="0">
                          <a:solidFill>
                            <a:schemeClr val="tx1"/>
                          </a:solidFill>
                        </a:rPr>
                        <a:t>20 days cut shortages 1% for 10% more bikes moved</a:t>
                      </a:r>
                      <a:endParaRPr lang="en-US" sz="1500" dirty="0"/>
                    </a:p>
                  </a:txBody>
                  <a:tcPr marL="109728" marR="109728" marT="54864" marB="54864" anchor="ctr">
                    <a:lnL w="9525" cap="flat" cmpd="sng" algn="ctr">
                      <a:solidFill>
                        <a:srgbClr val="D6D3CC"/>
                      </a:solidFill>
                      <a:prstDash val="solid"/>
                      <a:round/>
                      <a:headEnd type="none" w="med" len="med"/>
                      <a:tailEnd type="none" w="med" len="med"/>
                    </a:lnL>
                    <a:lnR w="9525" cap="flat" cmpd="sng" algn="ctr">
                      <a:solidFill>
                        <a:srgbClr val="D6D3CC"/>
                      </a:solidFill>
                      <a:prstDash val="solid"/>
                      <a:round/>
                      <a:headEnd type="none" w="med" len="med"/>
                      <a:tailEnd type="none" w="med" len="med"/>
                    </a:lnR>
                    <a:lnT w="9525" cap="flat" cmpd="sng" algn="ctr">
                      <a:solidFill>
                        <a:srgbClr val="D6D3CC"/>
                      </a:solidFill>
                      <a:prstDash val="solid"/>
                      <a:round/>
                      <a:headEnd type="none" w="med" len="med"/>
                      <a:tailEnd type="none" w="med" len="med"/>
                    </a:lnT>
                    <a:lnB w="9525" cap="flat" cmpd="sng" algn="ctr">
                      <a:solidFill>
                        <a:srgbClr val="D6D3CC"/>
                      </a:solidFill>
                      <a:prstDash val="solid"/>
                      <a:round/>
                      <a:headEnd type="none" w="med" len="med"/>
                      <a:tailEnd type="none" w="med" len="med"/>
                    </a:lnB>
                  </a:tcPr>
                </a:tc>
              </a:tr>
              <a:tr h="640080">
                <a:tc>
                  <a:txBody>
                    <a:bodyPr/>
                    <a:lstStyle/>
                    <a:p>
                      <a:pPr indent="0" marL="0">
                        <a:buNone/>
                      </a:pPr>
                      <a:r>
                        <a:rPr lang="en-US" sz="1500" dirty="0">
                          <a:solidFill>
                            <a:schemeClr val="tx1"/>
                          </a:solidFill>
                        </a:rPr>
                        <a:t>Stretch band by forecast</a:t>
                      </a:r>
                      <a:endParaRPr lang="en-US" sz="1500" dirty="0"/>
                    </a:p>
                  </a:txBody>
                  <a:tcPr marL="109728" marR="109728" marT="54864" marB="54864" anchor="ctr">
                    <a:lnL w="9525" cap="flat" cmpd="sng" algn="ctr">
                      <a:solidFill>
                        <a:srgbClr val="D6D3CC"/>
                      </a:solidFill>
                      <a:prstDash val="solid"/>
                      <a:round/>
                      <a:headEnd type="none" w="med" len="med"/>
                      <a:tailEnd type="none" w="med" len="med"/>
                    </a:lnL>
                    <a:lnR w="9525" cap="flat" cmpd="sng" algn="ctr">
                      <a:solidFill>
                        <a:srgbClr val="D6D3CC"/>
                      </a:solidFill>
                      <a:prstDash val="solid"/>
                      <a:round/>
                      <a:headEnd type="none" w="med" len="med"/>
                      <a:tailEnd type="none" w="med" len="med"/>
                    </a:lnR>
                    <a:lnT w="9525" cap="flat" cmpd="sng" algn="ctr">
                      <a:solidFill>
                        <a:srgbClr val="D6D3CC"/>
                      </a:solidFill>
                      <a:prstDash val="solid"/>
                      <a:round/>
                      <a:headEnd type="none" w="med" len="med"/>
                      <a:tailEnd type="none" w="med" len="med"/>
                    </a:lnT>
                    <a:lnB w="9525" cap="flat" cmpd="sng" algn="ctr">
                      <a:solidFill>
                        <a:srgbClr val="D6D3CC"/>
                      </a:solidFill>
                      <a:prstDash val="solid"/>
                      <a:round/>
                      <a:headEnd type="none" w="med" len="med"/>
                      <a:tailEnd type="none" w="med" len="med"/>
                    </a:lnB>
                  </a:tcPr>
                </a:tc>
                <a:tc>
                  <a:txBody>
                    <a:bodyPr/>
                    <a:lstStyle/>
                    <a:p>
                      <a:pPr indent="0" marL="0">
                        <a:buNone/>
                      </a:pPr>
                      <a:r>
                        <a:rPr lang="en-US" sz="1500" dirty="0">
                          <a:solidFill>
                            <a:schemeClr val="tx1"/>
                          </a:solidFill>
                        </a:rPr>
                        <a:t>yes, no</a:t>
                      </a:r>
                      <a:endParaRPr lang="en-US" sz="1500" dirty="0"/>
                    </a:p>
                  </a:txBody>
                  <a:tcPr marL="109728" marR="109728" marT="54864" marB="54864" anchor="ctr">
                    <a:lnL w="9525" cap="flat" cmpd="sng" algn="ctr">
                      <a:solidFill>
                        <a:srgbClr val="D6D3CC"/>
                      </a:solidFill>
                      <a:prstDash val="solid"/>
                      <a:round/>
                      <a:headEnd type="none" w="med" len="med"/>
                      <a:tailEnd type="none" w="med" len="med"/>
                    </a:lnL>
                    <a:lnR w="9525" cap="flat" cmpd="sng" algn="ctr">
                      <a:solidFill>
                        <a:srgbClr val="D6D3CC"/>
                      </a:solidFill>
                      <a:prstDash val="solid"/>
                      <a:round/>
                      <a:headEnd type="none" w="med" len="med"/>
                      <a:tailEnd type="none" w="med" len="med"/>
                    </a:lnR>
                    <a:lnT w="9525" cap="flat" cmpd="sng" algn="ctr">
                      <a:solidFill>
                        <a:srgbClr val="D6D3CC"/>
                      </a:solidFill>
                      <a:prstDash val="solid"/>
                      <a:round/>
                      <a:headEnd type="none" w="med" len="med"/>
                      <a:tailEnd type="none" w="med" len="med"/>
                    </a:lnT>
                    <a:lnB w="9525" cap="flat" cmpd="sng" algn="ctr">
                      <a:solidFill>
                        <a:srgbClr val="D6D3CC"/>
                      </a:solidFill>
                      <a:prstDash val="solid"/>
                      <a:round/>
                      <a:headEnd type="none" w="med" len="med"/>
                      <a:tailEnd type="none" w="med" len="med"/>
                    </a:lnB>
                  </a:tcPr>
                </a:tc>
                <a:tc>
                  <a:txBody>
                    <a:bodyPr/>
                    <a:lstStyle/>
                    <a:p>
                      <a:pPr indent="0" marL="0">
                        <a:buNone/>
                      </a:pPr>
                      <a:r>
                        <a:rPr lang="en-US" sz="1500" dirty="0">
                          <a:solidFill>
                            <a:schemeClr val="tx1"/>
                          </a:solidFill>
                        </a:rPr>
                        <a:t>no</a:t>
                      </a:r>
                      <a:endParaRPr lang="en-US" sz="1500" dirty="0"/>
                    </a:p>
                  </a:txBody>
                  <a:tcPr marL="109728" marR="109728" marT="54864" marB="54864" anchor="ctr">
                    <a:lnL w="9525" cap="flat" cmpd="sng" algn="ctr">
                      <a:solidFill>
                        <a:srgbClr val="D6D3CC"/>
                      </a:solidFill>
                      <a:prstDash val="solid"/>
                      <a:round/>
                      <a:headEnd type="none" w="med" len="med"/>
                      <a:tailEnd type="none" w="med" len="med"/>
                    </a:lnL>
                    <a:lnR w="9525" cap="flat" cmpd="sng" algn="ctr">
                      <a:solidFill>
                        <a:srgbClr val="D6D3CC"/>
                      </a:solidFill>
                      <a:prstDash val="solid"/>
                      <a:round/>
                      <a:headEnd type="none" w="med" len="med"/>
                      <a:tailEnd type="none" w="med" len="med"/>
                    </a:lnR>
                    <a:lnT w="9525" cap="flat" cmpd="sng" algn="ctr">
                      <a:solidFill>
                        <a:srgbClr val="D6D3CC"/>
                      </a:solidFill>
                      <a:prstDash val="solid"/>
                      <a:round/>
                      <a:headEnd type="none" w="med" len="med"/>
                      <a:tailEnd type="none" w="med" len="med"/>
                    </a:lnT>
                    <a:lnB w="9525" cap="flat" cmpd="sng" algn="ctr">
                      <a:solidFill>
                        <a:srgbClr val="D6D3CC"/>
                      </a:solidFill>
                      <a:prstDash val="solid"/>
                      <a:round/>
                      <a:headEnd type="none" w="med" len="med"/>
                      <a:tailEnd type="none" w="med" len="med"/>
                    </a:lnB>
                  </a:tcPr>
                </a:tc>
                <a:tc>
                  <a:txBody>
                    <a:bodyPr/>
                    <a:lstStyle/>
                    <a:p>
                      <a:pPr indent="0" marL="0">
                        <a:buNone/>
                      </a:pPr>
                      <a:r>
                        <a:rPr lang="en-US" sz="1500" dirty="0">
                          <a:solidFill>
                            <a:schemeClr val="tx1"/>
                          </a:solidFill>
                        </a:rPr>
                        <a:t>more shortages and more bikes moved</a:t>
                      </a:r>
                      <a:endParaRPr lang="en-US" sz="1500" dirty="0"/>
                    </a:p>
                  </a:txBody>
                  <a:tcPr marL="109728" marR="109728" marT="54864" marB="54864" anchor="ctr">
                    <a:lnL w="9525" cap="flat" cmpd="sng" algn="ctr">
                      <a:solidFill>
                        <a:srgbClr val="D6D3CC"/>
                      </a:solidFill>
                      <a:prstDash val="solid"/>
                      <a:round/>
                      <a:headEnd type="none" w="med" len="med"/>
                      <a:tailEnd type="none" w="med" len="med"/>
                    </a:lnL>
                    <a:lnR w="9525" cap="flat" cmpd="sng" algn="ctr">
                      <a:solidFill>
                        <a:srgbClr val="D6D3CC"/>
                      </a:solidFill>
                      <a:prstDash val="solid"/>
                      <a:round/>
                      <a:headEnd type="none" w="med" len="med"/>
                      <a:tailEnd type="none" w="med" len="med"/>
                    </a:lnR>
                    <a:lnT w="9525" cap="flat" cmpd="sng" algn="ctr">
                      <a:solidFill>
                        <a:srgbClr val="D6D3CC"/>
                      </a:solidFill>
                      <a:prstDash val="solid"/>
                      <a:round/>
                      <a:headEnd type="none" w="med" len="med"/>
                      <a:tailEnd type="none" w="med" len="med"/>
                    </a:lnT>
                    <a:lnB w="9525" cap="flat" cmpd="sng" algn="ctr">
                      <a:solidFill>
                        <a:srgbClr val="D6D3CC"/>
                      </a:solidFill>
                      <a:prstDash val="solid"/>
                      <a:round/>
                      <a:headEnd type="none" w="med" len="med"/>
                      <a:tailEnd type="none" w="med" len="med"/>
                    </a:lnB>
                  </a:tcPr>
                </a:tc>
              </a:tr>
              <a:tr h="640080">
                <a:tc>
                  <a:txBody>
                    <a:bodyPr/>
                    <a:lstStyle/>
                    <a:p>
                      <a:pPr indent="0" marL="0">
                        <a:buNone/>
                      </a:pPr>
                      <a:r>
                        <a:rPr lang="en-US" sz="1500" dirty="0">
                          <a:solidFill>
                            <a:schemeClr val="tx1"/>
                          </a:solidFill>
                        </a:rPr>
                        <a:t>Daytime visit</a:t>
                      </a:r>
                      <a:endParaRPr lang="en-US" sz="1500" dirty="0"/>
                    </a:p>
                  </a:txBody>
                  <a:tcPr marL="109728" marR="109728" marT="54864" marB="54864" anchor="ctr">
                    <a:lnL w="9525" cap="flat" cmpd="sng" algn="ctr">
                      <a:solidFill>
                        <a:srgbClr val="D6D3CC"/>
                      </a:solidFill>
                      <a:prstDash val="solid"/>
                      <a:round/>
                      <a:headEnd type="none" w="med" len="med"/>
                      <a:tailEnd type="none" w="med" len="med"/>
                    </a:lnL>
                    <a:lnR w="9525" cap="flat" cmpd="sng" algn="ctr">
                      <a:solidFill>
                        <a:srgbClr val="D6D3CC"/>
                      </a:solidFill>
                      <a:prstDash val="solid"/>
                      <a:round/>
                      <a:headEnd type="none" w="med" len="med"/>
                      <a:tailEnd type="none" w="med" len="med"/>
                    </a:lnR>
                    <a:lnT w="9525" cap="flat" cmpd="sng" algn="ctr">
                      <a:solidFill>
                        <a:srgbClr val="D6D3CC"/>
                      </a:solidFill>
                      <a:prstDash val="solid"/>
                      <a:round/>
                      <a:headEnd type="none" w="med" len="med"/>
                      <a:tailEnd type="none" w="med" len="med"/>
                    </a:lnT>
                    <a:lnB w="9525" cap="flat" cmpd="sng" algn="ctr">
                      <a:solidFill>
                        <a:srgbClr val="D6D3CC"/>
                      </a:solidFill>
                      <a:prstDash val="solid"/>
                      <a:round/>
                      <a:headEnd type="none" w="med" len="med"/>
                      <a:tailEnd type="none" w="med" len="med"/>
                    </a:lnB>
                  </a:tcPr>
                </a:tc>
                <a:tc>
                  <a:txBody>
                    <a:bodyPr/>
                    <a:lstStyle/>
                    <a:p>
                      <a:pPr indent="0" marL="0">
                        <a:buNone/>
                      </a:pPr>
                      <a:r>
                        <a:rPr lang="en-US" sz="1500" dirty="0">
                          <a:solidFill>
                            <a:schemeClr val="tx1"/>
                          </a:solidFill>
                        </a:rPr>
                        <a:t>10:00, 12:00, 14:00</a:t>
                      </a:r>
                      <a:endParaRPr lang="en-US" sz="1500" dirty="0"/>
                    </a:p>
                  </a:txBody>
                  <a:tcPr marL="109728" marR="109728" marT="54864" marB="54864" anchor="ctr">
                    <a:lnL w="9525" cap="flat" cmpd="sng" algn="ctr">
                      <a:solidFill>
                        <a:srgbClr val="D6D3CC"/>
                      </a:solidFill>
                      <a:prstDash val="solid"/>
                      <a:round/>
                      <a:headEnd type="none" w="med" len="med"/>
                      <a:tailEnd type="none" w="med" len="med"/>
                    </a:lnL>
                    <a:lnR w="9525" cap="flat" cmpd="sng" algn="ctr">
                      <a:solidFill>
                        <a:srgbClr val="D6D3CC"/>
                      </a:solidFill>
                      <a:prstDash val="solid"/>
                      <a:round/>
                      <a:headEnd type="none" w="med" len="med"/>
                      <a:tailEnd type="none" w="med" len="med"/>
                    </a:lnR>
                    <a:lnT w="9525" cap="flat" cmpd="sng" algn="ctr">
                      <a:solidFill>
                        <a:srgbClr val="D6D3CC"/>
                      </a:solidFill>
                      <a:prstDash val="solid"/>
                      <a:round/>
                      <a:headEnd type="none" w="med" len="med"/>
                      <a:tailEnd type="none" w="med" len="med"/>
                    </a:lnT>
                    <a:lnB w="9525" cap="flat" cmpd="sng" algn="ctr">
                      <a:solidFill>
                        <a:srgbClr val="D6D3CC"/>
                      </a:solidFill>
                      <a:prstDash val="solid"/>
                      <a:round/>
                      <a:headEnd type="none" w="med" len="med"/>
                      <a:tailEnd type="none" w="med" len="med"/>
                    </a:lnB>
                  </a:tcPr>
                </a:tc>
                <a:tc>
                  <a:txBody>
                    <a:bodyPr/>
                    <a:lstStyle/>
                    <a:p>
                      <a:pPr indent="0" marL="0">
                        <a:buNone/>
                      </a:pPr>
                      <a:r>
                        <a:rPr lang="en-US" sz="1500" dirty="0">
                          <a:solidFill>
                            <a:schemeClr val="tx1"/>
                          </a:solidFill>
                        </a:rPr>
                        <a:t>14:00</a:t>
                      </a:r>
                      <a:endParaRPr lang="en-US" sz="1500" dirty="0"/>
                    </a:p>
                  </a:txBody>
                  <a:tcPr marL="109728" marR="109728" marT="54864" marB="54864" anchor="ctr">
                    <a:lnL w="9525" cap="flat" cmpd="sng" algn="ctr">
                      <a:solidFill>
                        <a:srgbClr val="D6D3CC"/>
                      </a:solidFill>
                      <a:prstDash val="solid"/>
                      <a:round/>
                      <a:headEnd type="none" w="med" len="med"/>
                      <a:tailEnd type="none" w="med" len="med"/>
                    </a:lnL>
                    <a:lnR w="9525" cap="flat" cmpd="sng" algn="ctr">
                      <a:solidFill>
                        <a:srgbClr val="D6D3CC"/>
                      </a:solidFill>
                      <a:prstDash val="solid"/>
                      <a:round/>
                      <a:headEnd type="none" w="med" len="med"/>
                      <a:tailEnd type="none" w="med" len="med"/>
                    </a:lnR>
                    <a:lnT w="9525" cap="flat" cmpd="sng" algn="ctr">
                      <a:solidFill>
                        <a:srgbClr val="D6D3CC"/>
                      </a:solidFill>
                      <a:prstDash val="solid"/>
                      <a:round/>
                      <a:headEnd type="none" w="med" len="med"/>
                      <a:tailEnd type="none" w="med" len="med"/>
                    </a:lnT>
                    <a:lnB w="9525" cap="flat" cmpd="sng" algn="ctr">
                      <a:solidFill>
                        <a:srgbClr val="D6D3CC"/>
                      </a:solidFill>
                      <a:prstDash val="solid"/>
                      <a:round/>
                      <a:headEnd type="none" w="med" len="med"/>
                      <a:tailEnd type="none" w="med" len="med"/>
                    </a:lnB>
                  </a:tcPr>
                </a:tc>
                <a:tc>
                  <a:txBody>
                    <a:bodyPr/>
                    <a:lstStyle/>
                    <a:p>
                      <a:pPr indent="0" marL="0">
                        <a:buNone/>
                      </a:pPr>
                      <a:r>
                        <a:rPr lang="en-US" sz="1500" dirty="0">
                          <a:solidFill>
                            <a:schemeClr val="tx1"/>
                          </a:solidFill>
                        </a:rPr>
                        <a:t>fewest shortages, just before offices drain</a:t>
                      </a:r>
                      <a:endParaRPr lang="en-US" sz="1500" dirty="0"/>
                    </a:p>
                  </a:txBody>
                  <a:tcPr marL="109728" marR="109728" marT="54864" marB="54864" anchor="ctr">
                    <a:lnL w="9525" cap="flat" cmpd="sng" algn="ctr">
                      <a:solidFill>
                        <a:srgbClr val="D6D3CC"/>
                      </a:solidFill>
                      <a:prstDash val="solid"/>
                      <a:round/>
                      <a:headEnd type="none" w="med" len="med"/>
                      <a:tailEnd type="none" w="med" len="med"/>
                    </a:lnL>
                    <a:lnR w="9525" cap="flat" cmpd="sng" algn="ctr">
                      <a:solidFill>
                        <a:srgbClr val="D6D3CC"/>
                      </a:solidFill>
                      <a:prstDash val="solid"/>
                      <a:round/>
                      <a:headEnd type="none" w="med" len="med"/>
                      <a:tailEnd type="none" w="med" len="med"/>
                    </a:lnR>
                    <a:lnT w="9525" cap="flat" cmpd="sng" algn="ctr">
                      <a:solidFill>
                        <a:srgbClr val="D6D3CC"/>
                      </a:solidFill>
                      <a:prstDash val="solid"/>
                      <a:round/>
                      <a:headEnd type="none" w="med" len="med"/>
                      <a:tailEnd type="none" w="med" len="med"/>
                    </a:lnT>
                    <a:lnB w="9525" cap="flat" cmpd="sng" algn="ctr">
                      <a:solidFill>
                        <a:srgbClr val="D6D3CC"/>
                      </a:solidFill>
                      <a:prstDash val="solid"/>
                      <a:round/>
                      <a:headEnd type="none" w="med" len="med"/>
                      <a:tailEnd type="none" w="med" len="med"/>
                    </a:lnB>
                  </a:tcPr>
                </a:tc>
              </a:tr>
              <a:tr h="640080">
                <a:tc>
                  <a:txBody>
                    <a:bodyPr/>
                    <a:lstStyle/>
                    <a:p>
                      <a:pPr indent="0" marL="0">
                        <a:buNone/>
                      </a:pPr>
                      <a:r>
                        <a:rPr lang="en-US" sz="1500" dirty="0">
                          <a:solidFill>
                            <a:schemeClr val="tx1"/>
                          </a:solidFill>
                        </a:rPr>
                        <a:t>Night budget, day stations</a:t>
                      </a:r>
                      <a:endParaRPr lang="en-US" sz="1500" dirty="0"/>
                    </a:p>
                  </a:txBody>
                  <a:tcPr marL="109728" marR="109728" marT="54864" marB="54864" anchor="ctr">
                    <a:lnL w="9525" cap="flat" cmpd="sng" algn="ctr">
                      <a:solidFill>
                        <a:srgbClr val="D6D3CC"/>
                      </a:solidFill>
                      <a:prstDash val="solid"/>
                      <a:round/>
                      <a:headEnd type="none" w="med" len="med"/>
                      <a:tailEnd type="none" w="med" len="med"/>
                    </a:lnL>
                    <a:lnR w="9525" cap="flat" cmpd="sng" algn="ctr">
                      <a:solidFill>
                        <a:srgbClr val="D6D3CC"/>
                      </a:solidFill>
                      <a:prstDash val="solid"/>
                      <a:round/>
                      <a:headEnd type="none" w="med" len="med"/>
                      <a:tailEnd type="none" w="med" len="med"/>
                    </a:lnR>
                    <a:lnT w="9525" cap="flat" cmpd="sng" algn="ctr">
                      <a:solidFill>
                        <a:srgbClr val="D6D3CC"/>
                      </a:solidFill>
                      <a:prstDash val="solid"/>
                      <a:round/>
                      <a:headEnd type="none" w="med" len="med"/>
                      <a:tailEnd type="none" w="med" len="med"/>
                    </a:lnT>
                    <a:lnB w="9525" cap="flat" cmpd="sng" algn="ctr">
                      <a:solidFill>
                        <a:srgbClr val="D6D3CC"/>
                      </a:solidFill>
                      <a:prstDash val="solid"/>
                      <a:round/>
                      <a:headEnd type="none" w="med" len="med"/>
                      <a:tailEnd type="none" w="med" len="med"/>
                    </a:lnB>
                  </a:tcPr>
                </a:tc>
                <a:tc>
                  <a:txBody>
                    <a:bodyPr/>
                    <a:lstStyle/>
                    <a:p>
                      <a:pPr indent="0" marL="0">
                        <a:buNone/>
                      </a:pPr>
                      <a:r>
                        <a:rPr lang="en-US" sz="1500" dirty="0">
                          <a:solidFill>
                            <a:schemeClr val="tx1"/>
                          </a:solidFill>
                        </a:rPr>
                        <a:t>250 to 9,000 bikes; 25 to 400 stations</a:t>
                      </a:r>
                      <a:endParaRPr lang="en-US" sz="1500" dirty="0"/>
                    </a:p>
                  </a:txBody>
                  <a:tcPr marL="109728" marR="109728" marT="54864" marB="54864" anchor="ctr">
                    <a:lnL w="9525" cap="flat" cmpd="sng" algn="ctr">
                      <a:solidFill>
                        <a:srgbClr val="D6D3CC"/>
                      </a:solidFill>
                      <a:prstDash val="solid"/>
                      <a:round/>
                      <a:headEnd type="none" w="med" len="med"/>
                      <a:tailEnd type="none" w="med" len="med"/>
                    </a:lnL>
                    <a:lnR w="9525" cap="flat" cmpd="sng" algn="ctr">
                      <a:solidFill>
                        <a:srgbClr val="D6D3CC"/>
                      </a:solidFill>
                      <a:prstDash val="solid"/>
                      <a:round/>
                      <a:headEnd type="none" w="med" len="med"/>
                      <a:tailEnd type="none" w="med" len="med"/>
                    </a:lnR>
                    <a:lnT w="9525" cap="flat" cmpd="sng" algn="ctr">
                      <a:solidFill>
                        <a:srgbClr val="D6D3CC"/>
                      </a:solidFill>
                      <a:prstDash val="solid"/>
                      <a:round/>
                      <a:headEnd type="none" w="med" len="med"/>
                      <a:tailEnd type="none" w="med" len="med"/>
                    </a:lnT>
                    <a:lnB w="9525" cap="flat" cmpd="sng" algn="ctr">
                      <a:solidFill>
                        <a:srgbClr val="D6D3CC"/>
                      </a:solidFill>
                      <a:prstDash val="solid"/>
                      <a:round/>
                      <a:headEnd type="none" w="med" len="med"/>
                      <a:tailEnd type="none" w="med" len="med"/>
                    </a:lnB>
                  </a:tcPr>
                </a:tc>
                <a:tc>
                  <a:txBody>
                    <a:bodyPr/>
                    <a:lstStyle/>
                    <a:p>
                      <a:pPr indent="0" marL="0">
                        <a:buNone/>
                      </a:pPr>
                      <a:r>
                        <a:rPr lang="en-US" sz="1500" dirty="0">
                          <a:solidFill>
                            <a:schemeClr val="tx1"/>
                          </a:solidFill>
                        </a:rPr>
                        <a:t>3,000 and 100</a:t>
                      </a:r>
                      <a:endParaRPr lang="en-US" sz="1500" dirty="0"/>
                    </a:p>
                  </a:txBody>
                  <a:tcPr marL="109728" marR="109728" marT="54864" marB="54864" anchor="ctr">
                    <a:lnL w="9525" cap="flat" cmpd="sng" algn="ctr">
                      <a:solidFill>
                        <a:srgbClr val="D6D3CC"/>
                      </a:solidFill>
                      <a:prstDash val="solid"/>
                      <a:round/>
                      <a:headEnd type="none" w="med" len="med"/>
                      <a:tailEnd type="none" w="med" len="med"/>
                    </a:lnL>
                    <a:lnR w="9525" cap="flat" cmpd="sng" algn="ctr">
                      <a:solidFill>
                        <a:srgbClr val="D6D3CC"/>
                      </a:solidFill>
                      <a:prstDash val="solid"/>
                      <a:round/>
                      <a:headEnd type="none" w="med" len="med"/>
                      <a:tailEnd type="none" w="med" len="med"/>
                    </a:lnR>
                    <a:lnT w="9525" cap="flat" cmpd="sng" algn="ctr">
                      <a:solidFill>
                        <a:srgbClr val="D6D3CC"/>
                      </a:solidFill>
                      <a:prstDash val="solid"/>
                      <a:round/>
                      <a:headEnd type="none" w="med" len="med"/>
                      <a:tailEnd type="none" w="med" len="med"/>
                    </a:lnT>
                    <a:lnB w="9525" cap="flat" cmpd="sng" algn="ctr">
                      <a:solidFill>
                        <a:srgbClr val="D6D3CC"/>
                      </a:solidFill>
                      <a:prstDash val="solid"/>
                      <a:round/>
                      <a:headEnd type="none" w="med" len="med"/>
                      <a:tailEnd type="none" w="med" len="med"/>
                    </a:lnB>
                  </a:tcPr>
                </a:tc>
                <a:tc>
                  <a:txBody>
                    <a:bodyPr/>
                    <a:lstStyle/>
                    <a:p>
                      <a:pPr indent="0" marL="0">
                        <a:buNone/>
                      </a:pPr>
                      <a:r>
                        <a:rPr lang="en-US" sz="1500" dirty="0">
                          <a:solidFill>
                            <a:schemeClr val="tx1"/>
                          </a:solidFill>
                        </a:rPr>
                        <a:t>fewest shortages without moving more than Citi Bike's 2,707 a day (Jan to Sep 2025)</a:t>
                      </a:r>
                      <a:endParaRPr lang="en-US" sz="1500" dirty="0"/>
                    </a:p>
                  </a:txBody>
                  <a:tcPr marL="109728" marR="109728" marT="54864" marB="54864" anchor="ctr">
                    <a:lnL w="9525" cap="flat" cmpd="sng" algn="ctr">
                      <a:solidFill>
                        <a:srgbClr val="D6D3CC"/>
                      </a:solidFill>
                      <a:prstDash val="solid"/>
                      <a:round/>
                      <a:headEnd type="none" w="med" len="med"/>
                      <a:tailEnd type="none" w="med" len="med"/>
                    </a:lnL>
                    <a:lnR w="9525" cap="flat" cmpd="sng" algn="ctr">
                      <a:solidFill>
                        <a:srgbClr val="D6D3CC"/>
                      </a:solidFill>
                      <a:prstDash val="solid"/>
                      <a:round/>
                      <a:headEnd type="none" w="med" len="med"/>
                      <a:tailEnd type="none" w="med" len="med"/>
                    </a:lnR>
                    <a:lnT w="9525" cap="flat" cmpd="sng" algn="ctr">
                      <a:solidFill>
                        <a:srgbClr val="D6D3CC"/>
                      </a:solidFill>
                      <a:prstDash val="solid"/>
                      <a:round/>
                      <a:headEnd type="none" w="med" len="med"/>
                      <a:tailEnd type="none" w="med" len="med"/>
                    </a:lnT>
                    <a:lnB w="9525" cap="flat" cmpd="sng" algn="ctr">
                      <a:solidFill>
                        <a:srgbClr val="D6D3CC"/>
                      </a:solidFill>
                      <a:prstDash val="solid"/>
                      <a:round/>
                      <a:headEnd type="none" w="med" len="med"/>
                      <a:tailEnd type="none" w="med" len="med"/>
                    </a:lnB>
                  </a:tcPr>
                </a:tc>
              </a:tr>
            </a:tbl>
          </a:graphicData>
        </a:graphic>
      </p:graphicFrame>
      <p:sp>
        <p:nvSpPr>
          <p:cNvPr id="4" name="card"/>
          <p:cNvSpPr/>
          <p:nvPr/>
        </p:nvSpPr>
        <p:spPr>
          <a:xfrm>
            <a:off x="548640" y="4892040"/>
            <a:ext cx="11094415" cy="1188720"/>
          </a:xfrm>
          <a:prstGeom prst="roundRect">
            <a:avLst>
              <a:gd name="adj" fmla="val 6154"/>
            </a:avLst>
          </a:prstGeom>
          <a:solidFill>
            <a:srgbClr val="E3ECF8"/>
          </a:solidFill>
          <a:ln/>
        </p:spPr>
      </p:sp>
      <p:sp>
        <p:nvSpPr>
          <p:cNvPr id="5" name="Text 2"/>
          <p:cNvSpPr txBox="1"/>
          <p:nvPr/>
        </p:nvSpPr>
        <p:spPr>
          <a:xfrm>
            <a:off x="822960" y="4892040"/>
            <a:ext cx="10545775" cy="1188720"/>
          </a:xfrm>
          <a:prstGeom prst="rect">
            <a:avLst/>
          </a:prstGeom>
          <a:noFill/>
          <a:ln/>
        </p:spPr>
        <p:txBody>
          <a:bodyPr wrap="square" lIns="0" tIns="0" rIns="0" bIns="0" rtlCol="0" anchor="ctr"/>
          <a:lstStyle/>
          <a:p>
            <a:pPr indent="0" marL="0">
              <a:buNone/>
            </a:pPr>
            <a:r>
              <a:rPr lang="en-US" sz="1600" b="1" dirty="0">
                <a:solidFill>
                  <a:schemeClr val="accent4"/>
                </a:solidFill>
              </a:rPr>
              <a:t>The 3,000 counts every bike loaded or unloaded. </a:t>
            </a:r>
            <a:pPr indent="0" marL="0">
              <a:buNone/>
            </a:pPr>
            <a:r>
              <a:rPr lang="en-US" sz="1600" dirty="0">
                <a:solidFill>
                  <a:schemeClr val="accent4"/>
                </a:solidFill>
              </a:rPr>
              <a:t>A bike moved is picked up once and dropped once, so the night moves about 1,900 bikes.</a:t>
            </a:r>
            <a:endParaRPr lang="en-US" sz="1600" dirty="0"/>
          </a:p>
        </p:txBody>
      </p:sp>
      <p:sp>
        <p:nvSpPr>
          <p:cNvPr id="25" name="Slide Number Placeholder 0"/>
          <p:cNvSpPr>
            <a:spLocks noGrp="1"/>
          </p:cNvSpPr>
          <p:nvPr>
            <p:ph type="sldNum" sz="quarter" idx="4294967295"/>
          </p:nvPr>
        </p:nvSpPr>
        <p:spPr>
          <a:xfrm>
            <a:off x="1118585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68680"/>
          </a:xfrm>
          <a:prstGeom prst="rect">
            <a:avLst/>
          </a:prstGeom>
          <a:noFill/>
          <a:ln/>
        </p:spPr>
        <p:txBody>
          <a:bodyPr wrap="square" lIns="0" tIns="0" rIns="0" bIns="0" rtlCol="0" anchor="t"/>
          <a:lstStyle/>
          <a:p>
            <a:pPr algn="l" indent="0" marL="0">
              <a:buNone/>
            </a:pPr>
            <a:r>
              <a:rPr lang="en-US" sz="2800" b="1" dirty="0">
                <a:solidFill>
                  <a:schemeClr val="tx1"/>
                </a:solidFill>
              </a:rPr>
              <a:t>62% fewer riders turned away, with 57% fewer bikes moved</a:t>
            </a:r>
            <a:endParaRPr lang="en-US" sz="2800" dirty="0"/>
          </a:p>
        </p:txBody>
      </p:sp>
      <p:pic>
        <p:nvPicPr>
          <p:cNvPr id="3" name="schedules compared" descr="schedules compared">    </p:cNvPr>
          <p:cNvPicPr>
            <a:picLocks noChangeAspect="1"/>
          </p:cNvPicPr>
          <p:nvPr/>
        </p:nvPicPr>
        <p:blipFill>
          <a:blip r:embed="rId1"/>
          <a:stretch>
            <a:fillRect/>
          </a:stretch>
        </p:blipFill>
        <p:spPr>
          <a:xfrm>
            <a:off x="548640" y="1841310"/>
            <a:ext cx="11064240" cy="3495419"/>
          </a:xfrm>
          <a:prstGeom prst="rect">
            <a:avLst/>
          </a:prstGeom>
        </p:spPr>
      </p:pic>
      <p:sp>
        <p:nvSpPr>
          <p:cNvPr id="4" name="caption"/>
          <p:cNvSpPr txBox="1"/>
          <p:nvPr/>
        </p:nvSpPr>
        <p:spPr>
          <a:xfrm>
            <a:off x="548640" y="5428170"/>
            <a:ext cx="11064240" cy="320040"/>
          </a:xfrm>
          <a:prstGeom prst="rect">
            <a:avLst/>
          </a:prstGeom>
          <a:noFill/>
          <a:ln/>
        </p:spPr>
        <p:txBody>
          <a:bodyPr wrap="square" lIns="0" tIns="0" rIns="0" bIns="0" rtlCol="0" anchor="ctr"/>
          <a:lstStyle/>
          <a:p>
            <a:pPr indent="0" marL="0">
              <a:buNone/>
            </a:pPr>
            <a:r>
              <a:rPr lang="en-US" sz="1100" dirty="0">
                <a:solidFill>
                  <a:schemeClr val="accent6"/>
                </a:solidFill>
              </a:rPr>
              <a:t>Test-year averages, 2,470 stations. Band known in advance = perfect foresight, a ceiling no real forecast reaches.</a:t>
            </a:r>
            <a:endParaRPr lang="en-US" sz="1100" dirty="0"/>
          </a:p>
        </p:txBody>
      </p:sp>
      <p:sp>
        <p:nvSpPr>
          <p:cNvPr id="5" name="Text 2"/>
          <p:cNvSpPr txBox="1"/>
          <p:nvPr/>
        </p:nvSpPr>
        <p:spPr>
          <a:xfrm>
            <a:off x="548640" y="5897880"/>
            <a:ext cx="11064240" cy="411480"/>
          </a:xfrm>
          <a:prstGeom prst="rect">
            <a:avLst/>
          </a:prstGeom>
          <a:noFill/>
          <a:ln/>
        </p:spPr>
        <p:txBody>
          <a:bodyPr wrap="square" lIns="0" tIns="0" rIns="0" bIns="0" rtlCol="0" anchor="ctr"/>
          <a:lstStyle/>
          <a:p>
            <a:pPr indent="0" marL="0">
              <a:buNone/>
            </a:pPr>
            <a:r>
              <a:rPr lang="en-US" sz="1600" b="1" dirty="0">
                <a:solidFill>
                  <a:schemeClr val="accent4"/>
                </a:solidFill>
              </a:rPr>
              <a:t>1.5 riders turned away per 100 trips, moving about what Citi Bike moves today.</a:t>
            </a:r>
            <a:endParaRPr lang="en-US" sz="1600" dirty="0"/>
          </a:p>
        </p:txBody>
      </p:sp>
      <p:sp>
        <p:nvSpPr>
          <p:cNvPr id="25" name="Slide Number Placeholder 0"/>
          <p:cNvSpPr>
            <a:spLocks noGrp="1"/>
          </p:cNvSpPr>
          <p:nvPr>
            <p:ph type="sldNum" sz="quarter" idx="4294967295"/>
          </p:nvPr>
        </p:nvSpPr>
        <p:spPr>
          <a:xfrm>
            <a:off x="1118585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68680"/>
          </a:xfrm>
          <a:prstGeom prst="rect">
            <a:avLst/>
          </a:prstGeom>
          <a:noFill/>
          <a:ln/>
        </p:spPr>
        <p:txBody>
          <a:bodyPr wrap="square" lIns="0" tIns="0" rIns="0" bIns="0" rtlCol="0" anchor="t"/>
          <a:lstStyle/>
          <a:p>
            <a:pPr algn="l" indent="0" marL="0">
              <a:buNone/>
            </a:pPr>
            <a:r>
              <a:rPr lang="en-US" sz="2800" b="1" dirty="0">
                <a:solidFill>
                  <a:schemeClr val="tx1"/>
                </a:solidFill>
              </a:rPr>
              <a:t>A 14:00 visit is the best use of extra bikes</a:t>
            </a:r>
            <a:endParaRPr lang="en-US" sz="2800" dirty="0"/>
          </a:p>
        </p:txBody>
      </p:sp>
      <p:pic>
        <p:nvPicPr>
          <p:cNvPr id="3" name="shortages by hour" descr="shortages by hour">    </p:cNvPr>
          <p:cNvPicPr>
            <a:picLocks noChangeAspect="1"/>
          </p:cNvPicPr>
          <p:nvPr/>
        </p:nvPicPr>
        <p:blipFill>
          <a:blip r:embed="rId1"/>
          <a:stretch>
            <a:fillRect/>
          </a:stretch>
        </p:blipFill>
        <p:spPr>
          <a:xfrm>
            <a:off x="548640" y="1356997"/>
            <a:ext cx="6035040" cy="4509766"/>
          </a:xfrm>
          <a:prstGeom prst="rect">
            <a:avLst/>
          </a:prstGeom>
        </p:spPr>
      </p:pic>
      <p:sp>
        <p:nvSpPr>
          <p:cNvPr id="4" name="caption"/>
          <p:cNvSpPr txBox="1"/>
          <p:nvPr/>
        </p:nvSpPr>
        <p:spPr>
          <a:xfrm>
            <a:off x="548640" y="5912483"/>
            <a:ext cx="6035040" cy="320040"/>
          </a:xfrm>
          <a:prstGeom prst="rect">
            <a:avLst/>
          </a:prstGeom>
          <a:noFill/>
          <a:ln/>
        </p:spPr>
        <p:txBody>
          <a:bodyPr wrap="square" lIns="0" tIns="0" rIns="0" bIns="0" rtlCol="0" anchor="ctr"/>
          <a:lstStyle/>
          <a:p>
            <a:pPr indent="0" marL="0">
              <a:buNone/>
            </a:pPr>
            <a:r>
              <a:rPr lang="en-US" sz="1100" dirty="0">
                <a:solidFill>
                  <a:schemeClr val="accent6"/>
                </a:solidFill>
              </a:rPr>
              <a:t>Riders turned away per hour, test-year average.</a:t>
            </a:r>
            <a:endParaRPr lang="en-US" sz="1100" dirty="0"/>
          </a:p>
        </p:txBody>
      </p:sp>
      <p:sp>
        <p:nvSpPr>
          <p:cNvPr id="5" name="Text 2"/>
          <p:cNvSpPr txBox="1"/>
          <p:nvPr/>
        </p:nvSpPr>
        <p:spPr>
          <a:xfrm>
            <a:off x="7040880" y="1371600"/>
            <a:ext cx="4602175" cy="365760"/>
          </a:xfrm>
          <a:prstGeom prst="rect">
            <a:avLst/>
          </a:prstGeom>
          <a:noFill/>
          <a:ln/>
        </p:spPr>
        <p:txBody>
          <a:bodyPr wrap="square" lIns="0" tIns="0" rIns="0" bIns="0" rtlCol="0" anchor="ctr"/>
          <a:lstStyle/>
          <a:p>
            <a:pPr indent="0" marL="0">
              <a:buNone/>
            </a:pPr>
            <a:r>
              <a:rPr lang="en-US" sz="1600" b="1" dirty="0">
                <a:solidFill>
                  <a:schemeClr val="accent6"/>
                </a:solidFill>
              </a:rPr>
              <a:t>Shortages prevented per extra bike moved</a:t>
            </a:r>
            <a:endParaRPr lang="en-US" sz="1600" dirty="0"/>
          </a:p>
        </p:txBody>
      </p:sp>
      <p:graphicFrame>
        <p:nvGraphicFramePr>
          <p:cNvPr id="6" name="Chart 0" descr=""/>
          <p:cNvGraphicFramePr/>
          <p:nvPr/>
        </p:nvGraphicFramePr>
        <p:xfrm>
          <a:off x="7040880" y="1783080"/>
          <a:ext cx="4602175" cy="2194560"/>
        </p:xfrm>
        <a:graphic xmlns:a="http://schemas.openxmlformats.org/drawingml/2006/main">
          <a:graphicData uri="http://schemas.openxmlformats.org/drawingml/2006/chart">
            <c:chart xmlns:c="http://schemas.openxmlformats.org/drawingml/2006/chart" r:id="rId2"/>
          </a:graphicData>
        </a:graphic>
      </p:graphicFrame>
      <p:sp>
        <p:nvSpPr>
          <p:cNvPr id="7" name="stat 166"/>
          <p:cNvSpPr txBox="1"/>
          <p:nvPr/>
        </p:nvSpPr>
        <p:spPr>
          <a:xfrm>
            <a:off x="7040880" y="4206240"/>
            <a:ext cx="2194560" cy="548640"/>
          </a:xfrm>
          <a:prstGeom prst="rect">
            <a:avLst/>
          </a:prstGeom>
          <a:noFill/>
          <a:ln/>
        </p:spPr>
        <p:txBody>
          <a:bodyPr wrap="square" lIns="0" tIns="0" rIns="0" bIns="0" rtlCol="0" anchor="b"/>
          <a:lstStyle/>
          <a:p>
            <a:pPr indent="0" marL="0">
              <a:buNone/>
            </a:pPr>
            <a:r>
              <a:rPr lang="en-US" sz="3600" b="1" dirty="0">
                <a:solidFill>
                  <a:schemeClr val="accent1"/>
                </a:solidFill>
              </a:rPr>
              <a:t>166</a:t>
            </a:r>
            <a:endParaRPr lang="en-US" sz="3600" dirty="0"/>
          </a:p>
        </p:txBody>
      </p:sp>
      <p:sp>
        <p:nvSpPr>
          <p:cNvPr id="8" name="stat label"/>
          <p:cNvSpPr txBox="1"/>
          <p:nvPr/>
        </p:nvSpPr>
        <p:spPr>
          <a:xfrm>
            <a:off x="7040880" y="4800600"/>
            <a:ext cx="2194560" cy="685800"/>
          </a:xfrm>
          <a:prstGeom prst="rect">
            <a:avLst/>
          </a:prstGeom>
          <a:noFill/>
          <a:ln/>
        </p:spPr>
        <p:txBody>
          <a:bodyPr wrap="square" lIns="0" tIns="0" rIns="0" bIns="0" rtlCol="0" anchor="t"/>
          <a:lstStyle/>
          <a:p>
            <a:pPr indent="0" marL="0">
              <a:buNone/>
            </a:pPr>
            <a:r>
              <a:rPr lang="en-US" sz="1400" dirty="0">
                <a:solidFill>
                  <a:schemeClr val="tx1"/>
                </a:solidFill>
              </a:rPr>
              <a:t>fewer riders turned away a day, for 671 more bikes moved</a:t>
            </a:r>
            <a:endParaRPr lang="en-US" sz="1400" dirty="0"/>
          </a:p>
        </p:txBody>
      </p:sp>
      <p:sp>
        <p:nvSpPr>
          <p:cNvPr id="9" name="stat 196"/>
          <p:cNvSpPr txBox="1"/>
          <p:nvPr/>
        </p:nvSpPr>
        <p:spPr>
          <a:xfrm>
            <a:off x="9418320" y="4206240"/>
            <a:ext cx="2224735" cy="548640"/>
          </a:xfrm>
          <a:prstGeom prst="rect">
            <a:avLst/>
          </a:prstGeom>
          <a:noFill/>
          <a:ln/>
        </p:spPr>
        <p:txBody>
          <a:bodyPr wrap="square" lIns="0" tIns="0" rIns="0" bIns="0" rtlCol="0" anchor="b"/>
          <a:lstStyle/>
          <a:p>
            <a:pPr indent="0" marL="0">
              <a:buNone/>
            </a:pPr>
            <a:r>
              <a:rPr lang="en-US" sz="3600" b="1" dirty="0">
                <a:solidFill>
                  <a:schemeClr val="accent1"/>
                </a:solidFill>
              </a:rPr>
              <a:t>196</a:t>
            </a:r>
            <a:endParaRPr lang="en-US" sz="3600" dirty="0"/>
          </a:p>
        </p:txBody>
      </p:sp>
      <p:sp>
        <p:nvSpPr>
          <p:cNvPr id="10" name="stat label"/>
          <p:cNvSpPr txBox="1"/>
          <p:nvPr/>
        </p:nvSpPr>
        <p:spPr>
          <a:xfrm>
            <a:off x="9418320" y="4800600"/>
            <a:ext cx="2224735" cy="685800"/>
          </a:xfrm>
          <a:prstGeom prst="rect">
            <a:avLst/>
          </a:prstGeom>
          <a:noFill/>
          <a:ln/>
        </p:spPr>
        <p:txBody>
          <a:bodyPr wrap="square" lIns="0" tIns="0" rIns="0" bIns="0" rtlCol="0" anchor="t"/>
          <a:lstStyle/>
          <a:p>
            <a:pPr indent="0" marL="0">
              <a:buNone/>
            </a:pPr>
            <a:r>
              <a:rPr lang="en-US" sz="1400" dirty="0">
                <a:solidFill>
                  <a:schemeClr val="tx1"/>
                </a:solidFill>
              </a:rPr>
              <a:t>at 17:00, the worst hour; 253 without the visit</a:t>
            </a:r>
            <a:endParaRPr lang="en-US" sz="1400" dirty="0"/>
          </a:p>
        </p:txBody>
      </p:sp>
      <p:sp>
        <p:nvSpPr>
          <p:cNvPr id="25" name="Slide Number Placeholder 0"/>
          <p:cNvSpPr>
            <a:spLocks noGrp="1"/>
          </p:cNvSpPr>
          <p:nvPr>
            <p:ph type="sldNum" sz="quarter" idx="4294967295"/>
          </p:nvPr>
        </p:nvSpPr>
        <p:spPr>
          <a:xfrm>
            <a:off x="1118585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68680"/>
          </a:xfrm>
          <a:prstGeom prst="rect">
            <a:avLst/>
          </a:prstGeom>
          <a:noFill/>
          <a:ln/>
        </p:spPr>
        <p:txBody>
          <a:bodyPr wrap="square" lIns="0" tIns="0" rIns="0" bIns="0" rtlCol="0" anchor="t"/>
          <a:lstStyle/>
          <a:p>
            <a:pPr algn="l" indent="0" marL="0">
              <a:buNone/>
            </a:pPr>
            <a:r>
              <a:rPr lang="en-US" sz="2800" b="1" dirty="0">
                <a:solidFill>
                  <a:schemeClr val="tx1"/>
                </a:solidFill>
              </a:rPr>
              <a:t>It asks for about the work Citi Bike already does</a:t>
            </a:r>
            <a:endParaRPr lang="en-US" sz="2800" dirty="0"/>
          </a:p>
        </p:txBody>
      </p:sp>
      <p:pic>
        <p:nvPicPr>
          <p:cNvPr id="3" name="moves vs reported" descr="moves vs reported">    </p:cNvPr>
          <p:cNvPicPr>
            <a:picLocks noChangeAspect="1"/>
          </p:cNvPicPr>
          <p:nvPr/>
        </p:nvPicPr>
        <p:blipFill>
          <a:blip r:embed="rId1"/>
          <a:stretch>
            <a:fillRect/>
          </a:stretch>
        </p:blipFill>
        <p:spPr>
          <a:xfrm>
            <a:off x="548640" y="1356997"/>
            <a:ext cx="6035040" cy="4509766"/>
          </a:xfrm>
          <a:prstGeom prst="rect">
            <a:avLst/>
          </a:prstGeom>
        </p:spPr>
      </p:pic>
      <p:sp>
        <p:nvSpPr>
          <p:cNvPr id="4" name="caption"/>
          <p:cNvSpPr txBox="1"/>
          <p:nvPr/>
        </p:nvSpPr>
        <p:spPr>
          <a:xfrm>
            <a:off x="548640" y="5912483"/>
            <a:ext cx="6035040" cy="320040"/>
          </a:xfrm>
          <a:prstGeom prst="rect">
            <a:avLst/>
          </a:prstGeom>
          <a:noFill/>
          <a:ln/>
        </p:spPr>
        <p:txBody>
          <a:bodyPr wrap="square" lIns="0" tIns="0" rIns="0" bIns="0" rtlCol="0" anchor="ctr"/>
          <a:lstStyle/>
          <a:p>
            <a:pPr indent="0" marL="0">
              <a:buNone/>
            </a:pPr>
            <a:r>
              <a:rPr lang="en-US" sz="1100" dirty="0">
                <a:solidFill>
                  <a:schemeClr val="accent6"/>
                </a:solidFill>
              </a:rPr>
              <a:t>Bikes moved per day by month. May 2026 report not posted.</a:t>
            </a:r>
            <a:endParaRPr lang="en-US" sz="1100" dirty="0"/>
          </a:p>
        </p:txBody>
      </p:sp>
      <p:sp>
        <p:nvSpPr>
          <p:cNvPr id="5" name="stat 2,572"/>
          <p:cNvSpPr txBox="1"/>
          <p:nvPr/>
        </p:nvSpPr>
        <p:spPr>
          <a:xfrm>
            <a:off x="7040880" y="1371600"/>
            <a:ext cx="4602175" cy="609600"/>
          </a:xfrm>
          <a:prstGeom prst="rect">
            <a:avLst/>
          </a:prstGeom>
          <a:noFill/>
          <a:ln/>
        </p:spPr>
        <p:txBody>
          <a:bodyPr wrap="square" lIns="0" tIns="0" rIns="0" bIns="0" rtlCol="0" anchor="b"/>
          <a:lstStyle/>
          <a:p>
            <a:pPr indent="0" marL="0">
              <a:buNone/>
            </a:pPr>
            <a:r>
              <a:rPr lang="en-US" sz="4000" b="1" dirty="0">
                <a:solidFill>
                  <a:schemeClr val="accent1"/>
                </a:solidFill>
              </a:rPr>
              <a:t>2,572</a:t>
            </a:r>
            <a:endParaRPr lang="en-US" sz="4000" dirty="0"/>
          </a:p>
        </p:txBody>
      </p:sp>
      <p:sp>
        <p:nvSpPr>
          <p:cNvPr id="6" name="stat label"/>
          <p:cNvSpPr txBox="1"/>
          <p:nvPr/>
        </p:nvSpPr>
        <p:spPr>
          <a:xfrm>
            <a:off x="7040880" y="2026920"/>
            <a:ext cx="4602175" cy="685800"/>
          </a:xfrm>
          <a:prstGeom prst="rect">
            <a:avLst/>
          </a:prstGeom>
          <a:noFill/>
          <a:ln/>
        </p:spPr>
        <p:txBody>
          <a:bodyPr wrap="square" lIns="0" tIns="0" rIns="0" bIns="0" rtlCol="0" anchor="t"/>
          <a:lstStyle/>
          <a:p>
            <a:pPr indent="0" marL="0">
              <a:buNone/>
            </a:pPr>
            <a:r>
              <a:rPr lang="en-US" sz="1400" dirty="0">
                <a:solidFill>
                  <a:schemeClr val="tx1"/>
                </a:solidFill>
              </a:rPr>
              <a:t>bikes a day simulated, against 2,514 Citi Bike reports for the same eleven months</a:t>
            </a:r>
            <a:endParaRPr lang="en-US" sz="1400" dirty="0"/>
          </a:p>
        </p:txBody>
      </p:sp>
      <p:sp>
        <p:nvSpPr>
          <p:cNvPr id="7" name="stat 0.92"/>
          <p:cNvSpPr txBox="1"/>
          <p:nvPr/>
        </p:nvSpPr>
        <p:spPr>
          <a:xfrm>
            <a:off x="7040880" y="2926080"/>
            <a:ext cx="4602175" cy="609600"/>
          </a:xfrm>
          <a:prstGeom prst="rect">
            <a:avLst/>
          </a:prstGeom>
          <a:noFill/>
          <a:ln/>
        </p:spPr>
        <p:txBody>
          <a:bodyPr wrap="square" lIns="0" tIns="0" rIns="0" bIns="0" rtlCol="0" anchor="b"/>
          <a:lstStyle/>
          <a:p>
            <a:pPr indent="0" marL="0">
              <a:buNone/>
            </a:pPr>
            <a:r>
              <a:rPr lang="en-US" sz="4000" b="1" dirty="0">
                <a:solidFill>
                  <a:schemeClr val="accent1"/>
                </a:solidFill>
              </a:rPr>
              <a:t>0.92</a:t>
            </a:r>
            <a:endParaRPr lang="en-US" sz="4000" dirty="0"/>
          </a:p>
        </p:txBody>
      </p:sp>
      <p:sp>
        <p:nvSpPr>
          <p:cNvPr id="8" name="stat label"/>
          <p:cNvSpPr txBox="1"/>
          <p:nvPr/>
        </p:nvSpPr>
        <p:spPr>
          <a:xfrm>
            <a:off x="7040880" y="3581400"/>
            <a:ext cx="4602175" cy="685800"/>
          </a:xfrm>
          <a:prstGeom prst="rect">
            <a:avLst/>
          </a:prstGeom>
          <a:noFill/>
          <a:ln/>
        </p:spPr>
        <p:txBody>
          <a:bodyPr wrap="square" lIns="0" tIns="0" rIns="0" bIns="0" rtlCol="0" anchor="t"/>
          <a:lstStyle/>
          <a:p>
            <a:pPr indent="0" marL="0">
              <a:buNone/>
            </a:pPr>
            <a:r>
              <a:rPr lang="en-US" sz="1400" dirty="0">
                <a:solidFill>
                  <a:schemeClr val="tx1"/>
                </a:solidFill>
              </a:rPr>
              <a:t>correlation across months: our moves rise and fall with Citi Bike's</a:t>
            </a:r>
            <a:endParaRPr lang="en-US" sz="1400" dirty="0"/>
          </a:p>
        </p:txBody>
      </p:sp>
      <p:sp>
        <p:nvSpPr>
          <p:cNvPr id="9" name="Text 6"/>
          <p:cNvSpPr txBox="1"/>
          <p:nvPr/>
        </p:nvSpPr>
        <p:spPr>
          <a:xfrm>
            <a:off x="7040880" y="4480560"/>
            <a:ext cx="4602175" cy="1554480"/>
          </a:xfrm>
          <a:prstGeom prst="rect">
            <a:avLst/>
          </a:prstGeom>
          <a:noFill/>
          <a:ln/>
        </p:spPr>
        <p:txBody>
          <a:bodyPr wrap="square" lIns="0" tIns="0" rIns="0" bIns="0" rtlCol="0" anchor="t"/>
          <a:lstStyle/>
          <a:p>
            <a:pPr indent="0" marL="0">
              <a:buNone/>
            </a:pPr>
            <a:r>
              <a:rPr lang="en-US" sz="1400" dirty="0">
                <a:solidFill>
                  <a:schemeClr val="tx1"/>
                </a:solidFill>
              </a:rPr>
              <a:t>Citi Bike cuts harder in winter (974 a day in February against our 1,790). Shortages drop too, from 2,730 a day in June to 250 in February, so the night budget can shrink in winter.</a:t>
            </a:r>
            <a:endParaRPr lang="en-US" sz="1400" dirty="0"/>
          </a:p>
        </p:txBody>
      </p:sp>
      <p:sp>
        <p:nvSpPr>
          <p:cNvPr id="25" name="Slide Number Placeholder 0"/>
          <p:cNvSpPr>
            <a:spLocks noGrp="1"/>
          </p:cNvSpPr>
          <p:nvPr>
            <p:ph type="sldNum" sz="quarter" idx="4294967295"/>
          </p:nvPr>
        </p:nvSpPr>
        <p:spPr>
          <a:xfrm>
            <a:off x="1118585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68680"/>
          </a:xfrm>
          <a:prstGeom prst="rect">
            <a:avLst/>
          </a:prstGeom>
          <a:noFill/>
          <a:ln/>
        </p:spPr>
        <p:txBody>
          <a:bodyPr wrap="square" lIns="0" tIns="0" rIns="0" bIns="0" rtlCol="0" anchor="t"/>
          <a:lstStyle/>
          <a:p>
            <a:pPr algn="l" indent="0" marL="0">
              <a:buNone/>
            </a:pPr>
            <a:r>
              <a:rPr lang="en-US" sz="2800" b="1" dirty="0">
                <a:solidFill>
                  <a:schemeClr val="tx1"/>
                </a:solidFill>
              </a:rPr>
              <a:t>Seven stations need docks or valets, not trucks</a:t>
            </a:r>
            <a:endParaRPr lang="en-US" sz="2800" dirty="0"/>
          </a:p>
        </p:txBody>
      </p:sp>
      <p:pic>
        <p:nvPicPr>
          <p:cNvPr id="3" name="shortages left" descr="shortages left">    </p:cNvPr>
          <p:cNvPicPr>
            <a:picLocks noChangeAspect="1"/>
          </p:cNvPicPr>
          <p:nvPr/>
        </p:nvPicPr>
        <p:blipFill>
          <a:blip r:embed="rId1"/>
          <a:stretch>
            <a:fillRect/>
          </a:stretch>
        </p:blipFill>
        <p:spPr>
          <a:xfrm>
            <a:off x="813843" y="1325880"/>
            <a:ext cx="4041593" cy="4709160"/>
          </a:xfrm>
          <a:prstGeom prst="rect">
            <a:avLst/>
          </a:prstGeom>
        </p:spPr>
      </p:pic>
      <p:sp>
        <p:nvSpPr>
          <p:cNvPr id="4" name="caption"/>
          <p:cNvSpPr txBox="1"/>
          <p:nvPr/>
        </p:nvSpPr>
        <p:spPr>
          <a:xfrm>
            <a:off x="548640" y="6080760"/>
            <a:ext cx="4572000" cy="320040"/>
          </a:xfrm>
          <a:prstGeom prst="rect">
            <a:avLst/>
          </a:prstGeom>
          <a:noFill/>
          <a:ln/>
        </p:spPr>
        <p:txBody>
          <a:bodyPr wrap="square" lIns="0" tIns="0" rIns="0" bIns="0" rtlCol="0" anchor="ctr"/>
          <a:lstStyle/>
          <a:p>
            <a:pPr indent="0" marL="0">
              <a:buNone/>
            </a:pPr>
            <a:r>
              <a:rPr lang="en-US" sz="1100" dirty="0">
                <a:solidFill>
                  <a:schemeClr val="accent6"/>
                </a:solidFill>
              </a:rPr>
              <a:t>Riders turned away per day, recommended schedule.</a:t>
            </a:r>
            <a:endParaRPr lang="en-US" sz="1100" dirty="0"/>
          </a:p>
        </p:txBody>
      </p:sp>
      <p:sp>
        <p:nvSpPr>
          <p:cNvPr id="5" name="stat 442"/>
          <p:cNvSpPr txBox="1"/>
          <p:nvPr/>
        </p:nvSpPr>
        <p:spPr>
          <a:xfrm>
            <a:off x="5760720" y="1371600"/>
            <a:ext cx="5882335" cy="609600"/>
          </a:xfrm>
          <a:prstGeom prst="rect">
            <a:avLst/>
          </a:prstGeom>
          <a:noFill/>
          <a:ln/>
        </p:spPr>
        <p:txBody>
          <a:bodyPr wrap="square" lIns="0" tIns="0" rIns="0" bIns="0" rtlCol="0" anchor="b"/>
          <a:lstStyle/>
          <a:p>
            <a:pPr indent="0" marL="0">
              <a:buNone/>
            </a:pPr>
            <a:r>
              <a:rPr lang="en-US" sz="4000" b="1" dirty="0">
                <a:solidFill>
                  <a:schemeClr val="accent3"/>
                </a:solidFill>
              </a:rPr>
              <a:t>442</a:t>
            </a:r>
            <a:endParaRPr lang="en-US" sz="4000" dirty="0"/>
          </a:p>
        </p:txBody>
      </p:sp>
      <p:sp>
        <p:nvSpPr>
          <p:cNvPr id="6" name="stat label"/>
          <p:cNvSpPr txBox="1"/>
          <p:nvPr/>
        </p:nvSpPr>
        <p:spPr>
          <a:xfrm>
            <a:off x="5760720" y="2026920"/>
            <a:ext cx="5882335" cy="685800"/>
          </a:xfrm>
          <a:prstGeom prst="rect">
            <a:avLst/>
          </a:prstGeom>
          <a:noFill/>
          <a:ln/>
        </p:spPr>
        <p:txBody>
          <a:bodyPr wrap="square" lIns="0" tIns="0" rIns="0" bIns="0" rtlCol="0" anchor="t"/>
          <a:lstStyle/>
          <a:p>
            <a:pPr indent="0" marL="0">
              <a:buNone/>
            </a:pPr>
            <a:r>
              <a:rPr lang="en-US" sz="1400" dirty="0">
                <a:solidFill>
                  <a:schemeClr val="tx1"/>
                </a:solidFill>
              </a:rPr>
              <a:t>riders a day still turned away at seven stations: a quarter of what is left</a:t>
            </a:r>
            <a:endParaRPr lang="en-US" sz="1400" dirty="0"/>
          </a:p>
        </p:txBody>
      </p:sp>
      <p:sp>
        <p:nvSpPr>
          <p:cNvPr id="7" name="Text 4"/>
          <p:cNvSpPr txBox="1"/>
          <p:nvPr/>
        </p:nvSpPr>
        <p:spPr>
          <a:xfrm>
            <a:off x="5760720" y="2880360"/>
            <a:ext cx="5882335" cy="2377440"/>
          </a:xfrm>
          <a:prstGeom prst="rect">
            <a:avLst/>
          </a:prstGeom>
          <a:noFill/>
          <a:ln/>
        </p:spPr>
        <p:txBody>
          <a:bodyPr wrap="square" lIns="0" tIns="0" rIns="0" bIns="0" rtlCol="0" anchor="t"/>
          <a:lstStyle/>
          <a:p>
            <a:pPr indent="0" marL="0">
              <a:spcAft>
                <a:spcPts val="300"/>
              </a:spcAft>
              <a:buNone/>
            </a:pPr>
            <a:r>
              <a:rPr lang="en-US" sz="1400" dirty="0">
                <a:solidFill>
                  <a:schemeClr val="tx1"/>
                </a:solidFill>
              </a:rPr>
              <a:t>1.  North Moore St &amp; Greenwich St (Tribeca)</a:t>
            </a:r>
            <a:endParaRPr lang="en-US" sz="1400" dirty="0"/>
          </a:p>
          <a:p>
            <a:pPr indent="0" marL="0">
              <a:spcAft>
                <a:spcPts val="300"/>
              </a:spcAft>
              <a:buNone/>
            </a:pPr>
            <a:r>
              <a:rPr lang="en-US" sz="1400" dirty="0">
                <a:solidFill>
                  <a:schemeClr val="tx1"/>
                </a:solidFill>
              </a:rPr>
              <a:t>2.  Greenwich St &amp; Hubert St (Tribeca)</a:t>
            </a:r>
            <a:endParaRPr lang="en-US" sz="1400" dirty="0"/>
          </a:p>
          <a:p>
            <a:pPr indent="0" marL="0">
              <a:spcAft>
                <a:spcPts val="300"/>
              </a:spcAft>
              <a:buNone/>
            </a:pPr>
            <a:r>
              <a:rPr lang="en-US" sz="1400" dirty="0">
                <a:solidFill>
                  <a:schemeClr val="tx1"/>
                </a:solidFill>
              </a:rPr>
              <a:t>3.  Dock 72 Way &amp; Market St (Navy Yard)</a:t>
            </a:r>
            <a:endParaRPr lang="en-US" sz="1400" dirty="0"/>
          </a:p>
          <a:p>
            <a:pPr indent="0" marL="0">
              <a:spcAft>
                <a:spcPts val="300"/>
              </a:spcAft>
              <a:buNone/>
            </a:pPr>
            <a:r>
              <a:rPr lang="en-US" sz="1400" dirty="0">
                <a:solidFill>
                  <a:schemeClr val="tx1"/>
                </a:solidFill>
              </a:rPr>
              <a:t>4.  9 Ave &amp; W 33 St (Penn Station)</a:t>
            </a:r>
            <a:endParaRPr lang="en-US" sz="1400" dirty="0"/>
          </a:p>
          <a:p>
            <a:pPr indent="0" marL="0">
              <a:spcAft>
                <a:spcPts val="300"/>
              </a:spcAft>
              <a:buNone/>
            </a:pPr>
            <a:r>
              <a:rPr lang="en-US" sz="1400" dirty="0">
                <a:solidFill>
                  <a:schemeClr val="tx1"/>
                </a:solidFill>
              </a:rPr>
              <a:t>5.  1 Ave &amp; E 68 St</a:t>
            </a:r>
            <a:endParaRPr lang="en-US" sz="1400" dirty="0"/>
          </a:p>
          <a:p>
            <a:pPr indent="0" marL="0">
              <a:spcAft>
                <a:spcPts val="300"/>
              </a:spcAft>
              <a:buNone/>
            </a:pPr>
            <a:r>
              <a:rPr lang="en-US" sz="1400" dirty="0">
                <a:solidFill>
                  <a:schemeClr val="tx1"/>
                </a:solidFill>
              </a:rPr>
              <a:t>6.  E 47 St &amp; Park Ave</a:t>
            </a:r>
            <a:endParaRPr lang="en-US" sz="1400" dirty="0"/>
          </a:p>
          <a:p>
            <a:pPr indent="0" marL="0">
              <a:spcAft>
                <a:spcPts val="300"/>
              </a:spcAft>
              <a:buNone/>
            </a:pPr>
            <a:r>
              <a:rPr lang="en-US" sz="1400" dirty="0">
                <a:solidFill>
                  <a:schemeClr val="tx1"/>
                </a:solidFill>
              </a:rPr>
              <a:t>7.  E 50 St &amp; Park Ave</a:t>
            </a:r>
            <a:endParaRPr lang="en-US" sz="1400" dirty="0"/>
          </a:p>
        </p:txBody>
      </p:sp>
      <p:sp>
        <p:nvSpPr>
          <p:cNvPr id="8" name="Text 5"/>
          <p:cNvSpPr txBox="1"/>
          <p:nvPr/>
        </p:nvSpPr>
        <p:spPr>
          <a:xfrm>
            <a:off x="5760720" y="5394960"/>
            <a:ext cx="5882335" cy="731520"/>
          </a:xfrm>
          <a:prstGeom prst="rect">
            <a:avLst/>
          </a:prstGeom>
          <a:noFill/>
          <a:ln/>
        </p:spPr>
        <p:txBody>
          <a:bodyPr wrap="square" lIns="0" tIns="0" rIns="0" bIns="0" rtlCol="0" anchor="t"/>
          <a:lstStyle/>
          <a:p>
            <a:pPr indent="0" marL="0">
              <a:buNone/>
            </a:pPr>
            <a:r>
              <a:rPr lang="en-US" sz="1500" b="1" dirty="0">
                <a:solidFill>
                  <a:schemeClr val="tx1"/>
                </a:solidFill>
              </a:rPr>
              <a:t>Each swings by more than its docks on a typical workday, so no starting level saves it.</a:t>
            </a:r>
            <a:endParaRPr lang="en-US" sz="1500" dirty="0"/>
          </a:p>
        </p:txBody>
      </p:sp>
      <p:sp>
        <p:nvSpPr>
          <p:cNvPr id="25" name="Slide Number Placeholder 0"/>
          <p:cNvSpPr>
            <a:spLocks noGrp="1"/>
          </p:cNvSpPr>
          <p:nvPr>
            <p:ph type="sldNum" sz="quarter" idx="4294967295"/>
          </p:nvPr>
        </p:nvSpPr>
        <p:spPr>
          <a:xfrm>
            <a:off x="1118585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68680"/>
          </a:xfrm>
          <a:prstGeom prst="rect">
            <a:avLst/>
          </a:prstGeom>
          <a:noFill/>
          <a:ln/>
        </p:spPr>
        <p:txBody>
          <a:bodyPr wrap="square" lIns="0" tIns="0" rIns="0" bIns="0" rtlCol="0" anchor="t"/>
          <a:lstStyle/>
          <a:p>
            <a:pPr algn="l" indent="0" marL="0">
              <a:buNone/>
            </a:pPr>
            <a:r>
              <a:rPr lang="en-US" sz="2800" b="1" dirty="0">
                <a:solidFill>
                  <a:schemeClr val="tx1"/>
                </a:solidFill>
              </a:rPr>
              <a:t>What the public data cannot see</a:t>
            </a:r>
            <a:endParaRPr lang="en-US" sz="2800" dirty="0"/>
          </a:p>
        </p:txBody>
      </p:sp>
      <p:sp>
        <p:nvSpPr>
          <p:cNvPr id="3" name="card"/>
          <p:cNvSpPr/>
          <p:nvPr/>
        </p:nvSpPr>
        <p:spPr>
          <a:xfrm>
            <a:off x="548640" y="1371600"/>
            <a:ext cx="5364328" cy="1783080"/>
          </a:xfrm>
          <a:prstGeom prst="roundRect">
            <a:avLst>
              <a:gd name="adj" fmla="val 4103"/>
            </a:avLst>
          </a:prstGeom>
          <a:solidFill>
            <a:schemeClr val="bg2"/>
          </a:solidFill>
          <a:ln/>
        </p:spPr>
      </p:sp>
      <p:sp>
        <p:nvSpPr>
          <p:cNvPr id="4" name="Text 2"/>
          <p:cNvSpPr txBox="1"/>
          <p:nvPr/>
        </p:nvSpPr>
        <p:spPr>
          <a:xfrm>
            <a:off x="777240" y="1554480"/>
            <a:ext cx="457200" cy="457200"/>
          </a:xfrm>
          <a:prstGeom prst="rect">
            <a:avLst/>
          </a:prstGeom>
          <a:noFill/>
          <a:ln/>
        </p:spPr>
        <p:txBody>
          <a:bodyPr wrap="square" lIns="0" tIns="0" rIns="0" bIns="0" rtlCol="0" anchor="ctr"/>
          <a:lstStyle/>
          <a:p>
            <a:pPr indent="0" marL="0">
              <a:buNone/>
            </a:pPr>
            <a:r>
              <a:rPr lang="en-US" sz="2600" b="1" dirty="0">
                <a:solidFill>
                  <a:schemeClr val="accent1"/>
                </a:solidFill>
              </a:rPr>
              <a:t>1</a:t>
            </a:r>
            <a:endParaRPr lang="en-US" sz="2600" dirty="0"/>
          </a:p>
        </p:txBody>
      </p:sp>
      <p:sp>
        <p:nvSpPr>
          <p:cNvPr id="5" name="Text 3"/>
          <p:cNvSpPr txBox="1"/>
          <p:nvPr/>
        </p:nvSpPr>
        <p:spPr>
          <a:xfrm>
            <a:off x="1325880" y="1572768"/>
            <a:ext cx="4358488" cy="411480"/>
          </a:xfrm>
          <a:prstGeom prst="rect">
            <a:avLst/>
          </a:prstGeom>
          <a:noFill/>
          <a:ln/>
        </p:spPr>
        <p:txBody>
          <a:bodyPr wrap="square" lIns="0" tIns="0" rIns="0" bIns="0" rtlCol="0" anchor="ctr"/>
          <a:lstStyle/>
          <a:p>
            <a:pPr indent="0" marL="0">
              <a:buNone/>
            </a:pPr>
            <a:r>
              <a:rPr lang="en-US" sz="1700" b="1" dirty="0">
                <a:solidFill>
                  <a:schemeClr val="tx1"/>
                </a:solidFill>
              </a:rPr>
              <a:t>Riders who give up leave no record</a:t>
            </a:r>
            <a:endParaRPr lang="en-US" sz="1700" dirty="0"/>
          </a:p>
        </p:txBody>
      </p:sp>
      <p:sp>
        <p:nvSpPr>
          <p:cNvPr id="6" name="Text 4"/>
          <p:cNvSpPr txBox="1"/>
          <p:nvPr/>
        </p:nvSpPr>
        <p:spPr>
          <a:xfrm>
            <a:off x="1325880" y="2029968"/>
            <a:ext cx="4358488" cy="1005840"/>
          </a:xfrm>
          <a:prstGeom prst="rect">
            <a:avLst/>
          </a:prstGeom>
          <a:noFill/>
          <a:ln/>
        </p:spPr>
        <p:txBody>
          <a:bodyPr wrap="square" lIns="0" tIns="0" rIns="0" bIns="0" rtlCol="0" anchor="t"/>
          <a:lstStyle/>
          <a:p>
            <a:pPr indent="0" marL="0">
              <a:buNone/>
            </a:pPr>
            <a:r>
              <a:rPr lang="en-US" sz="1400" dirty="0">
                <a:solidFill>
                  <a:schemeClr val="tx1"/>
                </a:solidFill>
              </a:rPr>
              <a:t>So demand at often-empty stations is undercounted, and our shortage counts are lower bounds. Every schedule faces the same trips, so the ranking holds.</a:t>
            </a:r>
            <a:endParaRPr lang="en-US" sz="1400" dirty="0"/>
          </a:p>
        </p:txBody>
      </p:sp>
      <p:sp>
        <p:nvSpPr>
          <p:cNvPr id="7" name="card"/>
          <p:cNvSpPr/>
          <p:nvPr/>
        </p:nvSpPr>
        <p:spPr>
          <a:xfrm>
            <a:off x="6278728" y="1371600"/>
            <a:ext cx="5364328" cy="1783080"/>
          </a:xfrm>
          <a:prstGeom prst="roundRect">
            <a:avLst>
              <a:gd name="adj" fmla="val 4103"/>
            </a:avLst>
          </a:prstGeom>
          <a:solidFill>
            <a:schemeClr val="bg2"/>
          </a:solidFill>
          <a:ln/>
        </p:spPr>
      </p:sp>
      <p:sp>
        <p:nvSpPr>
          <p:cNvPr id="8" name="Text 6"/>
          <p:cNvSpPr txBox="1"/>
          <p:nvPr/>
        </p:nvSpPr>
        <p:spPr>
          <a:xfrm>
            <a:off x="6507328" y="1554480"/>
            <a:ext cx="457200" cy="457200"/>
          </a:xfrm>
          <a:prstGeom prst="rect">
            <a:avLst/>
          </a:prstGeom>
          <a:noFill/>
          <a:ln/>
        </p:spPr>
        <p:txBody>
          <a:bodyPr wrap="square" lIns="0" tIns="0" rIns="0" bIns="0" rtlCol="0" anchor="ctr"/>
          <a:lstStyle/>
          <a:p>
            <a:pPr indent="0" marL="0">
              <a:buNone/>
            </a:pPr>
            <a:r>
              <a:rPr lang="en-US" sz="2600" b="1" dirty="0">
                <a:solidFill>
                  <a:schemeClr val="accent1"/>
                </a:solidFill>
              </a:rPr>
              <a:t>2</a:t>
            </a:r>
            <a:endParaRPr lang="en-US" sz="2600" dirty="0"/>
          </a:p>
        </p:txBody>
      </p:sp>
      <p:sp>
        <p:nvSpPr>
          <p:cNvPr id="9" name="Text 7"/>
          <p:cNvSpPr txBox="1"/>
          <p:nvPr/>
        </p:nvSpPr>
        <p:spPr>
          <a:xfrm>
            <a:off x="7055968" y="1572768"/>
            <a:ext cx="4358488" cy="411480"/>
          </a:xfrm>
          <a:prstGeom prst="rect">
            <a:avLst/>
          </a:prstGeom>
          <a:noFill/>
          <a:ln/>
        </p:spPr>
        <p:txBody>
          <a:bodyPr wrap="square" lIns="0" tIns="0" rIns="0" bIns="0" rtlCol="0" anchor="ctr"/>
          <a:lstStyle/>
          <a:p>
            <a:pPr indent="0" marL="0">
              <a:buNone/>
            </a:pPr>
            <a:r>
              <a:rPr lang="en-US" sz="1700" b="1" dirty="0">
                <a:solidFill>
                  <a:schemeClr val="tx1"/>
                </a:solidFill>
              </a:rPr>
              <a:t>Stock is never measured</a:t>
            </a:r>
            <a:endParaRPr lang="en-US" sz="1700" dirty="0"/>
          </a:p>
        </p:txBody>
      </p:sp>
      <p:sp>
        <p:nvSpPr>
          <p:cNvPr id="10" name="Text 8"/>
          <p:cNvSpPr txBox="1"/>
          <p:nvPr/>
        </p:nvSpPr>
        <p:spPr>
          <a:xfrm>
            <a:off x="7055968" y="2029968"/>
            <a:ext cx="4358488" cy="1005840"/>
          </a:xfrm>
          <a:prstGeom prst="rect">
            <a:avLst/>
          </a:prstGeom>
          <a:noFill/>
          <a:ln/>
        </p:spPr>
        <p:txBody>
          <a:bodyPr wrap="square" lIns="0" tIns="0" rIns="0" bIns="0" rtlCol="0" anchor="t"/>
          <a:lstStyle/>
          <a:p>
            <a:pPr indent="0" marL="0">
              <a:buNone/>
            </a:pPr>
            <a:r>
              <a:rPr lang="en-US" sz="1400" dirty="0">
                <a:solidFill>
                  <a:schemeClr val="tx1"/>
                </a:solidFill>
              </a:rPr>
              <a:t>We rebuild it from trips in 5-minute steps; in each step departures go before arrivals, which slightly overstates shortages at the busiest stations.</a:t>
            </a:r>
            <a:endParaRPr lang="en-US" sz="1400" dirty="0"/>
          </a:p>
        </p:txBody>
      </p:sp>
      <p:sp>
        <p:nvSpPr>
          <p:cNvPr id="11" name="card"/>
          <p:cNvSpPr/>
          <p:nvPr/>
        </p:nvSpPr>
        <p:spPr>
          <a:xfrm>
            <a:off x="548640" y="3429000"/>
            <a:ext cx="5364328" cy="1783080"/>
          </a:xfrm>
          <a:prstGeom prst="roundRect">
            <a:avLst>
              <a:gd name="adj" fmla="val 4103"/>
            </a:avLst>
          </a:prstGeom>
          <a:solidFill>
            <a:schemeClr val="bg2"/>
          </a:solidFill>
          <a:ln/>
        </p:spPr>
      </p:sp>
      <p:sp>
        <p:nvSpPr>
          <p:cNvPr id="12" name="Text 10"/>
          <p:cNvSpPr txBox="1"/>
          <p:nvPr/>
        </p:nvSpPr>
        <p:spPr>
          <a:xfrm>
            <a:off x="777240" y="3611880"/>
            <a:ext cx="457200" cy="457200"/>
          </a:xfrm>
          <a:prstGeom prst="rect">
            <a:avLst/>
          </a:prstGeom>
          <a:noFill/>
          <a:ln/>
        </p:spPr>
        <p:txBody>
          <a:bodyPr wrap="square" lIns="0" tIns="0" rIns="0" bIns="0" rtlCol="0" anchor="ctr"/>
          <a:lstStyle/>
          <a:p>
            <a:pPr indent="0" marL="0">
              <a:buNone/>
            </a:pPr>
            <a:r>
              <a:rPr lang="en-US" sz="2600" b="1" dirty="0">
                <a:solidFill>
                  <a:schemeClr val="accent1"/>
                </a:solidFill>
              </a:rPr>
              <a:t>3</a:t>
            </a:r>
            <a:endParaRPr lang="en-US" sz="2600" dirty="0"/>
          </a:p>
        </p:txBody>
      </p:sp>
      <p:sp>
        <p:nvSpPr>
          <p:cNvPr id="13" name="Text 11"/>
          <p:cNvSpPr txBox="1"/>
          <p:nvPr/>
        </p:nvSpPr>
        <p:spPr>
          <a:xfrm>
            <a:off x="1325880" y="3630168"/>
            <a:ext cx="4358488" cy="411480"/>
          </a:xfrm>
          <a:prstGeom prst="rect">
            <a:avLst/>
          </a:prstGeom>
          <a:noFill/>
          <a:ln/>
        </p:spPr>
        <p:txBody>
          <a:bodyPr wrap="square" lIns="0" tIns="0" rIns="0" bIns="0" rtlCol="0" anchor="ctr"/>
          <a:lstStyle/>
          <a:p>
            <a:pPr indent="0" marL="0">
              <a:buNone/>
            </a:pPr>
            <a:r>
              <a:rPr lang="en-US" sz="1700" b="1" dirty="0">
                <a:solidFill>
                  <a:schemeClr val="tx1"/>
                </a:solidFill>
              </a:rPr>
              <a:t>Citi Bike's own plan is not public</a:t>
            </a:r>
            <a:endParaRPr lang="en-US" sz="1700" dirty="0"/>
          </a:p>
        </p:txBody>
      </p:sp>
      <p:sp>
        <p:nvSpPr>
          <p:cNvPr id="14" name="Text 12"/>
          <p:cNvSpPr txBox="1"/>
          <p:nvPr/>
        </p:nvSpPr>
        <p:spPr>
          <a:xfrm>
            <a:off x="1325880" y="4087368"/>
            <a:ext cx="4358488" cy="1005840"/>
          </a:xfrm>
          <a:prstGeom prst="rect">
            <a:avLst/>
          </a:prstGeom>
          <a:noFill/>
          <a:ln/>
        </p:spPr>
        <p:txBody>
          <a:bodyPr wrap="square" lIns="0" tIns="0" rIns="0" bIns="0" rtlCol="0" anchor="t"/>
          <a:lstStyle/>
          <a:p>
            <a:pPr indent="0" marL="0">
              <a:buNone/>
            </a:pPr>
            <a:r>
              <a:rPr lang="en-US" sz="1400" dirty="0">
                <a:solidFill>
                  <a:schemeClr val="tx1"/>
                </a:solidFill>
              </a:rPr>
              <a:t>So we compare with two benchmarks and check the workload against its monthly reports, not against its targets.</a:t>
            </a:r>
            <a:endParaRPr lang="en-US" sz="1400" dirty="0"/>
          </a:p>
        </p:txBody>
      </p:sp>
      <p:sp>
        <p:nvSpPr>
          <p:cNvPr id="15" name="card"/>
          <p:cNvSpPr/>
          <p:nvPr/>
        </p:nvSpPr>
        <p:spPr>
          <a:xfrm>
            <a:off x="6278728" y="3429000"/>
            <a:ext cx="5364328" cy="1783080"/>
          </a:xfrm>
          <a:prstGeom prst="roundRect">
            <a:avLst>
              <a:gd name="adj" fmla="val 4103"/>
            </a:avLst>
          </a:prstGeom>
          <a:solidFill>
            <a:schemeClr val="bg2"/>
          </a:solidFill>
          <a:ln/>
        </p:spPr>
      </p:sp>
      <p:sp>
        <p:nvSpPr>
          <p:cNvPr id="16" name="Text 14"/>
          <p:cNvSpPr txBox="1"/>
          <p:nvPr/>
        </p:nvSpPr>
        <p:spPr>
          <a:xfrm>
            <a:off x="6507328" y="3611880"/>
            <a:ext cx="457200" cy="457200"/>
          </a:xfrm>
          <a:prstGeom prst="rect">
            <a:avLst/>
          </a:prstGeom>
          <a:noFill/>
          <a:ln/>
        </p:spPr>
        <p:txBody>
          <a:bodyPr wrap="square" lIns="0" tIns="0" rIns="0" bIns="0" rtlCol="0" anchor="ctr"/>
          <a:lstStyle/>
          <a:p>
            <a:pPr indent="0" marL="0">
              <a:buNone/>
            </a:pPr>
            <a:r>
              <a:rPr lang="en-US" sz="2600" b="1" dirty="0">
                <a:solidFill>
                  <a:schemeClr val="accent1"/>
                </a:solidFill>
              </a:rPr>
              <a:t>4</a:t>
            </a:r>
            <a:endParaRPr lang="en-US" sz="2600" dirty="0"/>
          </a:p>
        </p:txBody>
      </p:sp>
      <p:sp>
        <p:nvSpPr>
          <p:cNvPr id="17" name="Text 15"/>
          <p:cNvSpPr txBox="1"/>
          <p:nvPr/>
        </p:nvSpPr>
        <p:spPr>
          <a:xfrm>
            <a:off x="7055968" y="3630168"/>
            <a:ext cx="4358488" cy="411480"/>
          </a:xfrm>
          <a:prstGeom prst="rect">
            <a:avLst/>
          </a:prstGeom>
          <a:noFill/>
          <a:ln/>
        </p:spPr>
        <p:txBody>
          <a:bodyPr wrap="square" lIns="0" tIns="0" rIns="0" bIns="0" rtlCol="0" anchor="ctr"/>
          <a:lstStyle/>
          <a:p>
            <a:pPr indent="0" marL="0">
              <a:buNone/>
            </a:pPr>
            <a:r>
              <a:rPr lang="en-US" sz="1700" b="1" dirty="0">
                <a:solidFill>
                  <a:schemeClr val="tx1"/>
                </a:solidFill>
              </a:rPr>
              <a:t>Bikes moved, not dollars</a:t>
            </a:r>
            <a:endParaRPr lang="en-US" sz="1700" dirty="0"/>
          </a:p>
        </p:txBody>
      </p:sp>
      <p:sp>
        <p:nvSpPr>
          <p:cNvPr id="18" name="Text 16"/>
          <p:cNvSpPr txBox="1"/>
          <p:nvPr/>
        </p:nvSpPr>
        <p:spPr>
          <a:xfrm>
            <a:off x="7055968" y="4087368"/>
            <a:ext cx="4358488" cy="1005840"/>
          </a:xfrm>
          <a:prstGeom prst="rect">
            <a:avLst/>
          </a:prstGeom>
          <a:noFill/>
          <a:ln/>
        </p:spPr>
        <p:txBody>
          <a:bodyPr wrap="square" lIns="0" tIns="0" rIns="0" bIns="0" rtlCol="0" anchor="t"/>
          <a:lstStyle/>
          <a:p>
            <a:pPr indent="0" marL="0">
              <a:buNone/>
            </a:pPr>
            <a:r>
              <a:rPr lang="en-US" sz="1400" dirty="0">
                <a:solidFill>
                  <a:schemeClr val="tx1"/>
                </a:solidFill>
              </a:rPr>
              <a:t>No route planning and no public cost per bike. Dock counts come from one day in Oct 2026; 81 stations without them are left out.</a:t>
            </a:r>
            <a:endParaRPr lang="en-US" sz="1400" dirty="0"/>
          </a:p>
        </p:txBody>
      </p:sp>
      <p:sp>
        <p:nvSpPr>
          <p:cNvPr id="19" name="Text 17"/>
          <p:cNvSpPr txBox="1"/>
          <p:nvPr/>
        </p:nvSpPr>
        <p:spPr>
          <a:xfrm>
            <a:off x="548640" y="5440680"/>
            <a:ext cx="11094415" cy="777240"/>
          </a:xfrm>
          <a:prstGeom prst="rect">
            <a:avLst/>
          </a:prstGeom>
          <a:noFill/>
          <a:ln/>
        </p:spPr>
        <p:txBody>
          <a:bodyPr wrap="square" lIns="0" tIns="0" rIns="0" bIns="0" rtlCol="0" anchor="t"/>
          <a:lstStyle/>
          <a:p>
            <a:pPr indent="0" marL="0">
              <a:buNone/>
            </a:pPr>
            <a:r>
              <a:rPr lang="en-US" sz="1500" b="1" dirty="0">
                <a:solidFill>
                  <a:schemeClr val="accent4"/>
                </a:solidFill>
              </a:rPr>
              <a:t>Next gain is better forecasts, not more tuning: </a:t>
            </a:r>
            <a:pPr indent="0" marL="0">
              <a:buNone/>
            </a:pPr>
            <a:r>
              <a:rPr lang="en-US" sz="1500" dirty="0">
                <a:solidFill>
                  <a:schemeClr val="accent4"/>
                </a:solidFill>
              </a:rPr>
              <a:t>perfect foresight would turn away 869 riders a day against our 1,779. Events, school calendars and subway disruptions could close part of that gap.</a:t>
            </a:r>
            <a:endParaRPr lang="en-US" sz="1500" dirty="0"/>
          </a:p>
        </p:txBody>
      </p:sp>
      <p:sp>
        <p:nvSpPr>
          <p:cNvPr id="25" name="Slide Number Placeholder 0"/>
          <p:cNvSpPr>
            <a:spLocks noGrp="1"/>
          </p:cNvSpPr>
          <p:nvPr>
            <p:ph type="sldNum" sz="quarter" idx="4294967295"/>
          </p:nvPr>
        </p:nvSpPr>
        <p:spPr>
          <a:xfrm>
            <a:off x="1118585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68680"/>
          </a:xfrm>
          <a:prstGeom prst="rect">
            <a:avLst/>
          </a:prstGeom>
          <a:noFill/>
          <a:ln/>
        </p:spPr>
        <p:txBody>
          <a:bodyPr wrap="square" lIns="0" tIns="0" rIns="0" bIns="0" rtlCol="0" anchor="t"/>
          <a:lstStyle/>
          <a:p>
            <a:pPr algn="l" indent="0" marL="0">
              <a:buNone/>
            </a:pPr>
            <a:r>
              <a:rPr lang="en-US" sz="2800" b="1" dirty="0">
                <a:solidFill>
                  <a:schemeClr val="bg1"/>
                </a:solidFill>
              </a:rPr>
              <a:t>Five changes, ranked by the riders they keep</a:t>
            </a:r>
            <a:endParaRPr lang="en-US" sz="2800" dirty="0"/>
          </a:p>
        </p:txBody>
      </p:sp>
      <p:sp>
        <p:nvSpPr>
          <p:cNvPr id="3" name="Shape 1"/>
          <p:cNvSpPr/>
          <p:nvPr/>
        </p:nvSpPr>
        <p:spPr>
          <a:xfrm>
            <a:off x="548640" y="1371600"/>
            <a:ext cx="11094415" cy="731520"/>
          </a:xfrm>
          <a:prstGeom prst="roundRect">
            <a:avLst>
              <a:gd name="adj" fmla="val 7500"/>
            </a:avLst>
          </a:prstGeom>
          <a:solidFill>
            <a:srgbClr val="22344F"/>
          </a:solidFill>
          <a:ln/>
        </p:spPr>
      </p:sp>
      <p:sp>
        <p:nvSpPr>
          <p:cNvPr id="4" name="Text 2"/>
          <p:cNvSpPr txBox="1"/>
          <p:nvPr/>
        </p:nvSpPr>
        <p:spPr>
          <a:xfrm>
            <a:off x="731520" y="1371600"/>
            <a:ext cx="457200" cy="731520"/>
          </a:xfrm>
          <a:prstGeom prst="rect">
            <a:avLst/>
          </a:prstGeom>
          <a:noFill/>
          <a:ln/>
        </p:spPr>
        <p:txBody>
          <a:bodyPr wrap="square" lIns="0" tIns="0" rIns="0" bIns="0" rtlCol="0" anchor="ctr"/>
          <a:lstStyle/>
          <a:p>
            <a:pPr indent="0" marL="0">
              <a:buNone/>
            </a:pPr>
            <a:r>
              <a:rPr lang="en-US" sz="2400" b="1" dirty="0">
                <a:solidFill>
                  <a:srgbClr val="6FA3EA"/>
                </a:solidFill>
              </a:rPr>
              <a:t>1</a:t>
            </a:r>
            <a:endParaRPr lang="en-US" sz="2400" dirty="0"/>
          </a:p>
        </p:txBody>
      </p:sp>
      <p:sp>
        <p:nvSpPr>
          <p:cNvPr id="5" name="Text 3"/>
          <p:cNvSpPr txBox="1"/>
          <p:nvPr/>
        </p:nvSpPr>
        <p:spPr>
          <a:xfrm>
            <a:off x="1280160" y="1371600"/>
            <a:ext cx="6035040" cy="731520"/>
          </a:xfrm>
          <a:prstGeom prst="rect">
            <a:avLst/>
          </a:prstGeom>
          <a:noFill/>
          <a:ln/>
        </p:spPr>
        <p:txBody>
          <a:bodyPr wrap="square" lIns="0" tIns="0" rIns="0" bIns="0" rtlCol="0" anchor="ctr"/>
          <a:lstStyle/>
          <a:p>
            <a:pPr indent="0" marL="0">
              <a:buNone/>
            </a:pPr>
            <a:r>
              <a:rPr lang="en-US" sz="1700" b="1" dirty="0">
                <a:solidFill>
                  <a:schemeClr val="bg1"/>
                </a:solidFill>
              </a:rPr>
              <a:t>Replace the half-full reset with a target band per station</a:t>
            </a:r>
            <a:endParaRPr lang="en-US" sz="1700" dirty="0"/>
          </a:p>
        </p:txBody>
      </p:sp>
      <p:sp>
        <p:nvSpPr>
          <p:cNvPr id="6" name="Text 4"/>
          <p:cNvSpPr txBox="1"/>
          <p:nvPr/>
        </p:nvSpPr>
        <p:spPr>
          <a:xfrm>
            <a:off x="7406640" y="1371600"/>
            <a:ext cx="4023360" cy="731520"/>
          </a:xfrm>
          <a:prstGeom prst="rect">
            <a:avLst/>
          </a:prstGeom>
          <a:noFill/>
          <a:ln/>
        </p:spPr>
        <p:txBody>
          <a:bodyPr wrap="square" lIns="0" tIns="0" rIns="0" bIns="0" rtlCol="0" anchor="ctr"/>
          <a:lstStyle/>
          <a:p>
            <a:pPr indent="0" marL="0">
              <a:buNone/>
            </a:pPr>
            <a:r>
              <a:rPr lang="en-US" sz="1400" dirty="0">
                <a:solidFill>
                  <a:srgbClr val="C9D3E3"/>
                </a:solidFill>
              </a:rPr>
              <a:t>2,700 fewer riders turned away, 2,552 fewer bikes moved</a:t>
            </a:r>
            <a:endParaRPr lang="en-US" sz="1400" dirty="0"/>
          </a:p>
        </p:txBody>
      </p:sp>
      <p:sp>
        <p:nvSpPr>
          <p:cNvPr id="7" name="Shape 5"/>
          <p:cNvSpPr/>
          <p:nvPr/>
        </p:nvSpPr>
        <p:spPr>
          <a:xfrm>
            <a:off x="548640" y="2240280"/>
            <a:ext cx="11094415" cy="731520"/>
          </a:xfrm>
          <a:prstGeom prst="roundRect">
            <a:avLst>
              <a:gd name="adj" fmla="val 7500"/>
            </a:avLst>
          </a:prstGeom>
          <a:solidFill>
            <a:srgbClr val="22344F"/>
          </a:solidFill>
          <a:ln/>
        </p:spPr>
      </p:sp>
      <p:sp>
        <p:nvSpPr>
          <p:cNvPr id="8" name="Text 6"/>
          <p:cNvSpPr txBox="1"/>
          <p:nvPr/>
        </p:nvSpPr>
        <p:spPr>
          <a:xfrm>
            <a:off x="731520" y="2240280"/>
            <a:ext cx="457200" cy="731520"/>
          </a:xfrm>
          <a:prstGeom prst="rect">
            <a:avLst/>
          </a:prstGeom>
          <a:noFill/>
          <a:ln/>
        </p:spPr>
        <p:txBody>
          <a:bodyPr wrap="square" lIns="0" tIns="0" rIns="0" bIns="0" rtlCol="0" anchor="ctr"/>
          <a:lstStyle/>
          <a:p>
            <a:pPr indent="0" marL="0">
              <a:buNone/>
            </a:pPr>
            <a:r>
              <a:rPr lang="en-US" sz="2400" b="1" dirty="0">
                <a:solidFill>
                  <a:srgbClr val="6FA3EA"/>
                </a:solidFill>
              </a:rPr>
              <a:t>2</a:t>
            </a:r>
            <a:endParaRPr lang="en-US" sz="2400" dirty="0"/>
          </a:p>
        </p:txBody>
      </p:sp>
      <p:sp>
        <p:nvSpPr>
          <p:cNvPr id="9" name="Text 7"/>
          <p:cNvSpPr txBox="1"/>
          <p:nvPr/>
        </p:nvSpPr>
        <p:spPr>
          <a:xfrm>
            <a:off x="1280160" y="2240280"/>
            <a:ext cx="6035040" cy="731520"/>
          </a:xfrm>
          <a:prstGeom prst="rect">
            <a:avLst/>
          </a:prstGeom>
          <a:noFill/>
          <a:ln/>
        </p:spPr>
        <p:txBody>
          <a:bodyPr wrap="square" lIns="0" tIns="0" rIns="0" bIns="0" rtlCol="0" anchor="ctr"/>
          <a:lstStyle/>
          <a:p>
            <a:pPr indent="0" marL="0">
              <a:buNone/>
            </a:pPr>
            <a:r>
              <a:rPr lang="en-US" sz="1700" b="1" dirty="0">
                <a:solidFill>
                  <a:schemeClr val="bg1"/>
                </a:solidFill>
              </a:rPr>
              <a:t>Treat the seven high-swing stations as a capacity problem</a:t>
            </a:r>
            <a:endParaRPr lang="en-US" sz="1700" dirty="0"/>
          </a:p>
        </p:txBody>
      </p:sp>
      <p:sp>
        <p:nvSpPr>
          <p:cNvPr id="10" name="Text 8"/>
          <p:cNvSpPr txBox="1"/>
          <p:nvPr/>
        </p:nvSpPr>
        <p:spPr>
          <a:xfrm>
            <a:off x="7406640" y="2240280"/>
            <a:ext cx="4023360" cy="731520"/>
          </a:xfrm>
          <a:prstGeom prst="rect">
            <a:avLst/>
          </a:prstGeom>
          <a:noFill/>
          <a:ln/>
        </p:spPr>
        <p:txBody>
          <a:bodyPr wrap="square" lIns="0" tIns="0" rIns="0" bIns="0" rtlCol="0" anchor="ctr"/>
          <a:lstStyle/>
          <a:p>
            <a:pPr indent="0" marL="0">
              <a:buNone/>
            </a:pPr>
            <a:r>
              <a:rPr lang="en-US" sz="1400" dirty="0">
                <a:solidFill>
                  <a:srgbClr val="C9D3E3"/>
                </a:solidFill>
              </a:rPr>
              <a:t>442 riders a day: add docks or valets</a:t>
            </a:r>
            <a:endParaRPr lang="en-US" sz="1400" dirty="0"/>
          </a:p>
        </p:txBody>
      </p:sp>
      <p:sp>
        <p:nvSpPr>
          <p:cNvPr id="11" name="Shape 9"/>
          <p:cNvSpPr/>
          <p:nvPr/>
        </p:nvSpPr>
        <p:spPr>
          <a:xfrm>
            <a:off x="548640" y="3108960"/>
            <a:ext cx="11094415" cy="731520"/>
          </a:xfrm>
          <a:prstGeom prst="roundRect">
            <a:avLst>
              <a:gd name="adj" fmla="val 7500"/>
            </a:avLst>
          </a:prstGeom>
          <a:solidFill>
            <a:srgbClr val="22344F"/>
          </a:solidFill>
          <a:ln/>
        </p:spPr>
      </p:sp>
      <p:sp>
        <p:nvSpPr>
          <p:cNvPr id="12" name="Text 10"/>
          <p:cNvSpPr txBox="1"/>
          <p:nvPr/>
        </p:nvSpPr>
        <p:spPr>
          <a:xfrm>
            <a:off x="731520" y="3108960"/>
            <a:ext cx="457200" cy="731520"/>
          </a:xfrm>
          <a:prstGeom prst="rect">
            <a:avLst/>
          </a:prstGeom>
          <a:noFill/>
          <a:ln/>
        </p:spPr>
        <p:txBody>
          <a:bodyPr wrap="square" lIns="0" tIns="0" rIns="0" bIns="0" rtlCol="0" anchor="ctr"/>
          <a:lstStyle/>
          <a:p>
            <a:pPr indent="0" marL="0">
              <a:buNone/>
            </a:pPr>
            <a:r>
              <a:rPr lang="en-US" sz="2400" b="1" dirty="0">
                <a:solidFill>
                  <a:srgbClr val="6FA3EA"/>
                </a:solidFill>
              </a:rPr>
              <a:t>3</a:t>
            </a:r>
            <a:endParaRPr lang="en-US" sz="2400" dirty="0"/>
          </a:p>
        </p:txBody>
      </p:sp>
      <p:sp>
        <p:nvSpPr>
          <p:cNvPr id="13" name="Text 11"/>
          <p:cNvSpPr txBox="1"/>
          <p:nvPr/>
        </p:nvSpPr>
        <p:spPr>
          <a:xfrm>
            <a:off x="1280160" y="3108960"/>
            <a:ext cx="6035040" cy="731520"/>
          </a:xfrm>
          <a:prstGeom prst="rect">
            <a:avLst/>
          </a:prstGeom>
          <a:noFill/>
          <a:ln/>
        </p:spPr>
        <p:txBody>
          <a:bodyPr wrap="square" lIns="0" tIns="0" rIns="0" bIns="0" rtlCol="0" anchor="ctr"/>
          <a:lstStyle/>
          <a:p>
            <a:pPr indent="0" marL="0">
              <a:buNone/>
            </a:pPr>
            <a:r>
              <a:rPr lang="en-US" sz="1700" b="1" dirty="0">
                <a:solidFill>
                  <a:schemeClr val="bg1"/>
                </a:solidFill>
              </a:rPr>
              <a:t>Send vans to the 100 neediest stations at 14:00</a:t>
            </a:r>
            <a:endParaRPr lang="en-US" sz="1700" dirty="0"/>
          </a:p>
        </p:txBody>
      </p:sp>
      <p:sp>
        <p:nvSpPr>
          <p:cNvPr id="14" name="Text 12"/>
          <p:cNvSpPr txBox="1"/>
          <p:nvPr/>
        </p:nvSpPr>
        <p:spPr>
          <a:xfrm>
            <a:off x="7406640" y="3108960"/>
            <a:ext cx="4023360" cy="731520"/>
          </a:xfrm>
          <a:prstGeom prst="rect">
            <a:avLst/>
          </a:prstGeom>
          <a:noFill/>
          <a:ln/>
        </p:spPr>
        <p:txBody>
          <a:bodyPr wrap="square" lIns="0" tIns="0" rIns="0" bIns="0" rtlCol="0" anchor="ctr"/>
          <a:lstStyle/>
          <a:p>
            <a:pPr indent="0" marL="0">
              <a:buNone/>
            </a:pPr>
            <a:r>
              <a:rPr lang="en-US" sz="1400" dirty="0">
                <a:solidFill>
                  <a:srgbClr val="C9D3E3"/>
                </a:solidFill>
              </a:rPr>
              <a:t>166 fewer shortages for 671 bikes, 0.25 per bike</a:t>
            </a:r>
            <a:endParaRPr lang="en-US" sz="1400" dirty="0"/>
          </a:p>
        </p:txBody>
      </p:sp>
      <p:sp>
        <p:nvSpPr>
          <p:cNvPr id="15" name="Shape 13"/>
          <p:cNvSpPr/>
          <p:nvPr/>
        </p:nvSpPr>
        <p:spPr>
          <a:xfrm>
            <a:off x="548640" y="3977640"/>
            <a:ext cx="11094415" cy="731520"/>
          </a:xfrm>
          <a:prstGeom prst="roundRect">
            <a:avLst>
              <a:gd name="adj" fmla="val 7500"/>
            </a:avLst>
          </a:prstGeom>
          <a:solidFill>
            <a:srgbClr val="22344F"/>
          </a:solidFill>
          <a:ln/>
        </p:spPr>
      </p:sp>
      <p:sp>
        <p:nvSpPr>
          <p:cNvPr id="16" name="Text 14"/>
          <p:cNvSpPr txBox="1"/>
          <p:nvPr/>
        </p:nvSpPr>
        <p:spPr>
          <a:xfrm>
            <a:off x="731520" y="3977640"/>
            <a:ext cx="457200" cy="731520"/>
          </a:xfrm>
          <a:prstGeom prst="rect">
            <a:avLst/>
          </a:prstGeom>
          <a:noFill/>
          <a:ln/>
        </p:spPr>
        <p:txBody>
          <a:bodyPr wrap="square" lIns="0" tIns="0" rIns="0" bIns="0" rtlCol="0" anchor="ctr"/>
          <a:lstStyle/>
          <a:p>
            <a:pPr indent="0" marL="0">
              <a:buNone/>
            </a:pPr>
            <a:r>
              <a:rPr lang="en-US" sz="2400" b="1" dirty="0">
                <a:solidFill>
                  <a:srgbClr val="6FA3EA"/>
                </a:solidFill>
              </a:rPr>
              <a:t>4</a:t>
            </a:r>
            <a:endParaRPr lang="en-US" sz="2400" dirty="0"/>
          </a:p>
        </p:txBody>
      </p:sp>
      <p:sp>
        <p:nvSpPr>
          <p:cNvPr id="17" name="Text 15"/>
          <p:cNvSpPr txBox="1"/>
          <p:nvPr/>
        </p:nvSpPr>
        <p:spPr>
          <a:xfrm>
            <a:off x="1280160" y="3977640"/>
            <a:ext cx="6035040" cy="731520"/>
          </a:xfrm>
          <a:prstGeom prst="rect">
            <a:avLst/>
          </a:prstGeom>
          <a:noFill/>
          <a:ln/>
        </p:spPr>
        <p:txBody>
          <a:bodyPr wrap="square" lIns="0" tIns="0" rIns="0" bIns="0" rtlCol="0" anchor="ctr"/>
          <a:lstStyle/>
          <a:p>
            <a:pPr indent="0" marL="0">
              <a:buNone/>
            </a:pPr>
            <a:r>
              <a:rPr lang="en-US" sz="1700" b="1" dirty="0">
                <a:solidFill>
                  <a:schemeClr val="bg1"/>
                </a:solidFill>
              </a:rPr>
              <a:t>Cap the night at 3,000 loads and unloads, best moves first</a:t>
            </a:r>
            <a:endParaRPr lang="en-US" sz="1700" dirty="0"/>
          </a:p>
        </p:txBody>
      </p:sp>
      <p:sp>
        <p:nvSpPr>
          <p:cNvPr id="18" name="Text 16"/>
          <p:cNvSpPr txBox="1"/>
          <p:nvPr/>
        </p:nvSpPr>
        <p:spPr>
          <a:xfrm>
            <a:off x="7406640" y="3977640"/>
            <a:ext cx="4023360" cy="731520"/>
          </a:xfrm>
          <a:prstGeom prst="rect">
            <a:avLst/>
          </a:prstGeom>
          <a:noFill/>
          <a:ln/>
        </p:spPr>
        <p:txBody>
          <a:bodyPr wrap="square" lIns="0" tIns="0" rIns="0" bIns="0" rtlCol="0" anchor="ctr"/>
          <a:lstStyle/>
          <a:p>
            <a:pPr indent="0" marL="0">
              <a:buNone/>
            </a:pPr>
            <a:r>
              <a:rPr lang="en-US" sz="1400" dirty="0">
                <a:solidFill>
                  <a:srgbClr val="C9D3E3"/>
                </a:solidFill>
              </a:rPr>
              <a:t>1,444 fewer bikes than banding every station, 87 fewer shortages</a:t>
            </a:r>
            <a:endParaRPr lang="en-US" sz="1400" dirty="0"/>
          </a:p>
        </p:txBody>
      </p:sp>
      <p:sp>
        <p:nvSpPr>
          <p:cNvPr id="19" name="Shape 17"/>
          <p:cNvSpPr/>
          <p:nvPr/>
        </p:nvSpPr>
        <p:spPr>
          <a:xfrm>
            <a:off x="548640" y="4846320"/>
            <a:ext cx="11094415" cy="731520"/>
          </a:xfrm>
          <a:prstGeom prst="roundRect">
            <a:avLst>
              <a:gd name="adj" fmla="val 7500"/>
            </a:avLst>
          </a:prstGeom>
          <a:solidFill>
            <a:srgbClr val="22344F"/>
          </a:solidFill>
          <a:ln/>
        </p:spPr>
      </p:sp>
      <p:sp>
        <p:nvSpPr>
          <p:cNvPr id="20" name="Text 18"/>
          <p:cNvSpPr txBox="1"/>
          <p:nvPr/>
        </p:nvSpPr>
        <p:spPr>
          <a:xfrm>
            <a:off x="731520" y="4846320"/>
            <a:ext cx="457200" cy="731520"/>
          </a:xfrm>
          <a:prstGeom prst="rect">
            <a:avLst/>
          </a:prstGeom>
          <a:noFill/>
          <a:ln/>
        </p:spPr>
        <p:txBody>
          <a:bodyPr wrap="square" lIns="0" tIns="0" rIns="0" bIns="0" rtlCol="0" anchor="ctr"/>
          <a:lstStyle/>
          <a:p>
            <a:pPr indent="0" marL="0">
              <a:buNone/>
            </a:pPr>
            <a:r>
              <a:rPr lang="en-US" sz="2400" b="1" dirty="0">
                <a:solidFill>
                  <a:srgbClr val="6FA3EA"/>
                </a:solidFill>
              </a:rPr>
              <a:t>5</a:t>
            </a:r>
            <a:endParaRPr lang="en-US" sz="2400" dirty="0"/>
          </a:p>
        </p:txBody>
      </p:sp>
      <p:sp>
        <p:nvSpPr>
          <p:cNvPr id="21" name="Text 19"/>
          <p:cNvSpPr txBox="1"/>
          <p:nvPr/>
        </p:nvSpPr>
        <p:spPr>
          <a:xfrm>
            <a:off x="1280160" y="4846320"/>
            <a:ext cx="6035040" cy="731520"/>
          </a:xfrm>
          <a:prstGeom prst="rect">
            <a:avLst/>
          </a:prstGeom>
          <a:noFill/>
          <a:ln/>
        </p:spPr>
        <p:txBody>
          <a:bodyPr wrap="square" lIns="0" tIns="0" rIns="0" bIns="0" rtlCol="0" anchor="ctr"/>
          <a:lstStyle/>
          <a:p>
            <a:pPr indent="0" marL="0">
              <a:buNone/>
            </a:pPr>
            <a:r>
              <a:rPr lang="en-US" sz="1700" b="1" dirty="0">
                <a:solidFill>
                  <a:schemeClr val="bg1"/>
                </a:solidFill>
              </a:rPr>
              <a:t>Size the night shift from the weather forecast</a:t>
            </a:r>
            <a:endParaRPr lang="en-US" sz="1700" dirty="0"/>
          </a:p>
        </p:txBody>
      </p:sp>
      <p:sp>
        <p:nvSpPr>
          <p:cNvPr id="22" name="Text 20"/>
          <p:cNvSpPr txBox="1"/>
          <p:nvPr/>
        </p:nvSpPr>
        <p:spPr>
          <a:xfrm>
            <a:off x="7406640" y="4846320"/>
            <a:ext cx="4023360" cy="731520"/>
          </a:xfrm>
          <a:prstGeom prst="rect">
            <a:avLst/>
          </a:prstGeom>
          <a:noFill/>
          <a:ln/>
        </p:spPr>
        <p:txBody>
          <a:bodyPr wrap="square" lIns="0" tIns="0" rIns="0" bIns="0" rtlCol="0" anchor="ctr"/>
          <a:lstStyle/>
          <a:p>
            <a:pPr indent="0" marL="0">
              <a:buNone/>
            </a:pPr>
            <a:r>
              <a:rPr lang="en-US" sz="1400" dirty="0">
                <a:solidFill>
                  <a:srgbClr val="C9D3E3"/>
                </a:solidFill>
              </a:rPr>
              <a:t>volume within 11%; targets stay on history</a:t>
            </a:r>
            <a:endParaRPr lang="en-US" sz="1400" dirty="0"/>
          </a:p>
        </p:txBody>
      </p:sp>
      <p:sp>
        <p:nvSpPr>
          <p:cNvPr id="23" name="Text 21"/>
          <p:cNvSpPr txBox="1"/>
          <p:nvPr/>
        </p:nvSpPr>
        <p:spPr>
          <a:xfrm>
            <a:off x="548640" y="5806440"/>
            <a:ext cx="11094415" cy="502920"/>
          </a:xfrm>
          <a:prstGeom prst="rect">
            <a:avLst/>
          </a:prstGeom>
          <a:noFill/>
          <a:ln/>
        </p:spPr>
        <p:txBody>
          <a:bodyPr wrap="square" lIns="0" tIns="0" rIns="0" bIns="0" rtlCol="0" anchor="ctr"/>
          <a:lstStyle/>
          <a:p>
            <a:pPr indent="0" marL="0">
              <a:buNone/>
            </a:pPr>
            <a:r>
              <a:rPr lang="en-US" sz="2200" b="1" dirty="0">
                <a:solidFill>
                  <a:srgbClr val="6FA3EA"/>
                </a:solidFill>
              </a:rPr>
              <a:t>Move fewer bikes, to the right stations, at the right time.</a:t>
            </a:r>
            <a:endParaRPr lang="en-US" sz="2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68680"/>
          </a:xfrm>
          <a:prstGeom prst="rect">
            <a:avLst/>
          </a:prstGeom>
          <a:noFill/>
          <a:ln/>
        </p:spPr>
        <p:txBody>
          <a:bodyPr wrap="square" lIns="0" tIns="0" rIns="0" bIns="0" rtlCol="0" anchor="t"/>
          <a:lstStyle/>
          <a:p>
            <a:pPr algn="l" indent="0" marL="0">
              <a:buNone/>
            </a:pPr>
            <a:r>
              <a:rPr lang="en-US" sz="2800" b="1" dirty="0">
                <a:solidFill>
                  <a:schemeClr val="tx1"/>
                </a:solidFill>
              </a:rPr>
              <a:t>Backup: members ride the rush hours; weekends ride midday</a:t>
            </a:r>
            <a:endParaRPr lang="en-US" sz="2800" dirty="0"/>
          </a:p>
        </p:txBody>
      </p:sp>
      <p:pic>
        <p:nvPicPr>
          <p:cNvPr id="3" name="daily rhythm" descr="daily rhythm">    </p:cNvPr>
          <p:cNvPicPr>
            <a:picLocks noChangeAspect="1"/>
          </p:cNvPicPr>
          <p:nvPr/>
        </p:nvPicPr>
        <p:blipFill>
          <a:blip r:embed="rId1"/>
          <a:stretch>
            <a:fillRect/>
          </a:stretch>
        </p:blipFill>
        <p:spPr>
          <a:xfrm>
            <a:off x="548640" y="1836193"/>
            <a:ext cx="11064240" cy="3825695"/>
          </a:xfrm>
          <a:prstGeom prst="rect">
            <a:avLst/>
          </a:prstGeom>
        </p:spPr>
      </p:pic>
      <p:sp>
        <p:nvSpPr>
          <p:cNvPr id="4" name="caption"/>
          <p:cNvSpPr txBox="1"/>
          <p:nvPr/>
        </p:nvSpPr>
        <p:spPr>
          <a:xfrm>
            <a:off x="548640" y="5707607"/>
            <a:ext cx="11064240" cy="320040"/>
          </a:xfrm>
          <a:prstGeom prst="rect">
            <a:avLst/>
          </a:prstGeom>
          <a:noFill/>
          <a:ln/>
        </p:spPr>
        <p:txBody>
          <a:bodyPr wrap="square" lIns="0" tIns="0" rIns="0" bIns="0" rtlCol="0" anchor="ctr"/>
          <a:lstStyle/>
          <a:p>
            <a:pPr indent="0" marL="0">
              <a:buNone/>
            </a:pPr>
            <a:r>
              <a:rPr lang="en-US" sz="1100" dirty="0">
                <a:solidFill>
                  <a:schemeClr val="accent6"/>
                </a:solidFill>
              </a:rPr>
              <a:t>Average trips started per hour, development year.</a:t>
            </a:r>
            <a:endParaRPr lang="en-US" sz="1100" dirty="0"/>
          </a:p>
        </p:txBody>
      </p:sp>
      <p:sp>
        <p:nvSpPr>
          <p:cNvPr id="25" name="Slide Number Placeholder 0"/>
          <p:cNvSpPr>
            <a:spLocks noGrp="1"/>
          </p:cNvSpPr>
          <p:nvPr>
            <p:ph type="sldNum" sz="quarter" idx="4294967295"/>
          </p:nvPr>
        </p:nvSpPr>
        <p:spPr>
          <a:xfrm>
            <a:off x="1118585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68680"/>
          </a:xfrm>
          <a:prstGeom prst="rect">
            <a:avLst/>
          </a:prstGeom>
          <a:noFill/>
          <a:ln/>
        </p:spPr>
        <p:txBody>
          <a:bodyPr wrap="square" lIns="0" tIns="0" rIns="0" bIns="0" rtlCol="0" anchor="t"/>
          <a:lstStyle/>
          <a:p>
            <a:pPr algn="l" indent="0" marL="0">
              <a:buNone/>
            </a:pPr>
            <a:r>
              <a:rPr lang="en-US" sz="2800" b="1" dirty="0">
                <a:solidFill>
                  <a:schemeClr val="tx1"/>
                </a:solidFill>
              </a:rPr>
              <a:t>Backup: a quarter of the stations take 80% of the moves</a:t>
            </a:r>
            <a:endParaRPr lang="en-US" sz="2800" dirty="0"/>
          </a:p>
        </p:txBody>
      </p:sp>
      <p:pic>
        <p:nvPicPr>
          <p:cNvPr id="3" name="where vans go" descr="where vans go">    </p:cNvPr>
          <p:cNvPicPr>
            <a:picLocks noChangeAspect="1"/>
          </p:cNvPicPr>
          <p:nvPr/>
        </p:nvPicPr>
        <p:blipFill>
          <a:blip r:embed="rId1"/>
          <a:stretch>
            <a:fillRect/>
          </a:stretch>
        </p:blipFill>
        <p:spPr>
          <a:xfrm>
            <a:off x="925978" y="1325880"/>
            <a:ext cx="4365965" cy="4709160"/>
          </a:xfrm>
          <a:prstGeom prst="rect">
            <a:avLst/>
          </a:prstGeom>
        </p:spPr>
      </p:pic>
      <p:sp>
        <p:nvSpPr>
          <p:cNvPr id="4" name="caption"/>
          <p:cNvSpPr txBox="1"/>
          <p:nvPr/>
        </p:nvSpPr>
        <p:spPr>
          <a:xfrm>
            <a:off x="548640" y="6080760"/>
            <a:ext cx="10972800" cy="320040"/>
          </a:xfrm>
          <a:prstGeom prst="rect">
            <a:avLst/>
          </a:prstGeom>
          <a:noFill/>
          <a:ln/>
        </p:spPr>
        <p:txBody>
          <a:bodyPr wrap="square" lIns="0" tIns="0" rIns="0" bIns="0" rtlCol="0" anchor="ctr"/>
          <a:lstStyle/>
          <a:p>
            <a:pPr indent="0" marL="0">
              <a:buNone/>
            </a:pPr>
            <a:r>
              <a:rPr lang="en-US" sz="1100" dirty="0">
                <a:solidFill>
                  <a:schemeClr val="accent6"/>
                </a:solidFill>
              </a:rPr>
              <a:t>Bikes handled per day, recommended schedule; blue mostly receive, red mostly give, grey left alone.</a:t>
            </a:r>
            <a:endParaRPr lang="en-US" sz="1100" dirty="0"/>
          </a:p>
        </p:txBody>
      </p:sp>
      <p:sp>
        <p:nvSpPr>
          <p:cNvPr id="5" name="stat 49%"/>
          <p:cNvSpPr txBox="1"/>
          <p:nvPr/>
        </p:nvSpPr>
        <p:spPr>
          <a:xfrm>
            <a:off x="6309360" y="1371600"/>
            <a:ext cx="5333695" cy="609600"/>
          </a:xfrm>
          <a:prstGeom prst="rect">
            <a:avLst/>
          </a:prstGeom>
          <a:noFill/>
          <a:ln/>
        </p:spPr>
        <p:txBody>
          <a:bodyPr wrap="square" lIns="0" tIns="0" rIns="0" bIns="0" rtlCol="0" anchor="b"/>
          <a:lstStyle/>
          <a:p>
            <a:pPr indent="0" marL="0">
              <a:buNone/>
            </a:pPr>
            <a:r>
              <a:rPr lang="en-US" sz="4000" b="1" dirty="0">
                <a:solidFill>
                  <a:schemeClr val="accent1"/>
                </a:solidFill>
              </a:rPr>
              <a:t>49%</a:t>
            </a:r>
            <a:endParaRPr lang="en-US" sz="4000" dirty="0"/>
          </a:p>
        </p:txBody>
      </p:sp>
      <p:sp>
        <p:nvSpPr>
          <p:cNvPr id="6" name="stat label"/>
          <p:cNvSpPr txBox="1"/>
          <p:nvPr/>
        </p:nvSpPr>
        <p:spPr>
          <a:xfrm>
            <a:off x="6309360" y="2026920"/>
            <a:ext cx="5333695" cy="685800"/>
          </a:xfrm>
          <a:prstGeom prst="rect">
            <a:avLst/>
          </a:prstGeom>
          <a:noFill/>
          <a:ln/>
        </p:spPr>
        <p:txBody>
          <a:bodyPr wrap="square" lIns="0" tIns="0" rIns="0" bIns="0" rtlCol="0" anchor="t"/>
          <a:lstStyle/>
          <a:p>
            <a:pPr indent="0" marL="0">
              <a:buNone/>
            </a:pPr>
            <a:r>
              <a:rPr lang="en-US" sz="1400" dirty="0">
                <a:solidFill>
                  <a:schemeClr val="tx1"/>
                </a:solidFill>
              </a:rPr>
              <a:t>of all bikes handled are at the busiest 10% of stations</a:t>
            </a:r>
            <a:endParaRPr lang="en-US" sz="1400" dirty="0"/>
          </a:p>
        </p:txBody>
      </p:sp>
      <p:sp>
        <p:nvSpPr>
          <p:cNvPr id="7" name="stat 67%"/>
          <p:cNvSpPr txBox="1"/>
          <p:nvPr/>
        </p:nvSpPr>
        <p:spPr>
          <a:xfrm>
            <a:off x="6309360" y="2926080"/>
            <a:ext cx="5333695" cy="609600"/>
          </a:xfrm>
          <a:prstGeom prst="rect">
            <a:avLst/>
          </a:prstGeom>
          <a:noFill/>
          <a:ln/>
        </p:spPr>
        <p:txBody>
          <a:bodyPr wrap="square" lIns="0" tIns="0" rIns="0" bIns="0" rtlCol="0" anchor="b"/>
          <a:lstStyle/>
          <a:p>
            <a:pPr indent="0" marL="0">
              <a:buNone/>
            </a:pPr>
            <a:r>
              <a:rPr lang="en-US" sz="4000" b="1" dirty="0">
                <a:solidFill>
                  <a:schemeClr val="accent1"/>
                </a:solidFill>
              </a:rPr>
              <a:t>67%</a:t>
            </a:r>
            <a:endParaRPr lang="en-US" sz="4000" dirty="0"/>
          </a:p>
        </p:txBody>
      </p:sp>
      <p:sp>
        <p:nvSpPr>
          <p:cNvPr id="8" name="stat label"/>
          <p:cNvSpPr txBox="1"/>
          <p:nvPr/>
        </p:nvSpPr>
        <p:spPr>
          <a:xfrm>
            <a:off x="6309360" y="3581400"/>
            <a:ext cx="5333695" cy="685800"/>
          </a:xfrm>
          <a:prstGeom prst="rect">
            <a:avLst/>
          </a:prstGeom>
          <a:noFill/>
          <a:ln/>
        </p:spPr>
        <p:txBody>
          <a:bodyPr wrap="square" lIns="0" tIns="0" rIns="0" bIns="0" rtlCol="0" anchor="t"/>
          <a:lstStyle/>
          <a:p>
            <a:pPr indent="0" marL="0">
              <a:buNone/>
            </a:pPr>
            <a:r>
              <a:rPr lang="en-US" sz="1400" dirty="0">
                <a:solidFill>
                  <a:schemeClr val="tx1"/>
                </a:solidFill>
              </a:rPr>
              <a:t>of drop-offs are in Manhattan, 25% in Brooklyn; the Bronx and Jersey City need almost nothing</a:t>
            </a:r>
            <a:endParaRPr lang="en-US" sz="1400" dirty="0"/>
          </a:p>
        </p:txBody>
      </p:sp>
      <p:sp>
        <p:nvSpPr>
          <p:cNvPr id="9" name="Text 6"/>
          <p:cNvSpPr txBox="1"/>
          <p:nvPr/>
        </p:nvSpPr>
        <p:spPr>
          <a:xfrm>
            <a:off x="6309360" y="4526280"/>
            <a:ext cx="5333695" cy="1371600"/>
          </a:xfrm>
          <a:prstGeom prst="rect">
            <a:avLst/>
          </a:prstGeom>
          <a:noFill/>
          <a:ln/>
        </p:spPr>
        <p:txBody>
          <a:bodyPr wrap="square" lIns="0" tIns="0" rIns="0" bIns="0" rtlCol="0" anchor="t"/>
          <a:lstStyle/>
          <a:p>
            <a:pPr indent="0" marL="0">
              <a:buNone/>
            </a:pPr>
            <a:r>
              <a:rPr lang="en-US" sz="1400" dirty="0">
                <a:solidFill>
                  <a:schemeClr val="tx1"/>
                </a:solidFill>
              </a:rPr>
              <a:t>Drop-offs: Upper West Side and central Brooklyn, ready for the morning. Pick-ups: Chelsea, the Financial District and Brooklyn Heights.</a:t>
            </a:r>
            <a:endParaRPr lang="en-US" sz="1400" dirty="0"/>
          </a:p>
        </p:txBody>
      </p:sp>
      <p:sp>
        <p:nvSpPr>
          <p:cNvPr id="25" name="Slide Number Placeholder 0"/>
          <p:cNvSpPr>
            <a:spLocks noGrp="1"/>
          </p:cNvSpPr>
          <p:nvPr>
            <p:ph type="sldNum" sz="quarter" idx="4294967295"/>
          </p:nvPr>
        </p:nvSpPr>
        <p:spPr>
          <a:xfrm>
            <a:off x="1118585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68680"/>
          </a:xfrm>
          <a:prstGeom prst="rect">
            <a:avLst/>
          </a:prstGeom>
          <a:noFill/>
          <a:ln/>
        </p:spPr>
        <p:txBody>
          <a:bodyPr wrap="square" lIns="0" tIns="0" rIns="0" bIns="0" rtlCol="0" anchor="t"/>
          <a:lstStyle/>
          <a:p>
            <a:pPr algn="l" indent="0" marL="0">
              <a:buNone/>
            </a:pPr>
            <a:r>
              <a:rPr lang="en-US" sz="2800" b="1" dirty="0">
                <a:solidFill>
                  <a:schemeClr val="tx1"/>
                </a:solidFill>
              </a:rPr>
              <a:t>Backup: why a lost rider must also fail to arrive</a:t>
            </a:r>
            <a:endParaRPr lang="en-US" sz="28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3383280"/>
                <a:gridCol w="3840480"/>
                <a:gridCol w="3840480"/>
              </a:tblGrid>
              <a:tr h="685800">
                <a:tc>
                  <a:txBody>
                    <a:bodyPr/>
                    <a:lstStyle/>
                    <a:p>
                      <a:pPr indent="0" marL="0">
                        <a:buNone/>
                      </a:pPr>
                      <a:r>
                        <a:rPr lang="en-US" sz="1600" b="1" dirty="0">
                          <a:solidFill>
                            <a:srgbClr val="FFFFFF"/>
                          </a:solidFill>
                        </a:rPr>
                        <a:t>Riders turned away a day</a:t>
                      </a:r>
                      <a:endParaRPr lang="en-US" sz="1600" dirty="0"/>
                    </a:p>
                  </a:txBody>
                  <a:tcPr marL="109728" marR="109728" marT="54864" marB="54864" anchor="ctr">
                    <a:lnL w="9525" cap="flat" cmpd="sng" algn="ctr">
                      <a:solidFill>
                        <a:srgbClr val="D6D3CC"/>
                      </a:solidFill>
                      <a:prstDash val="solid"/>
                      <a:round/>
                      <a:headEnd type="none" w="med" len="med"/>
                      <a:tailEnd type="none" w="med" len="med"/>
                    </a:lnL>
                    <a:lnR w="9525" cap="flat" cmpd="sng" algn="ctr">
                      <a:solidFill>
                        <a:srgbClr val="D6D3CC"/>
                      </a:solidFill>
                      <a:prstDash val="solid"/>
                      <a:round/>
                      <a:headEnd type="none" w="med" len="med"/>
                      <a:tailEnd type="none" w="med" len="med"/>
                    </a:lnR>
                    <a:lnT w="9525" cap="flat" cmpd="sng" algn="ctr">
                      <a:solidFill>
                        <a:srgbClr val="D6D3CC"/>
                      </a:solidFill>
                      <a:prstDash val="solid"/>
                      <a:round/>
                      <a:headEnd type="none" w="med" len="med"/>
                      <a:tailEnd type="none" w="med" len="med"/>
                    </a:lnT>
                    <a:lnB w="9525" cap="flat" cmpd="sng" algn="ctr">
                      <a:solidFill>
                        <a:srgbClr val="D6D3CC"/>
                      </a:solidFill>
                      <a:prstDash val="solid"/>
                      <a:round/>
                      <a:headEnd type="none" w="med" len="med"/>
                      <a:tailEnd type="none" w="med" len="med"/>
                    </a:lnB>
                    <a:solidFill>
                      <a:srgbClr val="15233B"/>
                    </a:solidFill>
                  </a:tcPr>
                </a:tc>
                <a:tc>
                  <a:txBody>
                    <a:bodyPr/>
                    <a:lstStyle/>
                    <a:p>
                      <a:pPr indent="0" marL="0">
                        <a:buNone/>
                      </a:pPr>
                      <a:r>
                        <a:rPr lang="en-US" sz="1600" b="1" dirty="0">
                          <a:solidFill>
                            <a:srgbClr val="FFFFFF"/>
                          </a:solidFill>
                        </a:rPr>
                        <a:t>Simple model: every rider still arrives</a:t>
                      </a:r>
                      <a:endParaRPr lang="en-US" sz="1600" dirty="0"/>
                    </a:p>
                  </a:txBody>
                  <a:tcPr marL="109728" marR="109728" marT="54864" marB="54864" anchor="ctr">
                    <a:lnL w="9525" cap="flat" cmpd="sng" algn="ctr">
                      <a:solidFill>
                        <a:srgbClr val="D6D3CC"/>
                      </a:solidFill>
                      <a:prstDash val="solid"/>
                      <a:round/>
                      <a:headEnd type="none" w="med" len="med"/>
                      <a:tailEnd type="none" w="med" len="med"/>
                    </a:lnL>
                    <a:lnR w="9525" cap="flat" cmpd="sng" algn="ctr">
                      <a:solidFill>
                        <a:srgbClr val="D6D3CC"/>
                      </a:solidFill>
                      <a:prstDash val="solid"/>
                      <a:round/>
                      <a:headEnd type="none" w="med" len="med"/>
                      <a:tailEnd type="none" w="med" len="med"/>
                    </a:lnR>
                    <a:lnT w="9525" cap="flat" cmpd="sng" algn="ctr">
                      <a:solidFill>
                        <a:srgbClr val="D6D3CC"/>
                      </a:solidFill>
                      <a:prstDash val="solid"/>
                      <a:round/>
                      <a:headEnd type="none" w="med" len="med"/>
                      <a:tailEnd type="none" w="med" len="med"/>
                    </a:lnT>
                    <a:lnB w="9525" cap="flat" cmpd="sng" algn="ctr">
                      <a:solidFill>
                        <a:srgbClr val="D6D3CC"/>
                      </a:solidFill>
                      <a:prstDash val="solid"/>
                      <a:round/>
                      <a:headEnd type="none" w="med" len="med"/>
                      <a:tailEnd type="none" w="med" len="med"/>
                    </a:lnB>
                    <a:solidFill>
                      <a:srgbClr val="15233B"/>
                    </a:solidFill>
                  </a:tcPr>
                </a:tc>
                <a:tc>
                  <a:txBody>
                    <a:bodyPr/>
                    <a:lstStyle/>
                    <a:p>
                      <a:pPr indent="0" marL="0">
                        <a:buNone/>
                      </a:pPr>
                      <a:r>
                        <a:rPr lang="en-US" sz="1600" b="1" dirty="0">
                          <a:solidFill>
                            <a:srgbClr val="FFFFFF"/>
                          </a:solidFill>
                        </a:rPr>
                        <a:t>Our model: a lost rider never arrives</a:t>
                      </a:r>
                      <a:endParaRPr lang="en-US" sz="1600" dirty="0"/>
                    </a:p>
                  </a:txBody>
                  <a:tcPr marL="109728" marR="109728" marT="54864" marB="54864" anchor="ctr">
                    <a:lnL w="9525" cap="flat" cmpd="sng" algn="ctr">
                      <a:solidFill>
                        <a:srgbClr val="D6D3CC"/>
                      </a:solidFill>
                      <a:prstDash val="solid"/>
                      <a:round/>
                      <a:headEnd type="none" w="med" len="med"/>
                      <a:tailEnd type="none" w="med" len="med"/>
                    </a:lnL>
                    <a:lnR w="9525" cap="flat" cmpd="sng" algn="ctr">
                      <a:solidFill>
                        <a:srgbClr val="D6D3CC"/>
                      </a:solidFill>
                      <a:prstDash val="solid"/>
                      <a:round/>
                      <a:headEnd type="none" w="med" len="med"/>
                      <a:tailEnd type="none" w="med" len="med"/>
                    </a:lnR>
                    <a:lnT w="9525" cap="flat" cmpd="sng" algn="ctr">
                      <a:solidFill>
                        <a:srgbClr val="D6D3CC"/>
                      </a:solidFill>
                      <a:prstDash val="solid"/>
                      <a:round/>
                      <a:headEnd type="none" w="med" len="med"/>
                      <a:tailEnd type="none" w="med" len="med"/>
                    </a:lnT>
                    <a:lnB w="9525" cap="flat" cmpd="sng" algn="ctr">
                      <a:solidFill>
                        <a:srgbClr val="D6D3CC"/>
                      </a:solidFill>
                      <a:prstDash val="solid"/>
                      <a:round/>
                      <a:headEnd type="none" w="med" len="med"/>
                      <a:tailEnd type="none" w="med" len="med"/>
                    </a:lnB>
                    <a:solidFill>
                      <a:srgbClr val="15233B"/>
                    </a:solidFill>
                  </a:tcPr>
                </a:tc>
              </a:tr>
              <a:tr h="685800">
                <a:tc>
                  <a:txBody>
                    <a:bodyPr/>
                    <a:lstStyle/>
                    <a:p>
                      <a:pPr indent="0" marL="0">
                        <a:buNone/>
                      </a:pPr>
                      <a:r>
                        <a:rPr lang="en-US" sz="1600" dirty="0">
                          <a:solidFill>
                            <a:schemeClr val="tx1"/>
                          </a:solidFill>
                        </a:rPr>
                        <a:t>Never move a bike</a:t>
                      </a:r>
                      <a:endParaRPr lang="en-US" sz="1600" dirty="0"/>
                    </a:p>
                  </a:txBody>
                  <a:tcPr marL="109728" marR="109728" marT="54864" marB="54864" anchor="ctr">
                    <a:lnL w="9525" cap="flat" cmpd="sng" algn="ctr">
                      <a:solidFill>
                        <a:srgbClr val="D6D3CC"/>
                      </a:solidFill>
                      <a:prstDash val="solid"/>
                      <a:round/>
                      <a:headEnd type="none" w="med" len="med"/>
                      <a:tailEnd type="none" w="med" len="med"/>
                    </a:lnL>
                    <a:lnR w="9525" cap="flat" cmpd="sng" algn="ctr">
                      <a:solidFill>
                        <a:srgbClr val="D6D3CC"/>
                      </a:solidFill>
                      <a:prstDash val="solid"/>
                      <a:round/>
                      <a:headEnd type="none" w="med" len="med"/>
                      <a:tailEnd type="none" w="med" len="med"/>
                    </a:lnR>
                    <a:lnT w="9525" cap="flat" cmpd="sng" algn="ctr">
                      <a:solidFill>
                        <a:srgbClr val="D6D3CC"/>
                      </a:solidFill>
                      <a:prstDash val="solid"/>
                      <a:round/>
                      <a:headEnd type="none" w="med" len="med"/>
                      <a:tailEnd type="none" w="med" len="med"/>
                    </a:lnT>
                    <a:lnB w="9525" cap="flat" cmpd="sng" algn="ctr">
                      <a:solidFill>
                        <a:srgbClr val="D6D3CC"/>
                      </a:solidFill>
                      <a:prstDash val="solid"/>
                      <a:round/>
                      <a:headEnd type="none" w="med" len="med"/>
                      <a:tailEnd type="none" w="med" len="med"/>
                    </a:lnB>
                  </a:tcPr>
                </a:tc>
                <a:tc>
                  <a:txBody>
                    <a:bodyPr/>
                    <a:lstStyle/>
                    <a:p>
                      <a:pPr indent="0" marL="0">
                        <a:buNone/>
                      </a:pPr>
                      <a:r>
                        <a:rPr lang="en-US" sz="1600" dirty="0">
                          <a:solidFill>
                            <a:schemeClr val="tx1"/>
                          </a:solidFill>
                        </a:rPr>
                        <a:t>2,173</a:t>
                      </a:r>
                      <a:endParaRPr lang="en-US" sz="1600" dirty="0"/>
                    </a:p>
                  </a:txBody>
                  <a:tcPr marL="109728" marR="109728" marT="54864" marB="54864" anchor="ctr">
                    <a:lnL w="9525" cap="flat" cmpd="sng" algn="ctr">
                      <a:solidFill>
                        <a:srgbClr val="D6D3CC"/>
                      </a:solidFill>
                      <a:prstDash val="solid"/>
                      <a:round/>
                      <a:headEnd type="none" w="med" len="med"/>
                      <a:tailEnd type="none" w="med" len="med"/>
                    </a:lnL>
                    <a:lnR w="9525" cap="flat" cmpd="sng" algn="ctr">
                      <a:solidFill>
                        <a:srgbClr val="D6D3CC"/>
                      </a:solidFill>
                      <a:prstDash val="solid"/>
                      <a:round/>
                      <a:headEnd type="none" w="med" len="med"/>
                      <a:tailEnd type="none" w="med" len="med"/>
                    </a:lnR>
                    <a:lnT w="9525" cap="flat" cmpd="sng" algn="ctr">
                      <a:solidFill>
                        <a:srgbClr val="D6D3CC"/>
                      </a:solidFill>
                      <a:prstDash val="solid"/>
                      <a:round/>
                      <a:headEnd type="none" w="med" len="med"/>
                      <a:tailEnd type="none" w="med" len="med"/>
                    </a:lnT>
                    <a:lnB w="9525" cap="flat" cmpd="sng" algn="ctr">
                      <a:solidFill>
                        <a:srgbClr val="D6D3CC"/>
                      </a:solidFill>
                      <a:prstDash val="solid"/>
                      <a:round/>
                      <a:headEnd type="none" w="med" len="med"/>
                      <a:tailEnd type="none" w="med" len="med"/>
                    </a:lnB>
                  </a:tcPr>
                </a:tc>
                <a:tc>
                  <a:txBody>
                    <a:bodyPr/>
                    <a:lstStyle/>
                    <a:p>
                      <a:pPr indent="0" marL="0">
                        <a:buNone/>
                      </a:pPr>
                      <a:r>
                        <a:rPr lang="en-US" sz="1600" dirty="0">
                          <a:solidFill>
                            <a:schemeClr val="tx1"/>
                          </a:solidFill>
                        </a:rPr>
                        <a:t>18,189</a:t>
                      </a:r>
                      <a:endParaRPr lang="en-US" sz="1600" dirty="0"/>
                    </a:p>
                  </a:txBody>
                  <a:tcPr marL="109728" marR="109728" marT="54864" marB="54864" anchor="ctr">
                    <a:lnL w="9525" cap="flat" cmpd="sng" algn="ctr">
                      <a:solidFill>
                        <a:srgbClr val="D6D3CC"/>
                      </a:solidFill>
                      <a:prstDash val="solid"/>
                      <a:round/>
                      <a:headEnd type="none" w="med" len="med"/>
                      <a:tailEnd type="none" w="med" len="med"/>
                    </a:lnL>
                    <a:lnR w="9525" cap="flat" cmpd="sng" algn="ctr">
                      <a:solidFill>
                        <a:srgbClr val="D6D3CC"/>
                      </a:solidFill>
                      <a:prstDash val="solid"/>
                      <a:round/>
                      <a:headEnd type="none" w="med" len="med"/>
                      <a:tailEnd type="none" w="med" len="med"/>
                    </a:lnR>
                    <a:lnT w="9525" cap="flat" cmpd="sng" algn="ctr">
                      <a:solidFill>
                        <a:srgbClr val="D6D3CC"/>
                      </a:solidFill>
                      <a:prstDash val="solid"/>
                      <a:round/>
                      <a:headEnd type="none" w="med" len="med"/>
                      <a:tailEnd type="none" w="med" len="med"/>
                    </a:lnT>
                    <a:lnB w="9525" cap="flat" cmpd="sng" algn="ctr">
                      <a:solidFill>
                        <a:srgbClr val="D6D3CC"/>
                      </a:solidFill>
                      <a:prstDash val="solid"/>
                      <a:round/>
                      <a:headEnd type="none" w="med" len="med"/>
                      <a:tailEnd type="none" w="med" len="med"/>
                    </a:lnB>
                  </a:tcPr>
                </a:tc>
              </a:tr>
              <a:tr h="685800">
                <a:tc>
                  <a:txBody>
                    <a:bodyPr/>
                    <a:lstStyle/>
                    <a:p>
                      <a:pPr indent="0" marL="0">
                        <a:buNone/>
                      </a:pPr>
                      <a:r>
                        <a:rPr lang="en-US" sz="1600" dirty="0">
                          <a:solidFill>
                            <a:schemeClr val="tx1"/>
                          </a:solidFill>
                        </a:rPr>
                        <a:t>Reset to half full</a:t>
                      </a:r>
                      <a:endParaRPr lang="en-US" sz="1600" dirty="0"/>
                    </a:p>
                  </a:txBody>
                  <a:tcPr marL="109728" marR="109728" marT="54864" marB="54864" anchor="ctr">
                    <a:lnL w="9525" cap="flat" cmpd="sng" algn="ctr">
                      <a:solidFill>
                        <a:srgbClr val="D6D3CC"/>
                      </a:solidFill>
                      <a:prstDash val="solid"/>
                      <a:round/>
                      <a:headEnd type="none" w="med" len="med"/>
                      <a:tailEnd type="none" w="med" len="med"/>
                    </a:lnL>
                    <a:lnR w="9525" cap="flat" cmpd="sng" algn="ctr">
                      <a:solidFill>
                        <a:srgbClr val="D6D3CC"/>
                      </a:solidFill>
                      <a:prstDash val="solid"/>
                      <a:round/>
                      <a:headEnd type="none" w="med" len="med"/>
                      <a:tailEnd type="none" w="med" len="med"/>
                    </a:lnR>
                    <a:lnT w="9525" cap="flat" cmpd="sng" algn="ctr">
                      <a:solidFill>
                        <a:srgbClr val="D6D3CC"/>
                      </a:solidFill>
                      <a:prstDash val="solid"/>
                      <a:round/>
                      <a:headEnd type="none" w="med" len="med"/>
                      <a:tailEnd type="none" w="med" len="med"/>
                    </a:lnT>
                    <a:lnB w="9525" cap="flat" cmpd="sng" algn="ctr">
                      <a:solidFill>
                        <a:srgbClr val="D6D3CC"/>
                      </a:solidFill>
                      <a:prstDash val="solid"/>
                      <a:round/>
                      <a:headEnd type="none" w="med" len="med"/>
                      <a:tailEnd type="none" w="med" len="med"/>
                    </a:lnB>
                  </a:tcPr>
                </a:tc>
                <a:tc>
                  <a:txBody>
                    <a:bodyPr/>
                    <a:lstStyle/>
                    <a:p>
                      <a:pPr indent="0" marL="0">
                        <a:buNone/>
                      </a:pPr>
                      <a:r>
                        <a:rPr lang="en-US" sz="1600" dirty="0">
                          <a:solidFill>
                            <a:schemeClr val="tx1"/>
                          </a:solidFill>
                        </a:rPr>
                        <a:t>4,230</a:t>
                      </a:r>
                      <a:endParaRPr lang="en-US" sz="1600" dirty="0"/>
                    </a:p>
                  </a:txBody>
                  <a:tcPr marL="109728" marR="109728" marT="54864" marB="54864" anchor="ctr">
                    <a:lnL w="9525" cap="flat" cmpd="sng" algn="ctr">
                      <a:solidFill>
                        <a:srgbClr val="D6D3CC"/>
                      </a:solidFill>
                      <a:prstDash val="solid"/>
                      <a:round/>
                      <a:headEnd type="none" w="med" len="med"/>
                      <a:tailEnd type="none" w="med" len="med"/>
                    </a:lnL>
                    <a:lnR w="9525" cap="flat" cmpd="sng" algn="ctr">
                      <a:solidFill>
                        <a:srgbClr val="D6D3CC"/>
                      </a:solidFill>
                      <a:prstDash val="solid"/>
                      <a:round/>
                      <a:headEnd type="none" w="med" len="med"/>
                      <a:tailEnd type="none" w="med" len="med"/>
                    </a:lnR>
                    <a:lnT w="9525" cap="flat" cmpd="sng" algn="ctr">
                      <a:solidFill>
                        <a:srgbClr val="D6D3CC"/>
                      </a:solidFill>
                      <a:prstDash val="solid"/>
                      <a:round/>
                      <a:headEnd type="none" w="med" len="med"/>
                      <a:tailEnd type="none" w="med" len="med"/>
                    </a:lnT>
                    <a:lnB w="9525" cap="flat" cmpd="sng" algn="ctr">
                      <a:solidFill>
                        <a:srgbClr val="D6D3CC"/>
                      </a:solidFill>
                      <a:prstDash val="solid"/>
                      <a:round/>
                      <a:headEnd type="none" w="med" len="med"/>
                      <a:tailEnd type="none" w="med" len="med"/>
                    </a:lnB>
                  </a:tcPr>
                </a:tc>
                <a:tc>
                  <a:txBody>
                    <a:bodyPr/>
                    <a:lstStyle/>
                    <a:p>
                      <a:pPr indent="0" marL="0">
                        <a:buNone/>
                      </a:pPr>
                      <a:r>
                        <a:rPr lang="en-US" sz="1600" dirty="0">
                          <a:solidFill>
                            <a:schemeClr val="tx1"/>
                          </a:solidFill>
                        </a:rPr>
                        <a:t>4,732</a:t>
                      </a:r>
                      <a:endParaRPr lang="en-US" sz="1600" dirty="0"/>
                    </a:p>
                  </a:txBody>
                  <a:tcPr marL="109728" marR="109728" marT="54864" marB="54864" anchor="ctr">
                    <a:lnL w="9525" cap="flat" cmpd="sng" algn="ctr">
                      <a:solidFill>
                        <a:srgbClr val="D6D3CC"/>
                      </a:solidFill>
                      <a:prstDash val="solid"/>
                      <a:round/>
                      <a:headEnd type="none" w="med" len="med"/>
                      <a:tailEnd type="none" w="med" len="med"/>
                    </a:lnL>
                    <a:lnR w="9525" cap="flat" cmpd="sng" algn="ctr">
                      <a:solidFill>
                        <a:srgbClr val="D6D3CC"/>
                      </a:solidFill>
                      <a:prstDash val="solid"/>
                      <a:round/>
                      <a:headEnd type="none" w="med" len="med"/>
                      <a:tailEnd type="none" w="med" len="med"/>
                    </a:lnR>
                    <a:lnT w="9525" cap="flat" cmpd="sng" algn="ctr">
                      <a:solidFill>
                        <a:srgbClr val="D6D3CC"/>
                      </a:solidFill>
                      <a:prstDash val="solid"/>
                      <a:round/>
                      <a:headEnd type="none" w="med" len="med"/>
                      <a:tailEnd type="none" w="med" len="med"/>
                    </a:lnT>
                    <a:lnB w="9525" cap="flat" cmpd="sng" algn="ctr">
                      <a:solidFill>
                        <a:srgbClr val="D6D3CC"/>
                      </a:solidFill>
                      <a:prstDash val="solid"/>
                      <a:round/>
                      <a:headEnd type="none" w="med" len="med"/>
                      <a:tailEnd type="none" w="med" len="med"/>
                    </a:lnB>
                  </a:tcPr>
                </a:tc>
              </a:tr>
              <a:tr h="685800">
                <a:tc>
                  <a:txBody>
                    <a:bodyPr/>
                    <a:lstStyle/>
                    <a:p>
                      <a:pPr indent="0" marL="0">
                        <a:buNone/>
                      </a:pPr>
                      <a:r>
                        <a:rPr lang="en-US" sz="1600" dirty="0">
                          <a:solidFill>
                            <a:schemeClr val="tx1"/>
                          </a:solidFill>
                        </a:rPr>
                        <a:t>Recommended</a:t>
                      </a:r>
                      <a:endParaRPr lang="en-US" sz="1600" dirty="0"/>
                    </a:p>
                  </a:txBody>
                  <a:tcPr marL="109728" marR="109728" marT="54864" marB="54864" anchor="ctr">
                    <a:lnL w="9525" cap="flat" cmpd="sng" algn="ctr">
                      <a:solidFill>
                        <a:srgbClr val="D6D3CC"/>
                      </a:solidFill>
                      <a:prstDash val="solid"/>
                      <a:round/>
                      <a:headEnd type="none" w="med" len="med"/>
                      <a:tailEnd type="none" w="med" len="med"/>
                    </a:lnL>
                    <a:lnR w="9525" cap="flat" cmpd="sng" algn="ctr">
                      <a:solidFill>
                        <a:srgbClr val="D6D3CC"/>
                      </a:solidFill>
                      <a:prstDash val="solid"/>
                      <a:round/>
                      <a:headEnd type="none" w="med" len="med"/>
                      <a:tailEnd type="none" w="med" len="med"/>
                    </a:lnR>
                    <a:lnT w="9525" cap="flat" cmpd="sng" algn="ctr">
                      <a:solidFill>
                        <a:srgbClr val="D6D3CC"/>
                      </a:solidFill>
                      <a:prstDash val="solid"/>
                      <a:round/>
                      <a:headEnd type="none" w="med" len="med"/>
                      <a:tailEnd type="none" w="med" len="med"/>
                    </a:lnT>
                    <a:lnB w="9525" cap="flat" cmpd="sng" algn="ctr">
                      <a:solidFill>
                        <a:srgbClr val="D6D3CC"/>
                      </a:solidFill>
                      <a:prstDash val="solid"/>
                      <a:round/>
                      <a:headEnd type="none" w="med" len="med"/>
                      <a:tailEnd type="none" w="med" len="med"/>
                    </a:lnB>
                  </a:tcPr>
                </a:tc>
                <a:tc>
                  <a:txBody>
                    <a:bodyPr/>
                    <a:lstStyle/>
                    <a:p>
                      <a:pPr indent="0" marL="0">
                        <a:buNone/>
                      </a:pPr>
                      <a:r>
                        <a:rPr lang="en-US" sz="1600" dirty="0">
                          <a:solidFill>
                            <a:schemeClr val="tx1"/>
                          </a:solidFill>
                        </a:rPr>
                        <a:t>1,530</a:t>
                      </a:r>
                      <a:endParaRPr lang="en-US" sz="1600" dirty="0"/>
                    </a:p>
                  </a:txBody>
                  <a:tcPr marL="109728" marR="109728" marT="54864" marB="54864" anchor="ctr">
                    <a:lnL w="9525" cap="flat" cmpd="sng" algn="ctr">
                      <a:solidFill>
                        <a:srgbClr val="D6D3CC"/>
                      </a:solidFill>
                      <a:prstDash val="solid"/>
                      <a:round/>
                      <a:headEnd type="none" w="med" len="med"/>
                      <a:tailEnd type="none" w="med" len="med"/>
                    </a:lnL>
                    <a:lnR w="9525" cap="flat" cmpd="sng" algn="ctr">
                      <a:solidFill>
                        <a:srgbClr val="D6D3CC"/>
                      </a:solidFill>
                      <a:prstDash val="solid"/>
                      <a:round/>
                      <a:headEnd type="none" w="med" len="med"/>
                      <a:tailEnd type="none" w="med" len="med"/>
                    </a:lnR>
                    <a:lnT w="9525" cap="flat" cmpd="sng" algn="ctr">
                      <a:solidFill>
                        <a:srgbClr val="D6D3CC"/>
                      </a:solidFill>
                      <a:prstDash val="solid"/>
                      <a:round/>
                      <a:headEnd type="none" w="med" len="med"/>
                      <a:tailEnd type="none" w="med" len="med"/>
                    </a:lnT>
                    <a:lnB w="9525" cap="flat" cmpd="sng" algn="ctr">
                      <a:solidFill>
                        <a:srgbClr val="D6D3CC"/>
                      </a:solidFill>
                      <a:prstDash val="solid"/>
                      <a:round/>
                      <a:headEnd type="none" w="med" len="med"/>
                      <a:tailEnd type="none" w="med" len="med"/>
                    </a:lnB>
                  </a:tcPr>
                </a:tc>
                <a:tc>
                  <a:txBody>
                    <a:bodyPr/>
                    <a:lstStyle/>
                    <a:p>
                      <a:pPr indent="0" marL="0">
                        <a:buNone/>
                      </a:pPr>
                      <a:r>
                        <a:rPr lang="en-US" sz="1600" dirty="0">
                          <a:solidFill>
                            <a:schemeClr val="tx1"/>
                          </a:solidFill>
                        </a:rPr>
                        <a:t>1,779</a:t>
                      </a:r>
                      <a:endParaRPr lang="en-US" sz="1600" dirty="0"/>
                    </a:p>
                  </a:txBody>
                  <a:tcPr marL="109728" marR="109728" marT="54864" marB="54864" anchor="ctr">
                    <a:lnL w="9525" cap="flat" cmpd="sng" algn="ctr">
                      <a:solidFill>
                        <a:srgbClr val="D6D3CC"/>
                      </a:solidFill>
                      <a:prstDash val="solid"/>
                      <a:round/>
                      <a:headEnd type="none" w="med" len="med"/>
                      <a:tailEnd type="none" w="med" len="med"/>
                    </a:lnL>
                    <a:lnR w="9525" cap="flat" cmpd="sng" algn="ctr">
                      <a:solidFill>
                        <a:srgbClr val="D6D3CC"/>
                      </a:solidFill>
                      <a:prstDash val="solid"/>
                      <a:round/>
                      <a:headEnd type="none" w="med" len="med"/>
                      <a:tailEnd type="none" w="med" len="med"/>
                    </a:lnR>
                    <a:lnT w="9525" cap="flat" cmpd="sng" algn="ctr">
                      <a:solidFill>
                        <a:srgbClr val="D6D3CC"/>
                      </a:solidFill>
                      <a:prstDash val="solid"/>
                      <a:round/>
                      <a:headEnd type="none" w="med" len="med"/>
                      <a:tailEnd type="none" w="med" len="med"/>
                    </a:lnT>
                    <a:lnB w="9525" cap="flat" cmpd="sng" algn="ctr">
                      <a:solidFill>
                        <a:srgbClr val="D6D3CC"/>
                      </a:solidFill>
                      <a:prstDash val="solid"/>
                      <a:round/>
                      <a:headEnd type="none" w="med" len="med"/>
                      <a:tailEnd type="none" w="med" len="med"/>
                    </a:lnB>
                  </a:tcPr>
                </a:tc>
              </a:tr>
            </a:tbl>
          </a:graphicData>
        </a:graphic>
      </p:graphicFrame>
      <p:sp>
        <p:nvSpPr>
          <p:cNvPr id="4" name="Text 1"/>
          <p:cNvSpPr txBox="1"/>
          <p:nvPr/>
        </p:nvSpPr>
        <p:spPr>
          <a:xfrm>
            <a:off x="548640" y="4389120"/>
            <a:ext cx="11094415" cy="1188720"/>
          </a:xfrm>
          <a:prstGeom prst="rect">
            <a:avLst/>
          </a:prstGeom>
          <a:noFill/>
          <a:ln/>
        </p:spPr>
        <p:txBody>
          <a:bodyPr wrap="square" lIns="0" tIns="0" rIns="0" bIns="0" rtlCol="0" anchor="t"/>
          <a:lstStyle/>
          <a:p>
            <a:pPr indent="0" marL="0">
              <a:buNone/>
            </a:pPr>
            <a:r>
              <a:rPr lang="en-US" sz="1600" dirty="0">
                <a:solidFill>
                  <a:schemeClr val="tx1"/>
                </a:solidFill>
              </a:rPr>
              <a:t>In the simple model never moving a bike looks better than half full. It is not: once lost riders stop refilling the stations downstream, it reaches 18,189. The order of the schedules that move bikes is the same in both.</a:t>
            </a:r>
            <a:endParaRPr lang="en-US" sz="1600" dirty="0"/>
          </a:p>
        </p:txBody>
      </p:sp>
      <p:sp>
        <p:nvSpPr>
          <p:cNvPr id="25" name="Slide Number Placeholder 0"/>
          <p:cNvSpPr>
            <a:spLocks noGrp="1"/>
          </p:cNvSpPr>
          <p:nvPr>
            <p:ph type="sldNum" sz="quarter" idx="4294967295"/>
          </p:nvPr>
        </p:nvSpPr>
        <p:spPr>
          <a:xfrm>
            <a:off x="1118585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68680"/>
          </a:xfrm>
          <a:prstGeom prst="rect">
            <a:avLst/>
          </a:prstGeom>
          <a:noFill/>
          <a:ln/>
        </p:spPr>
        <p:txBody>
          <a:bodyPr wrap="square" lIns="0" tIns="0" rIns="0" bIns="0" rtlCol="0" anchor="t"/>
          <a:lstStyle/>
          <a:p>
            <a:pPr algn="l" indent="0" marL="0">
              <a:buNone/>
            </a:pPr>
            <a:r>
              <a:rPr lang="en-US" sz="2800" b="1" dirty="0">
                <a:solidFill>
                  <a:schemeClr val="tx1"/>
                </a:solidFill>
              </a:rPr>
              <a:t>Backup: numbers that are easy to mix up</a:t>
            </a:r>
            <a:endParaRPr lang="en-US" sz="2800" dirty="0"/>
          </a:p>
        </p:txBody>
      </p:sp>
      <p:sp>
        <p:nvSpPr>
          <p:cNvPr id="3" name="Text 1"/>
          <p:cNvSpPr txBox="1"/>
          <p:nvPr/>
        </p:nvSpPr>
        <p:spPr>
          <a:xfrm>
            <a:off x="548640" y="1417320"/>
            <a:ext cx="2377440" cy="822960"/>
          </a:xfrm>
          <a:prstGeom prst="rect">
            <a:avLst/>
          </a:prstGeom>
          <a:noFill/>
          <a:ln/>
        </p:spPr>
        <p:txBody>
          <a:bodyPr wrap="square" lIns="0" tIns="0" rIns="0" bIns="0" rtlCol="0" anchor="ctr"/>
          <a:lstStyle/>
          <a:p>
            <a:pPr indent="0" marL="0">
              <a:buNone/>
            </a:pPr>
            <a:r>
              <a:rPr lang="en-US" sz="3400" b="1" dirty="0">
                <a:solidFill>
                  <a:schemeClr val="accent1"/>
                </a:solidFill>
              </a:rPr>
              <a:t>3,000</a:t>
            </a:r>
            <a:endParaRPr lang="en-US" sz="3400" dirty="0"/>
          </a:p>
        </p:txBody>
      </p:sp>
      <p:sp>
        <p:nvSpPr>
          <p:cNvPr id="4" name="Text 2"/>
          <p:cNvSpPr txBox="1"/>
          <p:nvPr/>
        </p:nvSpPr>
        <p:spPr>
          <a:xfrm>
            <a:off x="3108960" y="1417320"/>
            <a:ext cx="8503920" cy="822960"/>
          </a:xfrm>
          <a:prstGeom prst="rect">
            <a:avLst/>
          </a:prstGeom>
          <a:noFill/>
          <a:ln/>
        </p:spPr>
        <p:txBody>
          <a:bodyPr wrap="square" lIns="0" tIns="0" rIns="0" bIns="0" rtlCol="0" anchor="ctr"/>
          <a:lstStyle/>
          <a:p>
            <a:pPr indent="0" marL="0">
              <a:buNone/>
            </a:pPr>
            <a:r>
              <a:rPr lang="en-US" sz="1600" dirty="0">
                <a:solidFill>
                  <a:schemeClr val="tx1"/>
                </a:solidFill>
              </a:rPr>
              <a:t>is the night budget in bikes loaded plus unloaded; it moves about 1,900 bikes (1,877 a day on the test year)</a:t>
            </a:r>
            <a:endParaRPr lang="en-US" sz="1600" dirty="0"/>
          </a:p>
        </p:txBody>
      </p:sp>
      <p:sp>
        <p:nvSpPr>
          <p:cNvPr id="5" name="Text 3"/>
          <p:cNvSpPr txBox="1"/>
          <p:nvPr/>
        </p:nvSpPr>
        <p:spPr>
          <a:xfrm>
            <a:off x="548640" y="2606040"/>
            <a:ext cx="2377440" cy="822960"/>
          </a:xfrm>
          <a:prstGeom prst="rect">
            <a:avLst/>
          </a:prstGeom>
          <a:noFill/>
          <a:ln/>
        </p:spPr>
        <p:txBody>
          <a:bodyPr wrap="square" lIns="0" tIns="0" rIns="0" bIns="0" rtlCol="0" anchor="ctr"/>
          <a:lstStyle/>
          <a:p>
            <a:pPr indent="0" marL="0">
              <a:buNone/>
            </a:pPr>
            <a:r>
              <a:rPr lang="en-US" sz="3400" b="1" dirty="0">
                <a:solidFill>
                  <a:schemeClr val="accent1"/>
                </a:solidFill>
              </a:rPr>
              <a:t>2,514</a:t>
            </a:r>
            <a:endParaRPr lang="en-US" sz="3400" dirty="0"/>
          </a:p>
        </p:txBody>
      </p:sp>
      <p:sp>
        <p:nvSpPr>
          <p:cNvPr id="6" name="Text 4"/>
          <p:cNvSpPr txBox="1"/>
          <p:nvPr/>
        </p:nvSpPr>
        <p:spPr>
          <a:xfrm>
            <a:off x="3108960" y="2606040"/>
            <a:ext cx="8503920" cy="822960"/>
          </a:xfrm>
          <a:prstGeom prst="rect">
            <a:avLst/>
          </a:prstGeom>
          <a:noFill/>
          <a:ln/>
        </p:spPr>
        <p:txBody>
          <a:bodyPr wrap="square" lIns="0" tIns="0" rIns="0" bIns="0" rtlCol="0" anchor="ctr"/>
          <a:lstStyle/>
          <a:p>
            <a:pPr indent="0" marL="0">
              <a:buNone/>
            </a:pPr>
            <a:r>
              <a:rPr lang="en-US" sz="1600" dirty="0">
                <a:solidFill>
                  <a:schemeClr val="tx1"/>
                </a:solidFill>
              </a:rPr>
              <a:t>is Citi Bike's reported moves a day, and includes valets and Bike Angels, not only trucks</a:t>
            </a:r>
            <a:endParaRPr lang="en-US" sz="1600" dirty="0"/>
          </a:p>
        </p:txBody>
      </p:sp>
      <p:sp>
        <p:nvSpPr>
          <p:cNvPr id="7" name="Text 5"/>
          <p:cNvSpPr txBox="1"/>
          <p:nvPr/>
        </p:nvSpPr>
        <p:spPr>
          <a:xfrm>
            <a:off x="548640" y="3794760"/>
            <a:ext cx="2377440" cy="822960"/>
          </a:xfrm>
          <a:prstGeom prst="rect">
            <a:avLst/>
          </a:prstGeom>
          <a:noFill/>
          <a:ln/>
        </p:spPr>
        <p:txBody>
          <a:bodyPr wrap="square" lIns="0" tIns="0" rIns="0" bIns="0" rtlCol="0" anchor="ctr"/>
          <a:lstStyle/>
          <a:p>
            <a:pPr indent="0" marL="0">
              <a:buNone/>
            </a:pPr>
            <a:r>
              <a:rPr lang="en-US" sz="3400" b="1" dirty="0">
                <a:solidFill>
                  <a:schemeClr val="accent1"/>
                </a:solidFill>
              </a:rPr>
              <a:t>527</a:t>
            </a:r>
            <a:endParaRPr lang="en-US" sz="3400" dirty="0"/>
          </a:p>
        </p:txBody>
      </p:sp>
      <p:sp>
        <p:nvSpPr>
          <p:cNvPr id="8" name="Text 6"/>
          <p:cNvSpPr txBox="1"/>
          <p:nvPr/>
        </p:nvSpPr>
        <p:spPr>
          <a:xfrm>
            <a:off x="3108960" y="3794760"/>
            <a:ext cx="8503920" cy="822960"/>
          </a:xfrm>
          <a:prstGeom prst="rect">
            <a:avLst/>
          </a:prstGeom>
          <a:noFill/>
          <a:ln/>
        </p:spPr>
        <p:txBody>
          <a:bodyPr wrap="square" lIns="0" tIns="0" rIns="0" bIns="0" rtlCol="0" anchor="ctr"/>
          <a:lstStyle/>
          <a:p>
            <a:pPr indent="0" marL="0">
              <a:buNone/>
            </a:pPr>
            <a:r>
              <a:rPr lang="en-US" sz="1600" dirty="0">
                <a:solidFill>
                  <a:schemeClr val="tx1"/>
                </a:solidFill>
              </a:rPr>
              <a:t>bikes a day topped up from the depot under our schedule, because a rider at a full dock leaves the simulation with the bike</a:t>
            </a:r>
            <a:endParaRPr lang="en-US" sz="1600" dirty="0"/>
          </a:p>
        </p:txBody>
      </p:sp>
      <p:sp>
        <p:nvSpPr>
          <p:cNvPr id="9" name="Text 7"/>
          <p:cNvSpPr txBox="1"/>
          <p:nvPr/>
        </p:nvSpPr>
        <p:spPr>
          <a:xfrm>
            <a:off x="548640" y="4983480"/>
            <a:ext cx="2377440" cy="822960"/>
          </a:xfrm>
          <a:prstGeom prst="rect">
            <a:avLst/>
          </a:prstGeom>
          <a:noFill/>
          <a:ln/>
        </p:spPr>
        <p:txBody>
          <a:bodyPr wrap="square" lIns="0" tIns="0" rIns="0" bIns="0" rtlCol="0" anchor="ctr"/>
          <a:lstStyle/>
          <a:p>
            <a:pPr indent="0" marL="0">
              <a:buNone/>
            </a:pPr>
            <a:r>
              <a:rPr lang="en-US" sz="3400" b="1" dirty="0">
                <a:solidFill>
                  <a:schemeClr val="accent1"/>
                </a:solidFill>
              </a:rPr>
              <a:t>5 riders</a:t>
            </a:r>
            <a:endParaRPr lang="en-US" sz="3400" dirty="0"/>
          </a:p>
        </p:txBody>
      </p:sp>
      <p:sp>
        <p:nvSpPr>
          <p:cNvPr id="10" name="Text 8"/>
          <p:cNvSpPr txBox="1"/>
          <p:nvPr/>
        </p:nvSpPr>
        <p:spPr>
          <a:xfrm>
            <a:off x="3108960" y="4983480"/>
            <a:ext cx="8503920" cy="822960"/>
          </a:xfrm>
          <a:prstGeom prst="rect">
            <a:avLst/>
          </a:prstGeom>
          <a:noFill/>
          <a:ln/>
        </p:spPr>
        <p:txBody>
          <a:bodyPr wrap="square" lIns="0" tIns="0" rIns="0" bIns="0" rtlCol="0" anchor="ctr"/>
          <a:lstStyle/>
          <a:p>
            <a:pPr indent="0" marL="0">
              <a:buNone/>
            </a:pPr>
            <a:r>
              <a:rPr lang="en-US" sz="1600" dirty="0">
                <a:solidFill>
                  <a:schemeClr val="tx1"/>
                </a:solidFill>
              </a:rPr>
              <a:t>a day out of 1,779 is how much the result moves if riders inside the same 5 minutes are reordered</a:t>
            </a:r>
            <a:endParaRPr lang="en-US" sz="1600" dirty="0"/>
          </a:p>
        </p:txBody>
      </p:sp>
      <p:sp>
        <p:nvSpPr>
          <p:cNvPr id="25" name="Slide Number Placeholder 0"/>
          <p:cNvSpPr>
            <a:spLocks noGrp="1"/>
          </p:cNvSpPr>
          <p:nvPr>
            <p:ph type="sldNum" sz="quarter" idx="4294967295"/>
          </p:nvPr>
        </p:nvSpPr>
        <p:spPr>
          <a:xfrm>
            <a:off x="1118585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Citi Bike rebalancing">
  <a:themeElements>
    <a:clrScheme name="Citi Bike rebalancing">
      <a:dk1>
        <a:srgbClr val="22252A"/>
      </a:dk1>
      <a:lt1>
        <a:srgbClr val="FFFFFF"/>
      </a:lt1>
      <a:dk2>
        <a:srgbClr val="15233B"/>
      </a:dk2>
      <a:lt2>
        <a:srgbClr val="F3F1EC"/>
      </a:lt2>
      <a:accent1>
        <a:srgbClr val="3B7DD8"/>
      </a:accent1>
      <a:accent2>
        <a:srgbClr val="D4692A"/>
      </a:accent2>
      <a:accent3>
        <a:srgbClr val="C9403A"/>
      </a:accent3>
      <a:accent4>
        <a:srgbClr val="1F4F99"/>
      </a:accent4>
      <a:accent5>
        <a:srgbClr val="9A978F"/>
      </a:accent5>
      <a:accent6>
        <a:srgbClr val="6B6E75"/>
      </a:accent6>
      <a:hlink>
        <a:srgbClr val="3B7DD8"/>
      </a:hlink>
      <a:folHlink>
        <a:srgbClr val="1F4F99"/>
      </a:folHlink>
    </a:clrScheme>
    <a:fontScheme name="Citi Bike rebalancing">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Citi Bike rebalancing</dc:title>
  <dc:subject>PptxGenJS Presentation</dc:subject>
  <dc:creator>Team Jupyter</dc:creator>
  <cp:lastModifiedBy>Team Jupyter</cp:lastModifiedBy>
  <cp:revision>1</cp:revision>
  <dcterms:created xsi:type="dcterms:W3CDTF">2026-10-30T02:42:05Z</dcterms:created>
  <dcterms:modified xsi:type="dcterms:W3CDTF">2026-10-30T02:42:05Z</dcterms:modified>
</cp:coreProperties>
</file>